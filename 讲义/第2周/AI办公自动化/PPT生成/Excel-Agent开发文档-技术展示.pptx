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62000" y="1905000"/>
            <a:ext cx="762000" cy="762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62000" y="1270000"/>
            <a:ext cx="10668000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48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Excel Agent </a:t>
            </a:r>
            <a:r>
              <a:rPr lang="zh-CN" altLang="en-US" sz="48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可视化操作工具</a:t>
            </a:r>
            <a:endParaRPr lang="zh-CN" altLang="en-US" sz="48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0" y="2133600"/>
            <a:ext cx="10668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2173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开发文档</a:t>
            </a:r>
            <a:r>
              <a:rPr lang="en-US" altLang="zh-CN" sz="2600" b="1">
                <a:solidFill>
                  <a:srgbClr val="2173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MVP · </a:t>
            </a:r>
            <a:r>
              <a:rPr lang="zh-CN" altLang="en-US" sz="2600" b="1">
                <a:solidFill>
                  <a:srgbClr val="2173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技术路线讲解</a:t>
            </a:r>
            <a:endParaRPr lang="zh-CN" altLang="en-US" sz="2600" b="1">
              <a:solidFill>
                <a:srgbClr val="2173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2997200"/>
            <a:ext cx="106680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Agent 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通过「语义化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 + CLI + Skill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」驱动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9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完成写入、格式化、公式、图表、导出等简单可视化操作，并实时看到界面变化。</a:t>
            </a:r>
            <a:endParaRPr lang="zh-CN" altLang="en-US" sz="19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0" y="4445000"/>
            <a:ext cx="3048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400" b="1">
                <a:solidFill>
                  <a:srgbClr val="2173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US" altLang="en-US" sz="4400" b="1">
              <a:solidFill>
                <a:srgbClr val="2173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4991100"/>
            <a:ext cx="3048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0" y="4445000"/>
            <a:ext cx="3048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400" b="1">
                <a:solidFill>
                  <a:srgbClr val="0040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altLang="en-US" sz="4400" b="1">
              <a:solidFill>
                <a:srgbClr val="0040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0" y="4991100"/>
            <a:ext cx="3048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核心模块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01000" y="4445000"/>
            <a:ext cx="3048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400" b="1">
                <a:solidFill>
                  <a:srgbClr val="F28C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endParaRPr lang="en-US" altLang="en-US" sz="4400" b="1">
              <a:solidFill>
                <a:srgbClr val="F28C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01000" y="4991100"/>
            <a:ext cx="3048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5969000"/>
            <a:ext cx="10668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技术路线：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COM/OLE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自动化（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pywin32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项目代号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excel-agent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203200"/>
            <a:ext cx="10668000" cy="930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</a:t>
            </a:r>
            <a:r>
              <a:rPr lang="en-US" altLang="zh-CN" sz="4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4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录</a:t>
            </a:r>
            <a:endParaRPr lang="zh-CN" altLang="en-US" sz="42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70000" y="1257300"/>
            <a:ext cx="431800" cy="431800"/>
          </a:xfrm>
          <a:prstGeom prst="ellipse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70000" y="12573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0" y="12319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可行性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05000" y="16383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自动化原理可推广，为何选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</a:t>
            </a:r>
            <a:endParaRPr lang="en-US" altLang="zh-CN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70000" y="2476500"/>
            <a:ext cx="431800" cy="431800"/>
          </a:xfrm>
          <a:prstGeom prst="ellipse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0000" y="24765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05000" y="24511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MVP </a:t>
            </a: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功能清单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5000" y="28575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项核心能力：写入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270000" y="3695700"/>
            <a:ext cx="431800" cy="431800"/>
          </a:xfrm>
          <a:prstGeom prst="ellipse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70000" y="36957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05000" y="36703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架构与代码实现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05000" y="40767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backend → ExcelDoc → quality → CLI → Skill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270000" y="4914900"/>
            <a:ext cx="431800" cy="431800"/>
          </a:xfrm>
          <a:prstGeom prst="ellipse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270000" y="4914900"/>
            <a:ext cx="4318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lang="en-US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05000" y="4889500"/>
            <a:ext cx="3810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1A1A1A"/>
                </a:solidFill>
                <a:latin typeface="黑体" panose="02010609060101010101" charset="-122"/>
                <a:ea typeface="黑体" panose="02010609060101010101" charset="-122"/>
              </a:rPr>
              <a:t>端到端示例与工程化</a:t>
            </a:r>
            <a:endParaRPr lang="zh-CN" altLang="en-US" sz="2400" b="1">
              <a:solidFill>
                <a:srgbClr val="1A1A1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05000" y="5295900"/>
            <a:ext cx="8890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example.py ·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资源回收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测试验证</a:t>
            </a:r>
            <a:r>
              <a:rPr lang="en-US" altLang="zh-CN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扩展方向</a:t>
            </a:r>
            <a:endParaRPr lang="zh-CN" altLang="en-US" sz="160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从「可行性论证」到「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交付」：一堂课讲完一个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</a:t>
            </a:r>
            <a:endParaRPr lang="en-US" alt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可行性：原理可推广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041400"/>
            <a:ext cx="1117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harness-anything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WPS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的本质：调用软件暴露的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自动化对象模型</a:t>
            </a:r>
            <a:endParaRPr lang="zh-CN" altLang="en-US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500" y="1549400"/>
            <a:ext cx="11049000" cy="6604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9300" y="1727200"/>
            <a:ext cx="60121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Python ──pywin32──</a:t>
            </a:r>
            <a:r>
              <a:rPr lang="zh-CN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▶</a:t>
            </a:r>
            <a:r>
              <a:rPr lang="en-US" altLang="zh-CN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COM </a:t>
            </a:r>
            <a:r>
              <a:rPr lang="zh-CN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接口</a:t>
            </a:r>
            <a:r>
              <a:rPr lang="en-US" altLang="zh-CN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──</a:t>
            </a:r>
            <a:r>
              <a:rPr lang="zh-CN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▶</a:t>
            </a:r>
            <a:r>
              <a:rPr lang="en-US" altLang="zh-CN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软件进程</a:t>
            </a:r>
            <a:r>
              <a:rPr lang="en-US" altLang="zh-CN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──</a:t>
            </a:r>
            <a:r>
              <a:rPr lang="zh-CN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▶</a:t>
            </a:r>
            <a:r>
              <a:rPr lang="en-US" altLang="zh-CN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zh-CN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界面</a:t>
            </a:r>
            <a:r>
              <a:rPr lang="en-US" altLang="zh-CN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zh-CN" altLang="en-US" sz="15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文档</a:t>
            </a:r>
            <a:endParaRPr lang="zh-CN" altLang="en-US" sz="15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0" y="2489200"/>
            <a:ext cx="1117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只要软件对外暴露</a:t>
            </a:r>
            <a:r>
              <a:rPr lang="en-US" alt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COM/OLE </a:t>
            </a:r>
            <a:r>
              <a:rPr lang="zh-CN" altLang="en-US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对象模型，即可用相同模式驱动：</a:t>
            </a:r>
            <a:endParaRPr lang="zh-CN" altLang="en-US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500" y="3022600"/>
            <a:ext cx="3683000" cy="4572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9600" y="3048000"/>
            <a:ext cx="5664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软件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54500" y="3022600"/>
            <a:ext cx="3683000" cy="4572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619750" y="3048000"/>
            <a:ext cx="95250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COM </a:t>
            </a:r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入口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37500" y="3022600"/>
            <a:ext cx="3683000" cy="4572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12250" y="3048000"/>
            <a:ext cx="133350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典型操作对象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1500" y="34798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09600" y="3505200"/>
            <a:ext cx="63627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Excel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54500" y="34798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234623" y="3505200"/>
            <a:ext cx="172275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Excel.Application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937500" y="34798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613140" y="3505200"/>
            <a:ext cx="23317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工作簿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单元格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1500" y="3937000"/>
            <a:ext cx="3683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09600" y="3962400"/>
            <a:ext cx="68453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Word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254500" y="3937000"/>
            <a:ext cx="3683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210493" y="3962400"/>
            <a:ext cx="177101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Word.Application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937500" y="3937000"/>
            <a:ext cx="3683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803640" y="3962400"/>
            <a:ext cx="19507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段落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1500" y="43942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09600" y="4419600"/>
            <a:ext cx="121221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PowerPoint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54500" y="43942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946650" y="4419600"/>
            <a:ext cx="229870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PowerPoint.Application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37500" y="43942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8939530" y="4419600"/>
            <a:ext cx="16789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幻灯片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形状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动画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71500" y="4851400"/>
            <a:ext cx="3683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09600" y="4876800"/>
            <a:ext cx="103187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AutoCAD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254500" y="4851400"/>
            <a:ext cx="3683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043488" y="4876800"/>
            <a:ext cx="210502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AutoCAD.Application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937500" y="4851400"/>
            <a:ext cx="3683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8844280" y="4876800"/>
            <a:ext cx="18694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图形实体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图层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71500" y="53086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09600" y="5334000"/>
            <a:ext cx="95377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254500" y="53086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159058" y="5334000"/>
            <a:ext cx="187388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matlab.application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937500" y="5308600"/>
            <a:ext cx="3683000" cy="4572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9034780" y="5334000"/>
            <a:ext cx="14884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绘图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结论：可行。选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最常用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COM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自动化最成熟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可视化价值高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WPS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表格同源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MVP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功能清单（简单即可）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1168400"/>
            <a:ext cx="3683000" cy="4191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1193800"/>
            <a:ext cx="27940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#</a:t>
            </a:r>
            <a:endParaRPr lang="en-US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54500" y="1168400"/>
            <a:ext cx="3683000" cy="4191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12790" y="1193800"/>
            <a:ext cx="5664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功能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37500" y="1168400"/>
            <a:ext cx="3683000" cy="4191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542780" y="1193800"/>
            <a:ext cx="4724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API</a:t>
            </a:r>
            <a:endParaRPr lang="en-US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1500" y="15875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9600" y="16129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54500" y="15875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297170" y="1612900"/>
            <a:ext cx="159766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打开工作簿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37500" y="15875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834755" y="1612900"/>
            <a:ext cx="188849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new() / open(path)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1500" y="20066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09600" y="20320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54500" y="20066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66030" y="2032000"/>
            <a:ext cx="20599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写入单元格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整行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37500" y="20066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081963" y="2032000"/>
            <a:ext cx="339407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write() / write_row() / write_matrix()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1500" y="24257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09600" y="24511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254500" y="24257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528310" y="2451100"/>
            <a:ext cx="11353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合并单元格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37500" y="24257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982393" y="2451100"/>
            <a:ext cx="159321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merge("A1:C1")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1500" y="28448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09600" y="28702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54500" y="28448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739640" y="2870200"/>
            <a:ext cx="27127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样式（加粗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字号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对齐）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937500" y="28448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345930" y="2870200"/>
            <a:ext cx="8661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style(...)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1500" y="32639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09600" y="32893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254500" y="32639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623560" y="3289300"/>
            <a:ext cx="944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列宽行高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937500" y="32639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524558" y="3289300"/>
            <a:ext cx="250888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col_width() / row_height()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71500" y="36830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609600" y="37084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254500" y="36830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5814060" y="3708400"/>
            <a:ext cx="563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公式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937500" y="36830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528368" y="3708400"/>
            <a:ext cx="250126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formula("D2","=SUM(...)")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1500" y="41021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609600" y="41275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254500" y="41021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5623560" y="4127500"/>
            <a:ext cx="944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生成图表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937500" y="41021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104313" y="4127500"/>
            <a:ext cx="134937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add_chart(...)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71500" y="45212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609600" y="45466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254500" y="45212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388610" y="4546600"/>
            <a:ext cx="14147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图表导出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PNG</a:t>
            </a:r>
            <a:endParaRPr lang="en-US" altLang="zh-CN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937500" y="45212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8825548" y="4546600"/>
            <a:ext cx="190690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export_chart_png()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71500" y="49403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09600" y="4965700"/>
            <a:ext cx="29464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254500" y="49403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5122228" y="4965700"/>
            <a:ext cx="194754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xlsx /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PDF</a:t>
            </a:r>
            <a:endParaRPr lang="en-US" altLang="zh-CN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937500" y="4940300"/>
            <a:ext cx="3683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767128" y="4965700"/>
            <a:ext cx="2023745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save() / export_pdf()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71500" y="53594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609600" y="5384800"/>
            <a:ext cx="40640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254500" y="53594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5623560" y="5384800"/>
            <a:ext cx="94488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回收进程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937500" y="5359400"/>
            <a:ext cx="3683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9392285" y="5384800"/>
            <a:ext cx="77343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close()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全部「语义化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说需求，代码驱动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实时可视化执行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架构与目录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041400"/>
            <a:ext cx="111760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excel-agent </a:t>
            </a:r>
            <a:r>
              <a:rPr lang="zh-CN" altLang="en-US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</a:t>
            </a:r>
            <a:r>
              <a:rPr lang="en-US" altLang="zh-CN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六模块</a:t>
            </a:r>
            <a:r>
              <a:rPr lang="en-US" altLang="zh-CN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七文件</a:t>
            </a:r>
            <a:endParaRPr lang="zh-CN" altLang="en-US" sz="22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500" y="1625600"/>
            <a:ext cx="3302000" cy="5969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9600" y="1651000"/>
            <a:ext cx="5664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模块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73500" y="1625600"/>
            <a:ext cx="3302000" cy="5969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241290" y="1651000"/>
            <a:ext cx="5664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职责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1500" y="2222500"/>
            <a:ext cx="3302000" cy="5969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600" y="2247900"/>
            <a:ext cx="11480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backend.py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73500" y="2222500"/>
            <a:ext cx="3302000" cy="5969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76040" y="2247900"/>
            <a:ext cx="32969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后端（唯一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import win32com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1500" y="2819400"/>
            <a:ext cx="3302000" cy="596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9600" y="2844800"/>
            <a:ext cx="169989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core/excel_doc.py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73500" y="2819400"/>
            <a:ext cx="3302000" cy="596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438968" y="2844800"/>
            <a:ext cx="217106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语义化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ExcelDoc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1500" y="3416300"/>
            <a:ext cx="3302000" cy="5969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9600" y="3441700"/>
            <a:ext cx="14427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core/quality.py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73500" y="3416300"/>
            <a:ext cx="3302000" cy="5969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899660" y="3441700"/>
            <a:ext cx="1249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简单质量检查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71500" y="4013200"/>
            <a:ext cx="3302000" cy="596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09600" y="4038600"/>
            <a:ext cx="6172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cli.py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873500" y="4013200"/>
            <a:ext cx="3302000" cy="596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988560" y="403860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命令行入口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71500" y="4610100"/>
            <a:ext cx="3302000" cy="5969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09600" y="4635500"/>
            <a:ext cx="115125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example.py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873500" y="4610100"/>
            <a:ext cx="3302000" cy="5969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988560" y="463550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端到端示例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71500" y="5207000"/>
            <a:ext cx="3302000" cy="596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09600" y="5232400"/>
            <a:ext cx="143700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skills/SKILL.md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873500" y="5207000"/>
            <a:ext cx="3302000" cy="596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793298" y="5232400"/>
            <a:ext cx="146240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技能定义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20000" y="1625600"/>
            <a:ext cx="4191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分层调用链</a:t>
            </a:r>
            <a:endParaRPr lang="zh-CN" altLang="en-US" sz="24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620000" y="2184400"/>
            <a:ext cx="4064000" cy="2413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772400" y="2336800"/>
            <a:ext cx="63690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Skill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772400" y="2578100"/>
            <a:ext cx="45529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↓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772400" y="2819400"/>
            <a:ext cx="45529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CLI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772400" y="3060700"/>
            <a:ext cx="45529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↓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772400" y="3302000"/>
            <a:ext cx="178435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ExcelDoc (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语义</a:t>
            </a:r>
            <a:r>
              <a:rPr lang="en-US" altLang="zh-CN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API)</a:t>
            </a:r>
            <a:endParaRPr lang="en-US" altLang="zh-CN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772400" y="3543300"/>
            <a:ext cx="45529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↓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772400" y="3784600"/>
            <a:ext cx="81851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quality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772400" y="4025900"/>
            <a:ext cx="45529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↓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772400" y="4267200"/>
            <a:ext cx="136334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backend (COM)</a:t>
            </a:r>
            <a:endParaRPr lang="en-US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620000" y="4826000"/>
            <a:ext cx="4191000" cy="1268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backend.py import win32com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上层与</a:t>
            </a:r>
            <a:r>
              <a:rPr lang="en-US" altLang="zh-CN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 </a:t>
            </a:r>
            <a:r>
              <a:rPr lang="zh-CN" altLang="en-US" sz="17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完全解耦。</a:t>
            </a:r>
            <a:endParaRPr lang="zh-CN" altLang="en-US" sz="17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→ CLI → ExcelDoc → quality → backend → Excel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：单向依赖，后端可替换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后端层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backend.py</a:t>
            </a:r>
            <a:endParaRPr lang="en-US" altLang="zh-CN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1117600"/>
            <a:ext cx="6350000" cy="4826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23900" y="1270000"/>
            <a:ext cx="199644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# backend.py  COM </a:t>
            </a:r>
            <a:r>
              <a:rPr lang="zh-CN" altLang="en-US" sz="120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后端</a:t>
            </a:r>
            <a:endParaRPr lang="zh-CN" altLang="en-US" sz="120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3900" y="1479550"/>
            <a:ext cx="18592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import os, pythoncom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900" y="1689100"/>
            <a:ext cx="27813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import win32com.client as win32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900" y="1898650"/>
            <a:ext cx="3098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900" y="2108200"/>
            <a:ext cx="24460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FILE_FORMAT  = {"xlsx": 51,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3900" y="2317750"/>
            <a:ext cx="31165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       "xls": 56, "csv": 6}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3900" y="2527300"/>
            <a:ext cx="32004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EXPORT_FORMAT = {"pdf": 0, "xps": 1}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900" y="2736850"/>
            <a:ext cx="3098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00" y="2946400"/>
            <a:ext cx="177546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class ExcelBackend:</a:t>
            </a:r>
            <a:endParaRPr lang="en-US" altLang="en-US" sz="120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3900" y="3155950"/>
            <a:ext cx="32842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def __init__(self, visible=True):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900" y="3365500"/>
            <a:ext cx="28651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pythoncom.CoInitialize()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900" y="3575050"/>
            <a:ext cx="303276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self.app = win32.Dispatch(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3900" y="3784600"/>
            <a:ext cx="28651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    "Excel.Application")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3900" y="3994150"/>
            <a:ext cx="303276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self.app.Visible = visible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3900" y="4203700"/>
            <a:ext cx="336804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self.app.DisplayAlerts = False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900" y="4413250"/>
            <a:ext cx="261366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self._workbook = None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3900" y="4622800"/>
            <a:ext cx="3098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3900" y="4832350"/>
            <a:ext cx="294894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def save_as(self, path, fmt):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3900" y="5041900"/>
            <a:ext cx="31165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self._workbook.SaveAs(path,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3900" y="5251450"/>
            <a:ext cx="35356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    FileFormat=FILE_FORMAT[fmt])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3900" y="5461000"/>
            <a:ext cx="27813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def export_pdf(self, path):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3900" y="5670550"/>
            <a:ext cx="378714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self._workbook.ExportAsFixedFormat(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366000" y="1117600"/>
            <a:ext cx="4445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设计要点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1500" y="1778000"/>
            <a:ext cx="5143500" cy="635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00100" y="19812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唯一</a:t>
            </a:r>
            <a:r>
              <a:rPr lang="en-US" altLang="zh-CN" sz="24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COM </a:t>
            </a:r>
            <a:r>
              <a:rPr lang="zh-CN" altLang="en-US" sz="24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接触点</a:t>
            </a:r>
            <a:endParaRPr lang="zh-CN" altLang="en-US" sz="24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00100" y="25146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整个项目只有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backend.py
import win32com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上层全部解耦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032500" y="1778000"/>
            <a:ext cx="5143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261100" y="19812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可视化开关</a:t>
            </a:r>
            <a:endParaRPr lang="zh-CN" altLang="en-US" sz="24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61100" y="25146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Visible=True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实时看到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Excel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界面变化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DisplayAlerts=False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防弹窗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1500" y="4508500"/>
            <a:ext cx="5143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800100" y="47117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常量映射</a:t>
            </a:r>
            <a:endParaRPr lang="zh-CN" altLang="en-US" sz="24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00100" y="52451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文件格式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导出格式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用常量表集中管理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避免魔法数字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032500" y="4508500"/>
            <a:ext cx="5143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261100" y="47117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</a:rPr>
              <a:t>生命周期</a:t>
            </a:r>
            <a:endParaRPr lang="zh-CN" altLang="en-US" sz="24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261100" y="52451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统一回收进程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pythoncom.CoInitialize()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线程安全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后端层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软件进程的唯一「接入口」：其余模块一律经由它中转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语义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API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层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core/excel_doc.py</a:t>
            </a:r>
            <a:endParaRPr lang="en-US" altLang="zh-CN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9400" y="1041400"/>
            <a:ext cx="3746500" cy="635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800" y="12446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</a:rPr>
              <a:t>数据写入</a:t>
            </a:r>
            <a:endParaRPr lang="zh-CN" altLang="en-US" sz="22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1800" y="1752600"/>
            <a:ext cx="344170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write(cell, v)
write_row(start, vals)
write_matrix(start, m)
formula(cell, expr)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16400" y="1041400"/>
            <a:ext cx="3746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68800" y="12446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格式化</a:t>
            </a:r>
            <a:endParaRPr lang="zh-CN" altLang="en-US" sz="22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68800" y="17526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style(bold/size/color/…)
merge("A1:C1")
col_width / row_height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3400" y="1041400"/>
            <a:ext cx="3746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05800" y="12446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图表</a:t>
            </a:r>
            <a:endParaRPr lang="zh-CN" altLang="en-US" sz="22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05800" y="17526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add_chart(rng, type)
column/line/pie/bar
export_chart_png()</a:t>
            </a:r>
            <a:endParaRPr lang="en-US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9400" y="3060700"/>
            <a:ext cx="3746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31800" y="32639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</a:rPr>
              <a:t>生命周期</a:t>
            </a:r>
            <a:endParaRPr lang="zh-CN" altLang="en-US" sz="22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1800" y="37719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new() / open(path)
save() / export_pdf()
close()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回收进程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16400" y="3060700"/>
            <a:ext cx="3746500" cy="63500"/>
          </a:xfrm>
          <a:prstGeom prst="rect">
            <a:avLst/>
          </a:prstGeom>
          <a:solidFill>
            <a:srgbClr val="6B46C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368800" y="32639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6B46C1"/>
                </a:solidFill>
                <a:latin typeface="黑体" panose="02010609060101010101" charset="-122"/>
                <a:ea typeface="黑体" panose="02010609060101010101" charset="-122"/>
              </a:rPr>
              <a:t>常量设计</a:t>
            </a:r>
            <a:endParaRPr lang="zh-CN" altLang="en-US" sz="2200" b="1">
              <a:solidFill>
                <a:srgbClr val="6B46C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68800" y="37719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rgb(r,g,b) → BGR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长整型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HALIGN / VALIGN
CHART_TYPE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153400" y="3060700"/>
            <a:ext cx="3746500" cy="63500"/>
          </a:xfrm>
          <a:prstGeom prst="rect">
            <a:avLst/>
          </a:prstGeom>
          <a:solidFill>
            <a:srgbClr val="007F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05800" y="32639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7F6E"/>
                </a:solidFill>
                <a:latin typeface="黑体" panose="02010609060101010101" charset="-122"/>
                <a:ea typeface="黑体" panose="02010609060101010101" charset="-122"/>
              </a:rPr>
              <a:t>链式调用</a:t>
            </a:r>
            <a:endParaRPr lang="zh-CN" altLang="en-US" sz="2200" b="1">
              <a:solidFill>
                <a:srgbClr val="007F6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05800" y="37719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每个方法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return self
new().write().style()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一步到底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71500" y="5740400"/>
            <a:ext cx="11176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COM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颜色为长整型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(BGR)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 = r + (g&lt;&lt;8) + (b&lt;&lt;16)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图表类型：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column=51 / line=4 / pie=5 / bar=57</a:t>
            </a:r>
            <a:endParaRPr lang="en-US" altLang="zh-CN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ExcelDoc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的「对象迷宫」翻译成一句句人话命令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质量检查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CLI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入口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0922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core/quality.py</a:t>
            </a:r>
            <a:endParaRPr lang="en-US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500" y="1651000"/>
            <a:ext cx="5588000" cy="2540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23900" y="1803400"/>
            <a:ext cx="11887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# quality.py</a:t>
            </a:r>
            <a:endParaRPr lang="en-US" altLang="en-US" sz="120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900" y="2012950"/>
            <a:ext cx="28651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def check_empty_used_range(doc):</a:t>
            </a:r>
            <a:endParaRPr lang="en-US" altLang="en-US" sz="120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900" y="2222500"/>
            <a:ext cx="2697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"""</a:t>
            </a:r>
            <a:r>
              <a:rPr lang="zh-CN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检查已用区域内空单元格</a:t>
            </a:r>
            <a:r>
              <a:rPr lang="en-US" altLang="zh-CN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"""</a:t>
            </a:r>
            <a:endParaRPr lang="en-US" altLang="zh-CN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900" y="2432050"/>
            <a:ext cx="2697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used = doc.sheet.UsedRange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3900" y="2641600"/>
            <a:ext cx="16078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problems = []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3900" y="2851150"/>
            <a:ext cx="361950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for r in range(1, used.Rows.Count+1):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900" y="3060700"/>
            <a:ext cx="22783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for c in range(1,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00" y="3270250"/>
            <a:ext cx="303276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    used.Columns.Count+1):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3900" y="3479800"/>
            <a:ext cx="345186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    if used.Cells(r,c).Value in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900" y="3689350"/>
            <a:ext cx="24460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        (None, ""):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900" y="3898900"/>
            <a:ext cx="286512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        problems.append(</a:t>
            </a:r>
            <a:endParaRPr lang="en-US" altLang="en-US" sz="12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1500" y="4470400"/>
            <a:ext cx="5588000" cy="878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check_column_too_narrow(doc, cols, max_width=8)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检测列宽过窄导致的「显示截断」问题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667500" y="1092200"/>
            <a:ext cx="5080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cli.py · </a:t>
            </a: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参数一览</a:t>
            </a:r>
            <a:endParaRPr lang="zh-CN" altLang="en-US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67500" y="1651000"/>
            <a:ext cx="2540000" cy="4191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705600" y="1676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参数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207500" y="1651000"/>
            <a:ext cx="2540000" cy="4191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206990" y="1676400"/>
            <a:ext cx="5410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作用</a:t>
            </a:r>
            <a:endParaRPr lang="zh-CN" altLang="en-US"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67500" y="20701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705600" y="2095500"/>
            <a:ext cx="68770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--new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207500" y="20701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941560" y="209550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新建工作簿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667500" y="24892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705600" y="2514600"/>
            <a:ext cx="127127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--open PATH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207500" y="24892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852660" y="2514600"/>
            <a:ext cx="1249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打开已有文件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67500" y="29083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705600" y="2933700"/>
            <a:ext cx="18148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--write CELL VALUE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9207500" y="29083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0030460" y="2933700"/>
            <a:ext cx="8940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写单元格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67500" y="33274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705600" y="3352800"/>
            <a:ext cx="194373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--formula CELL EXPR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07500" y="33274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0119360" y="3352800"/>
            <a:ext cx="7162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写公式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67500" y="37465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705600" y="3771900"/>
            <a:ext cx="144081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--chart RANGE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207500" y="37465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10030460" y="3771900"/>
            <a:ext cx="8940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生成图表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667500" y="41656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705600" y="4191000"/>
            <a:ext cx="120777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--save PATH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07500" y="41656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10026650" y="4191000"/>
            <a:ext cx="9017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xlsx</a:t>
            </a:r>
            <a:endParaRPr lang="en-US" altLang="zh-CN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67500" y="45847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705600" y="4610100"/>
            <a:ext cx="1122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--pdf PATH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207500" y="4584700"/>
            <a:ext cx="2540000" cy="4191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10012680" y="4610100"/>
            <a:ext cx="92964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PDF</a:t>
            </a:r>
            <a:endParaRPr lang="en-US" altLang="zh-CN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667500" y="50038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6705600" y="5029200"/>
            <a:ext cx="10274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--invisible</a:t>
            </a:r>
            <a:endParaRPr lang="en-US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207500" y="5003800"/>
            <a:ext cx="2540000" cy="4191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9763760" y="5029200"/>
            <a:ext cx="1427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后台运行不弹窗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一行命令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ExcelDoc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之间的「桥」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技能定义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skills/SKILL.md</a:t>
            </a:r>
            <a:endParaRPr lang="en-US" altLang="zh-CN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1117600"/>
            <a:ext cx="6604000" cy="4191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23900" y="1270000"/>
            <a:ext cx="38862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</a:rPr>
              <a:t>---</a:t>
            </a:r>
            <a:endParaRPr lang="en-US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3900" y="1511300"/>
            <a:ext cx="1577975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</a:rPr>
              <a:t>name: excel-agent</a:t>
            </a:r>
            <a:endParaRPr lang="en-US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900" y="1752600"/>
            <a:ext cx="260985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description: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完成写入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endParaRPr lang="en-US" altLang="zh-CN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900" y="1993900"/>
            <a:ext cx="2385695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格式化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导出等简单</a:t>
            </a:r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900" y="2235200"/>
            <a:ext cx="122936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可视化操作。</a:t>
            </a:r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3900" y="2476500"/>
            <a:ext cx="38862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</a:rPr>
              <a:t>---</a:t>
            </a:r>
            <a:endParaRPr lang="en-US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3900" y="2717800"/>
            <a:ext cx="30988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900" y="2959100"/>
            <a:ext cx="75057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##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00" y="3200400"/>
            <a:ext cx="2271395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打开工作簿，写入数据</a:t>
            </a:r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3900" y="3441700"/>
            <a:ext cx="204470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合并、样式、公式、图表</a:t>
            </a:r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900" y="3683000"/>
            <a:ext cx="227203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xlsx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、导出</a:t>
            </a:r>
            <a:r>
              <a:rPr lang="en-US" altLang="zh-CN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PDF / PNG</a:t>
            </a:r>
            <a:endParaRPr lang="en-US" altLang="zh-CN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900" y="3924300"/>
            <a:ext cx="30988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3900" y="4165600"/>
            <a:ext cx="106807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##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调用方式</a:t>
            </a:r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3900" y="4406900"/>
            <a:ext cx="163576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</a:rPr>
              <a:t>python example.py</a:t>
            </a:r>
            <a:endParaRPr lang="en-US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3900" y="4648200"/>
            <a:ext cx="267335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cli.py --new --write A1 </a:t>
            </a:r>
            <a:r>
              <a:rPr lang="zh-CN" altLang="en-US" sz="1250">
                <a:solidFill>
                  <a:srgbClr val="E8E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900" y="4889500"/>
            <a:ext cx="309880" cy="283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25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83500" y="1219200"/>
            <a:ext cx="4191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Skill = Agent </a:t>
            </a:r>
            <a:r>
              <a:rPr lang="zh-CN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的操作手册</a:t>
            </a:r>
            <a:endParaRPr lang="zh-CN" altLang="en-US" sz="24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1500" y="1879600"/>
            <a:ext cx="5143500" cy="635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00100" y="20828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</a:rPr>
              <a:t>frontmatter</a:t>
            </a:r>
            <a:endParaRPr lang="en-US" altLang="en-US" sz="24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00100" y="26162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name: excel-agent
description: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说明能力范围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032500" y="1879600"/>
            <a:ext cx="5143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261100" y="20828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能力清单</a:t>
            </a:r>
            <a:endParaRPr lang="zh-CN" altLang="en-US" sz="24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261100" y="26162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格式化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MVP 10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项功能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1500" y="4610100"/>
            <a:ext cx="5143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00100" y="48133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调用方式</a:t>
            </a:r>
            <a:endParaRPr lang="zh-CN" altLang="en-US" sz="24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00100" y="53467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example.py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cli.py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命令行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两种接入路径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032500" y="4610100"/>
            <a:ext cx="5143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261100" y="48133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</a:rPr>
              <a:t>工程约定</a:t>
            </a:r>
            <a:endParaRPr lang="zh-CN" altLang="en-US" sz="24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61100" y="53467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Visible=True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close()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必回收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可被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Agent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自动调用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有了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SKILL.md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Agent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就能「读懂并驱动」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excel-agent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端到端示例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example.py</a:t>
            </a:r>
            <a:endParaRPr lang="en-US" altLang="zh-CN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1092200"/>
            <a:ext cx="6350000" cy="4318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23900" y="1244600"/>
            <a:ext cx="114300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# example.py</a:t>
            </a:r>
            <a:endParaRPr lang="en-US" altLang="en-US" sz="115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3900" y="1435100"/>
            <a:ext cx="242316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doc = ExcelDoc(visible=True)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900" y="1625600"/>
            <a:ext cx="164719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doc.new("</a:t>
            </a:r>
            <a:r>
              <a:rPr lang="zh-CN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销售报表</a:t>
            </a:r>
            <a:r>
              <a:rPr lang="en-US" altLang="zh-CN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")</a:t>
            </a:r>
            <a:endParaRPr lang="en-US" altLang="zh-CN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900" y="1816100"/>
            <a:ext cx="30988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900" y="2006600"/>
            <a:ext cx="160528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表头：合并</a:t>
            </a:r>
            <a:r>
              <a:rPr lang="en-US" altLang="zh-CN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lang="zh-CN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样式</a:t>
            </a:r>
            <a:endParaRPr lang="zh-CN" altLang="en-US" sz="115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3900" y="2197100"/>
            <a:ext cx="258318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doc.merge("A1:D1").write("A1",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3900" y="2387600"/>
            <a:ext cx="161925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"</a:t>
            </a:r>
            <a:r>
              <a:rPr lang="zh-CN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季度销售报表</a:t>
            </a:r>
            <a:r>
              <a:rPr lang="en-US" altLang="zh-CN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")</a:t>
            </a:r>
            <a:endParaRPr lang="en-US" altLang="zh-CN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900" y="2578100"/>
            <a:ext cx="250317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doc.style("A1:D1", bold=True,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00" y="2768600"/>
            <a:ext cx="242316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size=16, bg=(31,78,121),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3900" y="2959100"/>
            <a:ext cx="210312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color=(255,255,255),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900" y="3149600"/>
            <a:ext cx="178308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halign="center")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900" y="3340100"/>
            <a:ext cx="30988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3900" y="3530600"/>
            <a:ext cx="116713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数据</a:t>
            </a:r>
            <a:r>
              <a:rPr lang="en-US" altLang="zh-CN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lang="zh-CN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公式</a:t>
            </a:r>
            <a:endParaRPr lang="zh-CN" altLang="en-US" sz="115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3900" y="3721100"/>
            <a:ext cx="268732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doc.write_row("A2", [</a:t>
            </a:r>
            <a:r>
              <a:rPr lang="zh-CN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季度</a:t>
            </a:r>
            <a:r>
              <a:rPr lang="en-US" altLang="zh-CN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zh-CN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产品</a:t>
            </a:r>
            <a:r>
              <a:rPr lang="en-US" altLang="zh-CN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A,</a:t>
            </a:r>
            <a:endParaRPr lang="en-US" altLang="zh-CN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3900" y="3911600"/>
            <a:ext cx="140716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zh-CN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产品</a:t>
            </a:r>
            <a:r>
              <a:rPr lang="en-US" altLang="zh-CN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B,</a:t>
            </a:r>
            <a:r>
              <a:rPr lang="zh-CN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合计</a:t>
            </a:r>
            <a:r>
              <a:rPr lang="en-US" altLang="zh-CN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zh-CN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900" y="4102100"/>
            <a:ext cx="250317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doc.write_matrix("A3", [...])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3900" y="4292600"/>
            <a:ext cx="178308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for r in range(3,7):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3900" y="4483100"/>
            <a:ext cx="210312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doc.formula(f"D{r}",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3900" y="4673600"/>
            <a:ext cx="234315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    f"=SUM(B{r}:C{r})")</a:t>
            </a:r>
            <a:endParaRPr lang="en-US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3900" y="4864100"/>
            <a:ext cx="30988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15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3900" y="5054600"/>
            <a:ext cx="1167130" cy="267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图表</a:t>
            </a:r>
            <a:r>
              <a:rPr lang="en-US" altLang="zh-CN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lang="zh-CN" altLang="en-US" sz="115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导出</a:t>
            </a:r>
            <a:endParaRPr lang="zh-CN" altLang="en-US" sz="115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66000" y="1092200"/>
            <a:ext cx="4445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运行效果</a:t>
            </a:r>
            <a:r>
              <a:rPr lang="en-US" altLang="zh-CN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可视化全程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71500" y="1752600"/>
            <a:ext cx="5143500" cy="635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00100" y="19558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</a:rPr>
              <a:t>实时可见</a:t>
            </a:r>
            <a:endParaRPr lang="zh-CN" altLang="en-US" sz="24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00100" y="24892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窗口弹出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数据逐格填入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表头变色加粗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32500" y="1752600"/>
            <a:ext cx="5143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261100" y="19558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公式自动求和</a:t>
            </a:r>
            <a:endParaRPr lang="zh-CN" altLang="en-US" sz="24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61100" y="24892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=SUM(B:C)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逐行计算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合计列自动填充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图表同步生成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71500" y="4483100"/>
            <a:ext cx="5143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00100" y="46863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三类产物</a:t>
            </a:r>
            <a:endParaRPr lang="zh-CN" altLang="en-US" sz="24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00100" y="52197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销售报表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.xlsx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销售报表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.pdf
chart.png</a:t>
            </a:r>
            <a:endParaRPr lang="en-US" altLang="zh-CN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32500" y="4483100"/>
            <a:ext cx="5143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261100" y="4686300"/>
            <a:ext cx="46863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</a:rPr>
              <a:t>进程回收</a:t>
            </a:r>
            <a:endParaRPr lang="zh-CN" altLang="en-US" sz="24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61100" y="5219700"/>
            <a:ext cx="4686300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</a:pPr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close(save=True)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数据已保存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进程不残留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366000" y="5080000"/>
            <a:ext cx="444500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60000"/>
              </a:lnSpc>
            </a:pP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一次运行，完整演示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「新建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写数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美化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导出」全流程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example.py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的「活文档」：跑一遍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看一遍全部能力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资源回收与错误处理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1500" y="1117600"/>
            <a:ext cx="5524500" cy="5334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" y="1143000"/>
            <a:ext cx="5664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问题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1117600"/>
            <a:ext cx="5524500" cy="5334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575040" y="1143000"/>
            <a:ext cx="566420" cy="321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5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对策</a:t>
            </a:r>
            <a:endParaRPr lang="zh-CN" altLang="en-US" sz="15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500" y="1651000"/>
            <a:ext cx="5524500" cy="5334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9600" y="1676400"/>
            <a:ext cx="995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进程残留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0" y="1651000"/>
            <a:ext cx="5524500" cy="5334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976303" y="1676400"/>
            <a:ext cx="576389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close()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必须放在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finally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中；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DisplayAlerts=False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避免卡弹窗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1500" y="2184400"/>
            <a:ext cx="55245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0" y="2209800"/>
            <a:ext cx="14020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脚本中途崩溃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96000" y="2184400"/>
            <a:ext cx="5524500" cy="53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039610" y="2209800"/>
            <a:ext cx="36372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用上下文管理器包装，异常也自动回收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1500" y="2717800"/>
            <a:ext cx="5524500" cy="5334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09600" y="2743200"/>
            <a:ext cx="181673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多线程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96000" y="2717800"/>
            <a:ext cx="5524500" cy="5334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882765" y="2743200"/>
            <a:ext cx="395097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__init__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里调用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pythoncom.CoInitialize()</a:t>
            </a:r>
            <a:endParaRPr lang="en-US" altLang="zh-CN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1500" y="3632200"/>
            <a:ext cx="11049000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4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</a:rPr>
              <a:t>推荐的上下文管理器写法（推荐工程用法）</a:t>
            </a:r>
            <a:endParaRPr lang="zh-CN" altLang="en-US" sz="24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71500" y="4191000"/>
            <a:ext cx="11049000" cy="1651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49300" y="4368800"/>
            <a:ext cx="16497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F2C94C"/>
                </a:solidFill>
                <a:latin typeface="Consolas" panose="020B0609020204030204" charset="0"/>
                <a:cs typeface="Consolas" panose="020B0609020204030204" charset="0"/>
              </a:rPr>
              <a:t>class ExcelDoc:</a:t>
            </a:r>
            <a:endParaRPr lang="en-US" altLang="en-US" sz="1400">
              <a:solidFill>
                <a:srgbClr val="F2C94C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49300" y="4622800"/>
            <a:ext cx="370332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def __enter__(self): return self</a:t>
            </a:r>
            <a:endParaRPr lang="en-US" altLang="en-US" sz="14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49300" y="4876800"/>
            <a:ext cx="4094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def __exit__(self, *a): self.close()</a:t>
            </a:r>
            <a:endParaRPr lang="en-US" altLang="en-US" sz="14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49300" y="5130800"/>
            <a:ext cx="309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zh-CN" altLang="en-US" sz="14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9300" y="5384800"/>
            <a:ext cx="568579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4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with ExcelDoc() as doc:          # </a:t>
            </a:r>
            <a:r>
              <a:rPr lang="zh-CN" altLang="en-US" sz="14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离开</a:t>
            </a:r>
            <a:r>
              <a:rPr lang="en-US" altLang="zh-CN" sz="14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with </a:t>
            </a:r>
            <a:r>
              <a:rPr lang="zh-CN" altLang="en-US" sz="14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自动</a:t>
            </a:r>
            <a:r>
              <a:rPr lang="en-US" altLang="zh-CN" sz="14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close()</a:t>
            </a:r>
            <a:endParaRPr lang="en-US" altLang="zh-CN" sz="14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自动化最怕「进程残留」：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写法让回收成为必然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测试验证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扩展方向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10668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测试验证清单</a:t>
            </a:r>
            <a:endParaRPr lang="zh-CN" altLang="en-US" sz="2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500" y="1625600"/>
            <a:ext cx="5461000" cy="2667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23900" y="1778000"/>
            <a:ext cx="300609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[x] example.py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弹出</a:t>
            </a:r>
            <a:r>
              <a:rPr lang="en-US" altLang="zh-CN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Excel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并生成</a:t>
            </a:r>
            <a:endParaRPr lang="zh-CN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900" y="2044700"/>
            <a:ext cx="155321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3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个产物文件</a:t>
            </a:r>
            <a:endParaRPr lang="zh-CN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900" y="2311400"/>
            <a:ext cx="279146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[x] --invisible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后台运行不弹窗</a:t>
            </a:r>
            <a:endParaRPr lang="zh-CN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3900" y="2578100"/>
            <a:ext cx="219710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[x]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反复运行后任务管理器</a:t>
            </a:r>
            <a:endParaRPr lang="zh-CN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3900" y="2844800"/>
            <a:ext cx="194945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无残留</a:t>
            </a:r>
            <a:r>
              <a:rPr lang="en-US" altLang="zh-CN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EXCEL.EXE</a:t>
            </a:r>
            <a:endParaRPr lang="en-US" altLang="zh-CN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3900" y="3111500"/>
            <a:ext cx="3030855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[x] export_pdf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内容正确、图表完整</a:t>
            </a:r>
            <a:endParaRPr lang="zh-CN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3900" y="3378200"/>
            <a:ext cx="1701800" cy="2914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[x] </a:t>
            </a:r>
            <a:r>
              <a:rPr lang="zh-CN" altLang="en-US" sz="13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中文写入不乱码</a:t>
            </a:r>
            <a:endParaRPr lang="zh-CN" altLang="en-US" sz="13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77000" y="1066800"/>
            <a:ext cx="5334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6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扩展方向</a:t>
            </a:r>
            <a:endParaRPr lang="zh-CN" altLang="en-US" sz="26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9400" y="1625600"/>
            <a:ext cx="3746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31800" y="18288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</a:rPr>
              <a:t>同原理迁移</a:t>
            </a:r>
            <a:endParaRPr lang="zh-CN" altLang="en-US" sz="22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1800" y="23368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backend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Word /
PowerPoint / AutoCAD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架构不变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16400" y="1625600"/>
            <a:ext cx="3746500" cy="635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368800" y="18288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</a:rPr>
              <a:t>多软件统一</a:t>
            </a:r>
            <a:endParaRPr lang="zh-CN" altLang="en-US" sz="22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368800" y="23368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Backend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Excel/Word/Ppt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同一套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write/style/export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153400" y="1625600"/>
            <a:ext cx="3746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305800" y="18288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</a:t>
            </a:r>
            <a:r>
              <a:rPr lang="en-US" altLang="zh-CN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COM </a:t>
            </a:r>
            <a:r>
              <a:rPr lang="zh-CN" altLang="en-US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软件</a:t>
            </a:r>
            <a:endParaRPr lang="zh-CN" altLang="en-US" sz="22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05800" y="23368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浏览器用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CDP
GUI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UI Automation
(pywinauto)</a:t>
            </a:r>
            <a:endParaRPr lang="en-US" altLang="zh-CN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79400" y="3644900"/>
            <a:ext cx="3746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31800" y="38481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统一</a:t>
            </a:r>
            <a:r>
              <a:rPr lang="en-US" altLang="zh-CN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Skill</a:t>
            </a:r>
            <a:endParaRPr lang="en-US" altLang="zh-CN" sz="22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31800" y="43561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通吃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Office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全家桶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Agent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随调随用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16400" y="3644900"/>
            <a:ext cx="3746500" cy="63500"/>
          </a:xfrm>
          <a:prstGeom prst="rect">
            <a:avLst/>
          </a:prstGeom>
          <a:solidFill>
            <a:srgbClr val="6B46C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368800" y="38481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6B46C1"/>
                </a:solidFill>
                <a:latin typeface="黑体" panose="02010609060101010101" charset="-122"/>
                <a:ea typeface="黑体" panose="02010609060101010101" charset="-122"/>
              </a:rPr>
              <a:t>质量扩展</a:t>
            </a:r>
            <a:endParaRPr lang="zh-CN" altLang="en-US" sz="2200" b="1">
              <a:solidFill>
                <a:srgbClr val="6B46C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368800" y="43561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更多检查项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数据一致性校验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报表模板校验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153400" y="3644900"/>
            <a:ext cx="3746500" cy="63500"/>
          </a:xfrm>
          <a:prstGeom prst="rect">
            <a:avLst/>
          </a:prstGeom>
          <a:solidFill>
            <a:srgbClr val="007F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305800" y="38481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7F6E"/>
                </a:solidFill>
                <a:latin typeface="黑体" panose="02010609060101010101" charset="-122"/>
                <a:ea typeface="黑体" panose="02010609060101010101" charset="-122"/>
              </a:rPr>
              <a:t>云端化</a:t>
            </a:r>
            <a:endParaRPr lang="zh-CN" altLang="en-US" sz="2200" b="1">
              <a:solidFill>
                <a:srgbClr val="007F6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305800" y="43561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 +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
Agent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平台接入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Web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思路核心：接口驱动而非模拟点击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同一模式可复制到所有带接口的软件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77800"/>
            <a:ext cx="10668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总结</a:t>
            </a:r>
            <a:r>
              <a:rPr lang="en-US" altLang="zh-CN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· </a:t>
            </a:r>
            <a:r>
              <a:rPr lang="zh-CN" altLang="en-US" sz="40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一条完整的自动化链路</a:t>
            </a:r>
            <a:endParaRPr lang="zh-CN" altLang="en-US" sz="40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6000" y="1143000"/>
            <a:ext cx="10160000" cy="1524000"/>
          </a:xfrm>
          <a:prstGeom prst="rect">
            <a:avLst/>
          </a:prstGeom>
          <a:solidFill>
            <a:srgbClr val="1E1E2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19200" y="1346200"/>
            <a:ext cx="209296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6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AI Agent</a:t>
            </a:r>
            <a:r>
              <a:rPr lang="zh-CN" altLang="en-US" sz="16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（说需求）</a:t>
            </a:r>
            <a:endParaRPr lang="zh-CN" altLang="en-US" sz="16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9200" y="1676400"/>
            <a:ext cx="285496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6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↓ SKILL.md</a:t>
            </a:r>
            <a:r>
              <a:rPr lang="zh-CN" altLang="en-US" sz="16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（教怎么做）</a:t>
            </a:r>
            <a:endParaRPr lang="zh-CN" altLang="en-US" sz="16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9200" y="2006600"/>
            <a:ext cx="242824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en-US" sz="16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   ↓ cli.py</a:t>
            </a:r>
            <a:r>
              <a:rPr lang="zh-CN" altLang="en-US" sz="1600">
                <a:solidFill>
                  <a:srgbClr val="E8E8E8"/>
                </a:solidFill>
                <a:latin typeface="Consolas" panose="020B0609020204030204" charset="0"/>
                <a:cs typeface="Consolas" panose="020B0609020204030204" charset="0"/>
              </a:rPr>
              <a:t>（命令行）</a:t>
            </a:r>
            <a:endParaRPr lang="zh-CN" altLang="en-US" sz="1600">
              <a:solidFill>
                <a:srgbClr val="E8E8E8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9400" y="3048000"/>
            <a:ext cx="3746500" cy="635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1800" y="32512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217346"/>
                </a:solidFill>
                <a:latin typeface="黑体" panose="02010609060101010101" charset="-122"/>
                <a:ea typeface="黑体" panose="02010609060101010101" charset="-122"/>
              </a:rPr>
              <a:t>可行性</a:t>
            </a:r>
            <a:endParaRPr lang="zh-CN" altLang="en-US" sz="2200" b="1">
              <a:solidFill>
                <a:srgbClr val="21734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1800" y="37592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原理可推广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Excel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最成熟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16400" y="3048000"/>
            <a:ext cx="3746500" cy="635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368800" y="32512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MVP </a:t>
            </a:r>
            <a:r>
              <a:rPr lang="zh-CN" altLang="en-US" sz="22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交付</a:t>
            </a:r>
            <a:endParaRPr lang="zh-CN" altLang="en-US" sz="22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68800" y="37592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项功能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6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大模块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开箱即用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53400" y="3048000"/>
            <a:ext cx="3746500" cy="63500"/>
          </a:xfrm>
          <a:prstGeom prst="rect">
            <a:avLst/>
          </a:prstGeom>
          <a:solidFill>
            <a:srgbClr val="F28C2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305800" y="32512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F28C28"/>
                </a:solidFill>
                <a:latin typeface="黑体" panose="02010609060101010101" charset="-122"/>
                <a:ea typeface="黑体" panose="02010609060101010101" charset="-122"/>
              </a:rPr>
              <a:t>可视化</a:t>
            </a:r>
            <a:endParaRPr lang="zh-CN" altLang="en-US" sz="2200" b="1">
              <a:solidFill>
                <a:srgbClr val="F28C2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05800" y="37592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Visible=True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操作实时可见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教学演示友好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9400" y="5067300"/>
            <a:ext cx="3746500" cy="63500"/>
          </a:xfrm>
          <a:prstGeom prst="rect">
            <a:avLst/>
          </a:prstGeom>
          <a:solidFill>
            <a:srgbClr val="00A0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31800" y="52705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 </a:t>
            </a:r>
            <a:r>
              <a:rPr lang="zh-CN" altLang="en-US" sz="2200" b="1">
                <a:solidFill>
                  <a:srgbClr val="00A0E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</a:t>
            </a:r>
            <a:endParaRPr lang="zh-CN" altLang="en-US" sz="2200" b="1">
              <a:solidFill>
                <a:srgbClr val="00A0E9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31800" y="57785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技能包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CLI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一行调用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AI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可直接驱动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16400" y="5067300"/>
            <a:ext cx="3746500" cy="63500"/>
          </a:xfrm>
          <a:prstGeom prst="rect">
            <a:avLst/>
          </a:prstGeom>
          <a:solidFill>
            <a:srgbClr val="6B46C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68800" y="52705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6B46C1"/>
                </a:solidFill>
                <a:latin typeface="黑体" panose="02010609060101010101" charset="-122"/>
                <a:ea typeface="黑体" panose="02010609060101010101" charset="-122"/>
              </a:rPr>
              <a:t>工程化</a:t>
            </a:r>
            <a:endParaRPr lang="zh-CN" altLang="en-US" sz="2200" b="1">
              <a:solidFill>
                <a:srgbClr val="6B46C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68800" y="57785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en-US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自动回收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质量检查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无进程残留</a:t>
            </a:r>
            <a:endParaRPr lang="zh-CN" altLang="en-US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53400" y="5067300"/>
            <a:ext cx="3746500" cy="63500"/>
          </a:xfrm>
          <a:prstGeom prst="rect">
            <a:avLst/>
          </a:prstGeom>
          <a:solidFill>
            <a:srgbClr val="007F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05800" y="5270500"/>
            <a:ext cx="3441700" cy="530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200" b="1">
                <a:solidFill>
                  <a:srgbClr val="007F6E"/>
                </a:solidFill>
                <a:latin typeface="黑体" panose="02010609060101010101" charset="-122"/>
                <a:ea typeface="黑体" panose="02010609060101010101" charset="-122"/>
              </a:rPr>
              <a:t>可扩展</a:t>
            </a:r>
            <a:endParaRPr lang="zh-CN" altLang="en-US" sz="2200" b="1">
              <a:solidFill>
                <a:srgbClr val="007F6E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05800" y="5778500"/>
            <a:ext cx="3441700" cy="1026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5000"/>
              </a:lnSpc>
            </a:pP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同原理迁移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Office </a:t>
            </a:r>
            <a:r>
              <a:rPr lang="zh-CN" altLang="en-US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全家桶</a:t>
            </a:r>
            <a:r>
              <a:rPr lang="en-US" altLang="zh-CN" sz="15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CDP / UIA</a:t>
            </a:r>
            <a:endParaRPr lang="en-US" altLang="zh-CN" sz="15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81000" y="6324600"/>
            <a:ext cx="11430000" cy="355600"/>
          </a:xfrm>
          <a:prstGeom prst="rect">
            <a:avLst/>
          </a:prstGeom>
          <a:solidFill>
            <a:srgbClr val="21734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08000" y="6362700"/>
            <a:ext cx="111760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excel-agent =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行代码，让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亲手操作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 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的完整范本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409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1905000"/>
            <a:ext cx="10668000" cy="1211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5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r>
              <a:rPr lang="en-US" altLang="zh-CN" sz="5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5600" b="1">
                <a:solidFill>
                  <a:srgbClr val="00409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endParaRPr lang="zh-CN" altLang="en-US" sz="5600" b="1">
              <a:solidFill>
                <a:srgbClr val="00409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3048000"/>
            <a:ext cx="10668000" cy="61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2600" b="1">
                <a:solidFill>
                  <a:srgbClr val="217346"/>
                </a:solidFill>
                <a:latin typeface="微软雅黑" panose="020B0503020204020204" charset="-122"/>
                <a:ea typeface="微软雅黑" panose="020B0503020204020204" charset="-122"/>
              </a:rPr>
              <a:t>提问与交流</a:t>
            </a:r>
            <a:endParaRPr lang="zh-CN" altLang="en-US" sz="2600" b="1">
              <a:solidFill>
                <a:srgbClr val="2173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0" y="3810000"/>
            <a:ext cx="10668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「接口驱动而非模拟点击」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亲手操作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Excel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，实时看见每一次变化。</a:t>
            </a:r>
            <a:endParaRPr lang="zh-CN" altLang="en-US" sz="20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5461000"/>
            <a:ext cx="106680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en-US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Excel-Agent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可视化操作工具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开发文档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</a:t>
            </a:r>
            <a:r>
              <a:rPr lang="en-US" altLang="zh-CN"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COM/pywin32</a:t>
            </a:r>
            <a:endParaRPr lang="en-US" altLang="zh-CN"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5641</Words>
  <Application>WPS 演示</Application>
  <PresentationFormat>宽屏</PresentationFormat>
  <Paragraphs>604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 Unicode MS</vt:lpstr>
      <vt:lpstr>微软雅黑</vt:lpstr>
      <vt:lpstr>Arial Black</vt:lpstr>
      <vt:lpstr>黑体</vt:lpstr>
      <vt:lpstr>Consolas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86183</dc:creator>
  <cp:lastModifiedBy>母江涛</cp:lastModifiedBy>
  <cp:revision>6</cp:revision>
  <dcterms:created xsi:type="dcterms:W3CDTF">2023-07-11T07:43:00Z</dcterms:created>
  <dcterms:modified xsi:type="dcterms:W3CDTF">2026-08-19T12:25:20Z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FCDD0A09D4CD499980BF141DFAA83F02_11</vt:lpwstr>
  </property>
</Properties>
</file>