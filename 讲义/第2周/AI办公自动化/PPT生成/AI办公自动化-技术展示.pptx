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762000"/>
            <a:ext cx="10668000" cy="1130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5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</a:t>
            </a:r>
            <a:r>
              <a:rPr lang="zh-CN" altLang="en-US" sz="5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办公自动化</a:t>
            </a:r>
            <a:endParaRPr lang="zh-CN" altLang="en-US" sz="52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574800"/>
            <a:ext cx="10668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</a:t>
            </a:r>
            <a:r>
              <a:rPr lang="en-US" altLang="zh-CN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技术展示</a:t>
            </a:r>
            <a:endParaRPr lang="zh-CN" altLang="en-US" sz="2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0" y="2235200"/>
            <a:ext cx="2540000" cy="381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24000" y="2794000"/>
            <a:ext cx="2794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400" b="1">
                <a:solidFill>
                  <a:srgbClr val="004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US" altLang="en-US" sz="4400" b="1">
              <a:solidFill>
                <a:srgbClr val="004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24000" y="3365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知识块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9000" y="2794000"/>
            <a:ext cx="2794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400" b="1">
                <a:solidFill>
                  <a:srgbClr val="F28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  <a:endParaRPr lang="en-US" altLang="en-US" sz="4400" b="1">
              <a:solidFill>
                <a:srgbClr val="F28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99000" y="3365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分钟课时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74000" y="2794000"/>
            <a:ext cx="2794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400" b="1">
                <a:solidFill>
                  <a:srgbClr val="00A0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endParaRPr lang="en-US" altLang="en-US" sz="4400" b="1">
              <a:solidFill>
                <a:srgbClr val="00A0E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74000" y="3365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动手实操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4445000"/>
            <a:ext cx="10668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三层进阶：从「用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办公」到「亲手开发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工具」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对话式办公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自动化产出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开发者之路</a:t>
            </a:r>
            <a:endParaRPr lang="zh-CN" altLang="en-US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5842000"/>
            <a:ext cx="10668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Skills · MCP</a:t>
            </a:r>
            <a:endParaRPr lang="en-US" altLang="zh-CN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203200"/>
            <a:ext cx="10668000" cy="930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</a:t>
            </a:r>
            <a:r>
              <a:rPr lang="en-US" altLang="zh-CN" sz="4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4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录</a:t>
            </a:r>
            <a:endParaRPr lang="zh-CN" altLang="en-US" sz="42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70000" y="1257300"/>
            <a:ext cx="431800" cy="431800"/>
          </a:xfrm>
          <a:prstGeom prst="ellipse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70000" y="1257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1231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对话式办公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5000" y="1638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文档撰写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Excel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PPT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演示文稿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PDF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文献阅读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70000" y="2527300"/>
            <a:ext cx="431800" cy="431800"/>
          </a:xfrm>
          <a:prstGeom prst="ellipse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0000" y="2527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5000" y="2501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自动化产出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5000" y="2908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一键生成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 ·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一键生成图表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270000" y="3797300"/>
            <a:ext cx="431800" cy="431800"/>
          </a:xfrm>
          <a:prstGeom prst="ellipse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70000" y="3797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05000" y="3771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开发者之路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05000" y="4178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技能包开发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MCP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连接器开发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从「让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替你干活」到「让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生态替你干活」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三层进阶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全程实战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课程全景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十个知识块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1143000"/>
            <a:ext cx="2616200" cy="698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72009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知识块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87700" y="1143000"/>
            <a:ext cx="2616200" cy="698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225290" y="1168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主题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3900" y="1143000"/>
            <a:ext cx="2616200" cy="698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41490" y="1168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类型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1500" y="1841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9600" y="1866900"/>
            <a:ext cx="51181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KB1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87700" y="1841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82060" y="1866900"/>
            <a:ext cx="1427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课程导入与全景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803900" y="1841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842760" y="1866900"/>
            <a:ext cx="538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认知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1500" y="2540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09600" y="2565400"/>
            <a:ext cx="69278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KB2-3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87700" y="2540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459480" y="2565400"/>
            <a:ext cx="207264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Excel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03900" y="2540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42760" y="2565400"/>
            <a:ext cx="538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实操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1500" y="3238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09600" y="3263900"/>
            <a:ext cx="69278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KB4-5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87700" y="3238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576320" y="3263900"/>
            <a:ext cx="18389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PDF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803900" y="3238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842760" y="3263900"/>
            <a:ext cx="538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实操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1500" y="3937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09600" y="3962400"/>
            <a:ext cx="69278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KB6-7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187700" y="3937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505200" y="3962400"/>
            <a:ext cx="19812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自动化生成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 /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803900" y="3937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753860" y="3962400"/>
            <a:ext cx="7162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自动化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1500" y="4635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09600" y="4660900"/>
            <a:ext cx="69278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KB8-9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187700" y="4635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696335" y="4660900"/>
            <a:ext cx="15989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/ MCP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803900" y="4635500"/>
            <a:ext cx="2616200" cy="698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753860" y="4660900"/>
            <a:ext cx="7162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开发者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71500" y="5334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609600" y="5359400"/>
            <a:ext cx="61595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KB10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187700" y="5334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782060" y="5359400"/>
            <a:ext cx="1427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课程总结与作业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803900" y="5334000"/>
            <a:ext cx="2616200" cy="69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6842760" y="5359400"/>
            <a:ext cx="538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890000" y="1333500"/>
            <a:ext cx="2794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200" b="1">
                <a:solidFill>
                  <a:srgbClr val="004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200min</a:t>
            </a:r>
            <a:endParaRPr lang="en-US" altLang="en-US" sz="3200" b="1">
              <a:solidFill>
                <a:srgbClr val="004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890000" y="1841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总课时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890000" y="2540000"/>
            <a:ext cx="2794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200" b="1">
                <a:solidFill>
                  <a:srgbClr val="F28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endParaRPr lang="en-US" altLang="en-US" sz="3200" b="1">
              <a:solidFill>
                <a:srgbClr val="F28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890000" y="30480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实操占比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890000" y="3746500"/>
            <a:ext cx="2794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200" b="1">
                <a:solidFill>
                  <a:srgbClr val="00A0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endParaRPr lang="en-US" altLang="en-US" sz="3200" b="1">
              <a:solidFill>
                <a:srgbClr val="00A0E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0" y="4254500"/>
            <a:ext cx="2794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工具实战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实操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开发：三小时走完「使用到创造」的完整路线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第一层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对话式办公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990600"/>
            <a:ext cx="5143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0100" y="11938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Word </a:t>
            </a:r>
            <a:r>
              <a:rPr lang="zh-CN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文档撰写</a:t>
            </a:r>
            <a:endParaRPr lang="zh-CN" altLang="en-US" sz="24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0100" y="1727200"/>
            <a:ext cx="4686300" cy="779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定框架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生成初稿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润色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人工校对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人机协作，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是「高效的笔」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32500" y="990600"/>
            <a:ext cx="5143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61100" y="11938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Excel </a:t>
            </a:r>
            <a:r>
              <a:rPr lang="zh-CN" altLang="en-US" sz="24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数据处理</a:t>
            </a:r>
            <a:endParaRPr lang="zh-CN" altLang="en-US" sz="24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61100" y="1727200"/>
            <a:ext cx="4686300" cy="779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问公式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问思路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告别复杂函数记忆，直接说需求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1500" y="3721100"/>
            <a:ext cx="5143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00100" y="39243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PPT </a:t>
            </a:r>
            <a:r>
              <a:rPr lang="zh-CN" altLang="en-US" sz="24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演示文稿制作</a:t>
            </a:r>
            <a:endParaRPr lang="zh-CN" altLang="en-US" sz="24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0100" y="4457700"/>
            <a:ext cx="4686300" cy="779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定主题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建大纲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写内容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配图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加备注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是「排版与美工助手」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32500" y="3721100"/>
            <a:ext cx="5143500" cy="63500"/>
          </a:xfrm>
          <a:prstGeom prst="rect">
            <a:avLst/>
          </a:prstGeom>
          <a:solidFill>
            <a:srgbClr val="007F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261100" y="39243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007F6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PDF </a:t>
            </a:r>
            <a:r>
              <a:rPr lang="zh-CN" altLang="en-US" sz="2400" b="1">
                <a:solidFill>
                  <a:srgbClr val="007F6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文献阅读</a:t>
            </a:r>
            <a:endParaRPr lang="zh-CN" altLang="en-US" sz="2400" b="1">
              <a:solidFill>
                <a:srgbClr val="007F6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61100" y="4457700"/>
            <a:ext cx="4686300" cy="779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是「速读与综述助手」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四大高频办公场景：把重复劳动交给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，把时间留给思考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×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Word · Excel</a:t>
            </a:r>
            <a:endParaRPr lang="en-US" altLang="zh-CN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143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Word</a:t>
            </a: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</a:t>
            </a: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撰写四步法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0" y="1701800"/>
            <a:ext cx="558800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定框架：列提纲，明确结构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填内容：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生成初稿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润色：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优化语言与逻辑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校对：人工把关，人机协作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500" y="3657600"/>
            <a:ext cx="5588000" cy="508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50000" y="1143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Excel</a:t>
            </a: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：三种问法</a:t>
            </a:r>
            <a:endParaRPr lang="zh-CN" altLang="en-US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0" y="1701800"/>
            <a:ext cx="558800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问公式：直接要函数与写法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问思路：讲解数据处理逻辑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写代码：让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输出可运行脚本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写个公式统计各部门业绩？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1500" y="4064000"/>
            <a:ext cx="5676900" cy="6350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600" y="4089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场景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48400" y="4064000"/>
            <a:ext cx="5676900" cy="6350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22945" y="4089400"/>
            <a:ext cx="152781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</a:t>
            </a:r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提示词一句话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1500" y="4699000"/>
            <a:ext cx="5676900" cy="635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9600" y="4724400"/>
            <a:ext cx="754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写通知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48400" y="4699000"/>
            <a:ext cx="5676900" cy="635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6660" y="4724400"/>
            <a:ext cx="3040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帮我起草一份会议通知，语气正式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1500" y="5334000"/>
            <a:ext cx="56769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9600" y="5359400"/>
            <a:ext cx="754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做统计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48400" y="5334000"/>
            <a:ext cx="56769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471410" y="5359400"/>
            <a:ext cx="3230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把这份表按月份汇总，并标出最高值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「人给方向、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给产出」是文档与数据处理的核心心法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×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PPT · PDF</a:t>
            </a:r>
            <a:endParaRPr lang="en-US" altLang="zh-CN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143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PPT</a:t>
            </a: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：五步制作法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0" y="1701800"/>
            <a:ext cx="5588000" cy="2235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定主题与观众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建大纲（金字塔结构）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写每页内容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配图与排版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加备注并检查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500" y="3657600"/>
            <a:ext cx="5588000" cy="508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50000" y="1143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PDF</a:t>
            </a: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：四步精读法</a:t>
            </a:r>
            <a:endParaRPr lang="zh-CN" altLang="en-US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0" y="1701800"/>
            <a:ext cx="5588000" cy="180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5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解析全文要点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总结：按问题重组信息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对比：多文献交叉印证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综述：产出结构化报告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1500" y="4064000"/>
            <a:ext cx="5676900" cy="6350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600" y="4089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场景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48400" y="4064000"/>
            <a:ext cx="5676900" cy="6350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22945" y="4089400"/>
            <a:ext cx="152781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</a:t>
            </a:r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提示词一句话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1500" y="4699000"/>
            <a:ext cx="5676900" cy="635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9600" y="4724400"/>
            <a:ext cx="754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做汇报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48400" y="4699000"/>
            <a:ext cx="5676900" cy="635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303135" y="4724400"/>
            <a:ext cx="356743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把这段文字做成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页大纲，主题要突出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1500" y="5334000"/>
            <a:ext cx="56769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9600" y="5359400"/>
            <a:ext cx="754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读论文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48400" y="5334000"/>
            <a:ext cx="56769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328535" y="5359400"/>
            <a:ext cx="351663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总结这篇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PDF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的核心方法、数据与结论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演示重「结构」，阅读重「提取」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让两者都变简单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第二层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自动化产出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1176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一键生成</a:t>
            </a:r>
            <a:r>
              <a:rPr lang="en-US" altLang="zh-CN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PPT</a:t>
            </a: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KB6</a:t>
            </a: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0" y="1676400"/>
            <a:ext cx="558800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.pptx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文件本质由代码描述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运行生成文件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python-pptx · Marp 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在线工具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0" y="11176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一键生成图表（</a:t>
            </a:r>
            <a:r>
              <a:rPr lang="en-US" altLang="zh-CN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KB7</a:t>
            </a: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0" y="1676400"/>
            <a:ext cx="558800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有数据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matplotlib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讲流程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Mermaid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时序图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要美观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文生图插画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500" y="3937000"/>
            <a:ext cx="5676900" cy="5080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9600" y="3962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需求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48400" y="3937000"/>
            <a:ext cx="5676900" cy="5080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637270" y="3962400"/>
            <a:ext cx="8991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推荐工具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1500" y="4445000"/>
            <a:ext cx="5676900" cy="508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0" y="4470400"/>
            <a:ext cx="152336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PPTX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48400" y="4445000"/>
            <a:ext cx="5676900" cy="508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727315" y="4470400"/>
            <a:ext cx="271907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python-pptx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生成代码）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1500" y="4953000"/>
            <a:ext cx="56769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09600" y="4978400"/>
            <a:ext cx="1135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数据可视化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248400" y="4953000"/>
            <a:ext cx="56769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980998" y="4978400"/>
            <a:ext cx="221170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matplotlib / Excel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1500" y="5461000"/>
            <a:ext cx="5676900" cy="508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09600" y="5486400"/>
            <a:ext cx="1135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流程示意图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248400" y="5461000"/>
            <a:ext cx="5676900" cy="5080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982268" y="5486400"/>
            <a:ext cx="220916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Mermaid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文生图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从「帮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说需求」到「让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造文件」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本课第一个惊喜时刻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第三层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Skills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143000"/>
            <a:ext cx="1117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是什么：一套「教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怎么做某事」的指令文件包，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让固定流程无需反复描述，即装即用、可复用可分享。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0" y="2286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SKILL.md </a:t>
            </a: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结构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0" y="2844800"/>
            <a:ext cx="558800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Frontmatter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：名称与描述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何时使用：适用场景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执行步骤：具体操作流程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示例：输入输出样例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1500" y="3657600"/>
            <a:ext cx="5588000" cy="508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350000" y="2286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核心技巧</a:t>
            </a:r>
            <a:endParaRPr lang="zh-CN" altLang="en-US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50000" y="2844800"/>
            <a:ext cx="558800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帮你写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（元技能）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描述需求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SKILL.md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解决：重复描述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格式不稳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经验难沉淀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装「操作手册」：一次封装，处处复用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第三层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MCP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143000"/>
            <a:ext cx="1117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Context Protocol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2024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年提出的开放标准，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的万能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USB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接口」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安全、标准化地连接外部工具与数据。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500" y="2349500"/>
            <a:ext cx="3556000" cy="571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9600" y="23749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概念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27500" y="2349500"/>
            <a:ext cx="3556000" cy="571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45455" y="2374900"/>
            <a:ext cx="72009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大白话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1500" y="2921000"/>
            <a:ext cx="3556000" cy="571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600" y="2946400"/>
            <a:ext cx="70866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Client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27500" y="2921000"/>
            <a:ext cx="3556000" cy="571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805363" y="2946400"/>
            <a:ext cx="220027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需要外部能力的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1500" y="3492500"/>
            <a:ext cx="3556000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9600" y="3517900"/>
            <a:ext cx="76136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Server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127500" y="3492500"/>
            <a:ext cx="3556000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956810" y="3517900"/>
            <a:ext cx="1897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提供特定能力的程序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1500" y="4064000"/>
            <a:ext cx="3556000" cy="571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9600" y="4089400"/>
            <a:ext cx="563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Tool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27500" y="4064000"/>
            <a:ext cx="3556000" cy="571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956810" y="4089400"/>
            <a:ext cx="1897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可调用动作（动手）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71500" y="4635500"/>
            <a:ext cx="3556000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09600" y="4660900"/>
            <a:ext cx="100901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Resource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127500" y="4635500"/>
            <a:ext cx="3556000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052060" y="4660900"/>
            <a:ext cx="1706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可读数据（眼睛）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71500" y="5207000"/>
            <a:ext cx="3556000" cy="571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09600" y="5232400"/>
            <a:ext cx="86233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Prompt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127500" y="5207000"/>
            <a:ext cx="3556000" cy="5715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052060" y="5232400"/>
            <a:ext cx="1706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提示模板（套路）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001000" y="2349500"/>
            <a:ext cx="3810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最小</a:t>
            </a:r>
            <a:r>
              <a:rPr lang="en-US" altLang="zh-CN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MCP Server</a:t>
            </a:r>
            <a:endParaRPr lang="en-US" altLang="zh-CN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001000" y="2908300"/>
            <a:ext cx="381000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两个工具：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add(a, b)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计算加法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greet(name)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打招呼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Python / TypeScript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均可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01000" y="4826000"/>
            <a:ext cx="3810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配置一句命令，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客户端即可发现并自动调用工具。</a:t>
            </a:r>
            <a:endParaRPr lang="zh-CN" altLang="en-US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装「电源插座」：一次开发，所有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客户端通用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Skills vs MCP</a:t>
            </a:r>
            <a:endParaRPr lang="en-US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2000" y="1206500"/>
            <a:ext cx="3556000" cy="7112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0100" y="1231900"/>
            <a:ext cx="79629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对比项</a:t>
            </a:r>
            <a:endParaRPr lang="zh-CN" altLang="en-US"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18000" y="1206500"/>
            <a:ext cx="3556000" cy="7112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95950" y="1231900"/>
            <a:ext cx="80010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Skills</a:t>
            </a:r>
            <a:endParaRPr lang="en-US" altLang="en-US"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74000" y="1206500"/>
            <a:ext cx="3556000" cy="7112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406255" y="1231900"/>
            <a:ext cx="49149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MCP</a:t>
            </a:r>
            <a:endParaRPr lang="en-US" altLang="en-US"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2000" y="1917700"/>
            <a:ext cx="3556000" cy="711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00100" y="1943100"/>
            <a:ext cx="5892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类比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18000" y="1917700"/>
            <a:ext cx="3556000" cy="711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598160" y="1943100"/>
            <a:ext cx="995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操作手册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74000" y="1917700"/>
            <a:ext cx="3556000" cy="711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154160" y="1943100"/>
            <a:ext cx="995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电源插座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0" y="2628900"/>
            <a:ext cx="355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00100" y="2654300"/>
            <a:ext cx="5892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本质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318000" y="2628900"/>
            <a:ext cx="355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436553" y="2654300"/>
            <a:ext cx="131889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874000" y="2628900"/>
            <a:ext cx="355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890953" y="2654300"/>
            <a:ext cx="152209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能做什么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2000" y="3340100"/>
            <a:ext cx="3556000" cy="711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00100" y="3365500"/>
            <a:ext cx="5892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需要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18000" y="3340100"/>
            <a:ext cx="3556000" cy="711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090160" y="3365500"/>
            <a:ext cx="2011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指令文件，无需代码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874000" y="3340100"/>
            <a:ext cx="3556000" cy="711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349298" y="3365500"/>
            <a:ext cx="260540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Server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（可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代写）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62000" y="4051300"/>
            <a:ext cx="355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00100" y="4076700"/>
            <a:ext cx="5892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适用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318000" y="4051300"/>
            <a:ext cx="355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394960" y="4076700"/>
            <a:ext cx="14020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固定流程复用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874000" y="4051300"/>
            <a:ext cx="355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747760" y="4076700"/>
            <a:ext cx="18084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访问外部世界能力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62000" y="5207000"/>
            <a:ext cx="106680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en-US" altLang="en-US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是「内功心法」，</a:t>
            </a:r>
            <a:r>
              <a:rPr lang="en-US" altLang="zh-CN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lang="zh-CN" altLang="en-US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是「外接武器」</a:t>
            </a:r>
            <a:r>
              <a:rPr lang="en-US" altLang="zh-CN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两者结合，</a:t>
            </a:r>
            <a:r>
              <a:rPr lang="en-US" altLang="zh-CN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既能按套路办事，又能连接真实世界</a:t>
            </a:r>
            <a:endParaRPr lang="zh-CN" altLang="en-US" sz="22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MCP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能做什么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本课两大核心产物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课程总结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三层进阶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9400" y="1016000"/>
            <a:ext cx="3746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800" y="12192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①</a:t>
            </a:r>
            <a:r>
              <a:rPr lang="en-US" altLang="zh-CN" sz="2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对话式办公</a:t>
            </a:r>
            <a:endParaRPr lang="zh-CN" altLang="en-US" sz="22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1800" y="17272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 · Excel
PPT · PDF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四场景全覆盖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16400" y="1016000"/>
            <a:ext cx="3746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68800" y="12192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②</a:t>
            </a:r>
            <a:r>
              <a:rPr lang="en-US" altLang="zh-CN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自动化产出</a:t>
            </a:r>
            <a:endParaRPr lang="zh-CN" altLang="en-US" sz="22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68800" y="17272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一键生成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一键生成图表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写代码造文件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3400" y="1016000"/>
            <a:ext cx="3746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05800" y="12192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③</a:t>
            </a:r>
            <a:r>
              <a:rPr lang="en-US" altLang="zh-CN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开发者之路</a:t>
            </a:r>
            <a:endParaRPr lang="zh-CN" altLang="en-US" sz="22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05800" y="17272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技能包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MCP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连接器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从使用到创造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9400" y="3035300"/>
            <a:ext cx="3746500" cy="63500"/>
          </a:xfrm>
          <a:prstGeom prst="rect">
            <a:avLst/>
          </a:prstGeom>
          <a:solidFill>
            <a:srgbClr val="007F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31800" y="32385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7F6E"/>
                </a:solidFill>
                <a:latin typeface="黑体" panose="02010609060101010101" charset="-122"/>
                <a:ea typeface="黑体" panose="02010609060101010101" charset="-122"/>
              </a:rPr>
              <a:t>方法论</a:t>
            </a:r>
            <a:endParaRPr lang="zh-CN" altLang="en-US" sz="2200" b="1">
              <a:solidFill>
                <a:srgbClr val="007F6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1800" y="37465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人给方向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给产出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人机协作闭环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16400" y="3035300"/>
            <a:ext cx="3746500" cy="63500"/>
          </a:xfrm>
          <a:prstGeom prst="rect">
            <a:avLst/>
          </a:prstGeom>
          <a:solidFill>
            <a:srgbClr val="6B46C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368800" y="32385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6B46C1"/>
                </a:solidFill>
                <a:latin typeface="黑体" panose="02010609060101010101" charset="-122"/>
                <a:ea typeface="黑体" panose="02010609060101010101" charset="-122"/>
              </a:rPr>
              <a:t>元技能</a:t>
            </a:r>
            <a:endParaRPr lang="zh-CN" altLang="en-US" sz="2200" b="1">
              <a:solidFill>
                <a:srgbClr val="6B46C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68800" y="37465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帮你写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Skills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MCP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会提问就会开发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153400" y="3035300"/>
            <a:ext cx="3746500" cy="63500"/>
          </a:xfrm>
          <a:prstGeom prst="rect">
            <a:avLst/>
          </a:prstGeom>
          <a:solidFill>
            <a:srgbClr val="BE1E2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05800" y="32385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BE1E2D"/>
                </a:solidFill>
                <a:latin typeface="黑体" panose="02010609060101010101" charset="-122"/>
                <a:ea typeface="黑体" panose="02010609060101010101" charset="-122"/>
              </a:rPr>
              <a:t>核心心法</a:t>
            </a:r>
            <a:endParaRPr lang="zh-CN" altLang="en-US" sz="2200" b="1">
              <a:solidFill>
                <a:srgbClr val="BE1E2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05800" y="37465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重复即自动化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需求即代码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未来属于创造者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过去你是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的遥控器；今天，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是你的生产线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作业与下周预告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143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本周作业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500" y="1701800"/>
            <a:ext cx="5588000" cy="2915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70000"/>
              </a:lnSpc>
            </a:pP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使用记录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记录本周用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完成的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个任务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诚信声明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说明哪些由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课后挑战（加分）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完成一个最小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MCP Server</a:t>
            </a:r>
            <a:endParaRPr lang="en-US" altLang="zh-CN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500" y="3657600"/>
            <a:ext cx="5588000" cy="508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50000" y="11430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下周预告</a:t>
            </a:r>
            <a:endParaRPr lang="zh-CN" altLang="en-US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0" y="1701800"/>
            <a:ext cx="5588000" cy="244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70000"/>
              </a:lnSpc>
            </a:pPr>
            <a:r>
              <a:rPr lang="en-US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工具链实战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组合使用多个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把本周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Skills/MCP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用起来</a:t>
            </a:r>
            <a:r>
              <a:rPr lang="en-US" altLang="zh-CN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完成一个综合自动化任务</a:t>
            </a:r>
            <a:endParaRPr lang="zh-CN" altLang="en-US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学以致用：把「会问」变成「会用」，把「会用」变成「会造」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905000"/>
            <a:ext cx="10668000" cy="1211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5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r>
              <a:rPr lang="en-US" altLang="zh-CN" sz="5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5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endParaRPr lang="zh-CN" altLang="en-US" sz="5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3048000"/>
            <a:ext cx="10668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600" b="1">
                <a:solidFill>
                  <a:srgbClr val="F28C28"/>
                </a:solidFill>
                <a:latin typeface="微软雅黑" panose="020B0503020204020204" charset="-122"/>
                <a:ea typeface="微软雅黑" panose="020B0503020204020204" charset="-122"/>
              </a:rPr>
              <a:t>提问与交流</a:t>
            </a:r>
            <a:endParaRPr lang="zh-CN" altLang="en-US" sz="2600" b="1">
              <a:solidFill>
                <a:srgbClr val="F28C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0" y="3810000"/>
            <a:ext cx="10668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「让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替你干活，让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生态替你干活，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最后，让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按你的规则干活。」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5461000"/>
            <a:ext cx="10668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办公自动化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周第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全程实战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学以致用</a:t>
            </a:r>
            <a:endParaRPr lang="zh-CN" altLang="en-US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</Words>
  <Application>WPS 演示</Application>
  <PresentationFormat>宽屏</PresentationFormat>
  <Paragraphs>330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 Unicode MS</vt:lpstr>
      <vt:lpstr>微软雅黑</vt:lpstr>
      <vt:lpstr>Arial Black</vt:lpstr>
      <vt:lpstr>黑体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86183</dc:creator>
  <cp:lastModifiedBy>母江涛</cp:lastModifiedBy>
  <cp:revision>6</cp:revision>
  <dcterms:created xsi:type="dcterms:W3CDTF">2023-07-11T07:43:00Z</dcterms:created>
  <dcterms:modified xsi:type="dcterms:W3CDTF">2026-08-15T07:01:51Z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729DBA347F8A4FC3A29F9F6ED2C10EBC_11</vt:lpwstr>
  </property>
</Properties>
</file>