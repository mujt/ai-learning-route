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7.svg" ContentType="image/svg+xml"/>
  <Override PartName="/ppt/media/image119.svg" ContentType="image/svg+xml"/>
  <Override PartName="/ppt/media/image121.svg" ContentType="image/svg+xml"/>
  <Override PartName="/ppt/media/image123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.svg" ContentType="image/svg+xml"/>
  <Override PartName="/ppt/media/image141.svg" ContentType="image/svg+xml"/>
  <Override PartName="/ppt/media/image144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70.svg" ContentType="image/svg+xml"/>
  <Override PartName="/ppt/media/image172.svg" ContentType="image/svg+xml"/>
  <Override PartName="/ppt/media/image178.svg" ContentType="image/svg+xml"/>
  <Override PartName="/ppt/media/image18.svg" ContentType="image/svg+xml"/>
  <Override PartName="/ppt/media/image180.svg" ContentType="image/svg+xml"/>
  <Override PartName="/ppt/media/image182.svg" ContentType="image/svg+xml"/>
  <Override PartName="/ppt/media/image185.svg" ContentType="image/svg+xml"/>
  <Override PartName="/ppt/media/image187.svg" ContentType="image/svg+xml"/>
  <Override PartName="/ppt/media/image189.svg" ContentType="image/svg+xml"/>
  <Override PartName="/ppt/media/image192.svg" ContentType="image/svg+xml"/>
  <Override PartName="/ppt/media/image194.svg" ContentType="image/svg+xml"/>
  <Override PartName="/ppt/media/image199.svg" ContentType="image/svg+xml"/>
  <Override PartName="/ppt/media/image20.svg" ContentType="image/svg+xml"/>
  <Override PartName="/ppt/media/image201.svg" ContentType="image/svg+xml"/>
  <Override PartName="/ppt/media/image205.svg" ContentType="image/svg+xml"/>
  <Override PartName="/ppt/media/image207.svg" ContentType="image/svg+xml"/>
  <Override PartName="/ppt/media/image209.svg" ContentType="image/svg+xml"/>
  <Override PartName="/ppt/media/image211.svg" ContentType="image/svg+xml"/>
  <Override PartName="/ppt/media/image213.svg" ContentType="image/svg+xml"/>
  <Override PartName="/ppt/media/image215.svg" ContentType="image/svg+xml"/>
  <Override PartName="/ppt/media/image217.svg" ContentType="image/svg+xml"/>
  <Override PartName="/ppt/media/image219.svg" ContentType="image/svg+xml"/>
  <Override PartName="/ppt/media/image22.svg" ContentType="image/svg+xml"/>
  <Override PartName="/ppt/media/image222.svg" ContentType="image/svg+xml"/>
  <Override PartName="/ppt/media/image224.svg" ContentType="image/svg+xml"/>
  <Override PartName="/ppt/media/image226.svg" ContentType="image/svg+xml"/>
  <Override PartName="/ppt/media/image24.svg" ContentType="image/svg+xml"/>
  <Override PartName="/ppt/media/image26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0.webp" ContentType="image/webp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7.svg" ContentType="image/svg+xml"/>
  <Override PartName="/ppt/media/image6.svg" ContentType="image/svg+xml"/>
  <Override PartName="/ppt/media/image61.svg" ContentType="image/svg+xml"/>
  <Override PartName="/ppt/media/image64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7.webp" ContentType="image/webp"/>
  <Override PartName="/ppt/media/image91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</p:sldMasterIdLst>
  <p:notesMasterIdLst>
    <p:notesMasterId r:id="rId10"/>
  </p:notesMasterIdLst>
  <p:sldIdLst>
    <p:sldId id="256" r:id="rId9"/>
    <p:sldId id="257" r:id="rId11"/>
    <p:sldId id="262" r:id="rId12"/>
    <p:sldId id="258" r:id="rId13"/>
    <p:sldId id="263" r:id="rId14"/>
    <p:sldId id="315" r:id="rId15"/>
    <p:sldId id="266" r:id="rId16"/>
    <p:sldId id="260" r:id="rId17"/>
    <p:sldId id="259" r:id="rId18"/>
    <p:sldId id="265" r:id="rId19"/>
    <p:sldId id="261" r:id="rId20"/>
    <p:sldId id="264" r:id="rId21"/>
    <p:sldId id="267" r:id="rId22"/>
    <p:sldId id="268" r:id="rId23"/>
    <p:sldId id="275" r:id="rId24"/>
    <p:sldId id="276" r:id="rId25"/>
    <p:sldId id="317" r:id="rId26"/>
    <p:sldId id="277" r:id="rId27"/>
    <p:sldId id="271" r:id="rId28"/>
    <p:sldId id="278" r:id="rId29"/>
    <p:sldId id="273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18" r:id="rId51"/>
    <p:sldId id="300" r:id="rId52"/>
    <p:sldId id="302" r:id="rId53"/>
    <p:sldId id="303" r:id="rId54"/>
    <p:sldId id="304" r:id="rId55"/>
    <p:sldId id="305" r:id="rId56"/>
    <p:sldId id="319" r:id="rId57"/>
    <p:sldId id="306" r:id="rId58"/>
    <p:sldId id="320" r:id="rId59"/>
    <p:sldId id="307" r:id="rId60"/>
    <p:sldId id="308" r:id="rId61"/>
    <p:sldId id="312" r:id="rId62"/>
    <p:sldId id="309" r:id="rId63"/>
    <p:sldId id="313" r:id="rId64"/>
    <p:sldId id="310" r:id="rId65"/>
    <p:sldId id="311" r:id="rId66"/>
    <p:sldId id="314" r:id="rId6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77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77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0" Type="http://schemas.openxmlformats.org/officeDocument/2006/relationships/tableStyles" Target="tableStyles.xml"/><Relationship Id="rId7" Type="http://schemas.openxmlformats.org/officeDocument/2006/relationships/slideMaster" Target="slideMasters/slideMaster6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58.xml"/><Relationship Id="rId66" Type="http://schemas.openxmlformats.org/officeDocument/2006/relationships/slide" Target="slides/slide57.xml"/><Relationship Id="rId65" Type="http://schemas.openxmlformats.org/officeDocument/2006/relationships/slide" Target="slides/slide56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60" Type="http://schemas.openxmlformats.org/officeDocument/2006/relationships/slide" Target="slides/slide5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0.xml"/><Relationship Id="rId58" Type="http://schemas.openxmlformats.org/officeDocument/2006/relationships/slide" Target="slides/slide49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名字，学校学院，研究方向。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大家好，欢迎来到《AI时代能力培养》课程。在接下来的时间里，我们将一起探索人工智能的奥秘，从最基础的概念到前沿的应用，帮助大家掌握驾驭AI的核心能力，成为AI时代的领跑者。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八个部分。我们将从AI的基本概念和发展历史讲起，深入探讨ChatGPT火爆的原因和大模型的强大能力，然后讨论AI与人类的关系，并介绍主流的AI工具。最后，我们会有一个实操环节，并对整个课程进行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提到AI，大家可能会想到科幻电影里的机器人，或者我们日常使用的语音助手和人脸识别。这些都是AI的一部分。AI的本质是帮助我们完成需要智力的任务，它的形态多种多样，就像交通工具一样，从简单的自行车到复杂的飞机，都服务于我们的出行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对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有大量的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疑问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到底什么是人工智能呢？简单来说，就是让计算机像人一样去感知、思考、学习和决策。它的学习过程非常像我们教小孩子认识世界。比如教孩子认猫，我们给他看大量的猫的图片，并告诉他这是猫，他的大脑就会自己总结出猫的特征，下次见到新的猫也能认出来。AI也是通过这种方式，从大量数据中自动学习规律，这个过程就是机器学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AI的定义。AI可以分为广义和狭义两种。广义AI是一个非常宽泛的概念，指任何模拟人类智能的技术。而我们目前接触到的所有AI，比如语音助手、图像识别，都属于狭义AI，也叫专用AI，它们只擅长做特定的事情。而通用AI，也就是强AI，是像人一样什么都能做的AI，目前还只是一个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更好地理解这些概念，我们可以用一个同心圆来表示它们的关系。人工智能是最外层的大概念，机器学习是实现AI的一种方法，深度学习是机器学习的一个分支，而大语言模型，比如ChatGPT，就是深度学习在语言领域的具体应用。简单来说，人工智能是超市，机器学习是货架，深度学习是产品，大语言模型就是当前最热门的那个产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机器学习和深度学习是实现AI的两种核心方法。简单来说，机器学习是让计算机从数据中学习规律，而深度学习是机器学习的一个分支，它使用深层神经网络来自动学习特征。深度学习尤其擅长处理图像、音频和文本这类非结构化数据，但它需要海量的数据和强大的计算资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实AI已经渗透到我们生活的方方面面。从手机的人脸解锁、语音助手，到视频网站的个性化推荐，再到地图的路径规划，背后都有AI的身影。在商业领域，AI也被广泛应用于电商推荐、金融风控和医疗诊断等方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我们现在如此关注AI？因为2022年被称为“AI民主化元年”。随着ChatGPT的发布，AI的使用权从少数技术精英手中，交到了我们每一个人手里。这就像iPhone的出现一样，彻底改变了我们与技术交互的方式，让强大的AI能力变得触手可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深入探讨一下专用AI和通用AI的区别。我们现在处于专用AI时代，AI在特定领域非常强大。而通用AI是AI研究的终极目标，它像人一样什么都能做。但要实现强AI，我们还面临着巨大的技术挑战，比如如何让机器拥有常识，以及如何确保它的目标与人类一致等伦理和安全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需要区分两种AI：专用AI和通用AI。我们现在接触到的所有AI，比如AlphaGo、人脸识别，都是专用AI，它们只擅长某一项特定任务。而通用AI，是像人一样什么都能做的AI，目前还不存在。即便是强大的ChatGPT，它的核心能力其实也只是预测下一个词，只是在文字处理上做到了极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我们来回顾AI的发展历史。AI的故事始于1950年，图灵提出了著名的图灵测试，为我们判断机器是否智能提供了一个标准。1956年的达特茅斯会议则正式确立了“人工智能”这一学科，开启了AI研究的序幕。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在早期，AI取得了一些令人瞩目的成功，比如能证明数学定理的“逻辑理论家”和能与人对话的“ELIZA”。但由于当时的技术限制和过高的期望，AI很快遭遇了第一次寒冬，研究经费被大幅削减。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到了80年代，专家系统成为主流。它试图通过编写大量规则来模拟专家的知识。但这种方法非常脆弱，难以扩展，最终随着市场崩溃和日本“第五代计算机”计划的失败，AI迎来了第二次寒冬。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90年代，AI开始在特定领域展现出超越人类的能力。最著名的例子就是1997年，IBM的“深蓝”击败了国际象棋世界冠军卡斯帕罗夫。这证明了AI在计算和策略方面的强大实力，但也让我们看到了专用AI的局限性——它只会下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21世纪的第二个十年，深度学习迎来了爆发。2012年，AlexNet的成功是一个里程碑。它通过使用更深的网络结构、ReLU激活函数、Dropout技术和GPU并行计算，极大地提升了图像识别的准确率，证明了深度学习的巨大潜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21世纪的第二个十年，深度学习迎来了爆发。2012年，AlexNet的成功标志着深度学习时代的到来。2016年，AlphaGo战胜李世石，再次震惊世界。而2017年提出的Transformer架构，更是奠定了今天所有主流大模型的技术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2017年，Google提出的Transformer架构是另一个革命性突破。它的核心是自注意力机制，能够让模型更好地理解句子中词与词之间的长距离关系。如今，我们使用的所有主流大语言模型，如GPT和BERT，都是基于Transformer架构构建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2020年开始，我们进入了大模型爆发的时代。GPT-3的出现展示了惊人的能力，而2022年ChatGPT的发布则彻底点燃了全球对AI的热情。到2023年，GPT-4的能力更进一步。如今，AI正朝着多模态和智能体的方向发展，从一个简单的工具，逐渐变成我们的智能助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Moore Laws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当价格不变时，集成电路上可容纳的晶体管数量，约每隔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18-24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个月便会增加一倍，性能也将提升一倍。通俗讲，就是每一美元所能买到的电脑性能，每隔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18-24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个月翻一倍以上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回顾一下AI的发展历史。这是一部跨越70年的“冰与火之歌”，充满了高潮和低谷。从1950年代的诞生，到经历两次寒冬，再到近年来深度学习和大模型的爆发，AI的发展之路充满了曲折，但也取得了巨大的进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为什么ChatGPT能如此火爆？首先是技术上的突破。其中一个核心技术是“指令微调”。原始的大模型只是擅长续写文本，而通过指令微调，我们让模型学会了理解和遵循用户的指令，从而能够执行各种任务，成为一个真正的助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一个更关键的技术是RLHF，也就是基于人类反馈的强化学习。这个技术的核心思想是，让人类来评判模型输出的好坏，然后让模型通过强化学习去学习如何生成更受人类欢迎的内容。这使得ChatGPT的回答不仅准确，而且更有用、更诚实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技术，ChatGPT的产品设计也非常出色。它采用了简单的对话式界面，让每个人都能轻松上手。即时反馈的体验也很好。同时，免费+付费的模式让它迅速普及并实现了商业化。最重要的是，它一直在持续迭代，不断变得更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最后，ChatGPT的成功也离不开时代背景。技术的成熟、疫情后数字化的加速、信息过载时代的需求，以及社交媒体的传播效应，共同造就了ChatGPT的火爆。它的出现，正好满足了这个时代的需求。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为什么ChatGPT能如此火爆？这背后有五大原因：它能力全面，交互方式自然，使用门槛极低，效果令人惊艳，并且诞生在一个云计算、大数据和GPU算力都已成熟的时代。它最重要的贡献，就是让全世界都意识到，AI时代真的来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看大模型到底能做什么。首先是内容创作，以前写一篇文章可能需要几天，现在AI几分钟就能生成草稿。信息摘要也是一样，几十页的报告，AI一键就能总结。对于程序员来说，用自然语言描述需求，AI就能直接生成代码，大大提高了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分析方面，以前需要写复杂的代码，现在用自然语言提问，AI就能帮你分析数据。语言翻译的质量也大大提升，接近专业译员水平。对于需要创意的工作，AI也能成为你的创意伙伴，帮你头脑风暴，生成各种点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教育领域，AI可以成为24小时在线的辅导老师。在客户服务方面，AI聊天机器人可以处理大部分常见咨询，解放人工客服。甚至在图像创作领域，我们也可以用自然语言让AI生成或编辑图片，极大地降低了创作门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企业应用中，AI带来的投资回报率是非常可观的。例如，IBM通过AI自动化财务流程，每年节省了约60万美元。摩根士丹利为顾问部署AI助手后，文档访问率提升了4倍。这些案例都证明了AI在提升效率和降低成本方面的巨大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不同专业的同学，AI也能提供具体的帮助。市场营销专业的同学可以用AI做市场调研和内容生成。软件开发专业的同学可以用AI辅助代码编写和技术文档生成。AI正在深入各个专业领域，成为我们学习和工作的强大助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模型的能力非常强大，几乎是一个全能助手。它可以帮我们写文章、写代码、做翻译、总结文章、回答问题、激发创意、分析数据、理解图片，甚至帮我们做PPT大纲和文献综述。这些能力覆盖了我们学习和工作的方方面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无论你是什么专业，大模型都能提供巨大的帮助。比如工程专业的同学可以用它来辅助课程设计，土木工程的同学可以用它来理解规范，设计专业的同学可以用它来寻找灵感。但请记住，AI是辅助工具，不是替代者。你必须对它生成的内容进行审核和判断，尤其是在涉及专业和安全问题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几个例子。对于医生来说，AI可以帮助他们录入病历、筛查影像，但无法替代他们与患者沟通和进行复杂手术。对于律师来说，AI可以帮助他们起草文书、检索案例，但无法替代他们在法庭上进行辩论和制定策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再看教师和程序员。教师的作业批改和知识点讲解可以由AI辅助，但教师的启发式教学和情感关怀是无法替代的。程序员的基础代码编写可以交给AI，但系统设计和创新开发仍然需要人类来完成。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那么，在AI时代，我们的核心竞争力是什么？是创造力、情商、伦理判断力、复杂问题解决能力和终身学习能力。这些都是AI难以替代的人类独有的能力。我们应该重点培养这些能力，以适应未来的挑战。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大家最关心的问题：AI会不会取代我？我的观点是，AI取代的是具体的任务，而不是整个职业。以建筑设计师为例，AI可以帮他画图、做分析，但无法替代他与客户沟通、做出审美判断和承担法律责任。所以，AI不是取代者，而是增强者，它把我们从重复劳动中解放出来，让我们能专注于更有价值的创造性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AI擅长什么，又不擅长什么呢？AI擅长处理重复性任务、基于已有知识进行推理。但它不擅长需要情感共情、真正原创性的创造和承担责任。因此，我们未来的职业规划，应该重点培养那些AI不擅长的能力，比如批判性思维、沟通能力和领导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给同学们的建议是：不要和AI比效率，要和它合作。把AI当作你的初级助手，你来做决策，它来执行。同时，有意识地培养那些AI做不了的能力。最重要的是，一定要学好AI工具，因为未来，会用AI的人，将会取代不会用AI的人。记住，AI是你的能力放大器，而不是自动驾驶系统，方向始终掌握在你自己手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接下来我们详细介绍一下主流的AI工具。首先是ChatGPT，它是综合能力最强的选手，代码生成和逻辑推理能力出色。然后是Claude，它以安全性和长文本处理能力著称，输出内容更可靠。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Google的Gemini是原生多模态模型，能同时处理文本、图像、音频和视频。Kimi的特点是超长上下文处理能力，非常适合阅读长篇文档。而DeepSeek则以高性价比和强大的代码能力受到开发者的欢迎。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Google的Gemini是原生多模态模型，能同时处理文本、图像、音频和视频。Kimi的特点是超长上下文处理能力，非常适合阅读长篇文档。而DeepSeek则以高性价比和强大的代码能力受到开发者的欢迎。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如何选择适合自己的AI工具呢？你可以根据自己的核心需求、预算和数据隐私要求来做决定。如果主要是内容创作，ChatGPT和Claude是不错的选择。如果是代码开发，DeepSeek性价比很高。如果需要处理长文档，Kimi是最佳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国内也有很多优秀的AI工具，比如阿里的通义千问、字节的豆包和百度的文心一言。我的建议是，不要只依赖一个AI工具。每个AI都有自己的特点，把它们当作你的顾问团，在做重要决策时进行交叉验证，这样能获得更全面、更可靠的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实操环节。要让AI更好地为我们服务，学会写好提示词至关重要。这里有五个核心原则：明确角色、清晰指令、提供上下文、指定格式和给出示例。通过这些技巧，你可以让AI更准确地理解你的意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基础原则，还有一些进阶技巧。比如“链式思考”，让AI把它的思考过程写出来，这有助于解决复杂问题。还有“少样本提示”，通过给出几个例子，让AI更快地理解你的意图。这些技巧可以大大提升你与AI交互的效率和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尝试多模态内容生成。首先是图像生成。你可以使用MidJourney、DALL-E等工具，通过自然语言描述来生成图片。一个好的提示词通常包含主体、动作、环境、风格、光线和构图等要素。大家可以尝试描述一个自己想象中的场景，看看AI能生成什么样的图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尝试多模态内容生成。首先是图像生成。你可以使用MidJourney、DALL-E等工具，通过自然语言描述来生成图片。一个好的提示词通常包含主体、动作、环境、风格、光线和构图等要素。大家可以尝试描述一个自己想象中的场景，看看AI能生成什么样的图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图片，AI还能生成视频。你可以使用Sora、Pika等工具，通过文本描述来生成短视频。提示词可以包含画面描述、镜头运动、持续时间和风格等。大家可以尝试描述一个简单的动态场景，体验一下AI视频生成的魅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图片，AI还能生成视频。你可以使用Sora、Pika等工具，通过文本描述来生成短视频。提示词可以包含画面描述、镜头运动、持续时间和风格等。大家可以尝试描述一个简单的动态场景，体验一下AI视频生成的魅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使用AI的过程中，大家可能会遇到一些问题。比如AI生成的内容有错误，这被称为“AI幻觉”。解决方法是优化提示词或要求AI提供引用来源。如果想让AI更有创意，可以调整温度参数或使用角色扮演。如果发现AI内容有偏见，要在提示词中明确要求中立，并进行人工审核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理论讲完了，现在我们来实际操作一下。请大家打开浏览器，注册DeepSeek和Kimi这两个国内AI工具。然后，用屏幕上的三个问题去测试它们，看看不同的AI给出的答案有什么不同。这会帮助大家更好地理解和使用AI。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接近尾声，我们来回顾一下核心要点。AI的发展历经70年，ChatGPT的成功是天时地利人和的结果。大模型能力强大，但需要我们学会如何“指挥”它。请记住，AI是你的助力，而不是你的主宰。最后，建议大家使用多个AI工具，组建自己的顾问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接近尾声，我们来深度解析几个关键概念。大语言模型是基于Transformer架构的模型。预训练是让它学习通用知识，微调是让它适应特定任务。对齐是让它的行为符合人类价值观，而Agent则是AI从助手向同事转变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为了巩固学习成果，我给大家布置了两个必做作业和一个选做作业。第一个是对比不同AI工具的回答，第二个是对比传统方法和AI方法的效率。希望大家通过实践，真正掌握AI的使用方法。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巩固学习成果，我给大家布置了两个挑战性的课后项目。第一个项目是用AI完成一个小型研究报告。你可以选择一个感兴趣的话题，利用AI工具收集资料、分析数据、生成初稿，最后人工完善，形成一份完整的报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项目是为你自己的专业设计一个AI辅助工作流。分析你专业学习中的痛点，然后寻找合适的AI工具来解决它们，设计一个完整的工作流，并展示其预期效果。希望通过这两个项目，大家能真正将AI应用到自己的学习和工作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我的分享到此结束，感谢大家的聆听。现在是问答环节，大家有什么问题可以随时提出。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2.jpeg"/><Relationship Id="rId10" Type="http://schemas.openxmlformats.org/officeDocument/2006/relationships/image" Target="../media/image11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5" Type="http://schemas.openxmlformats.org/officeDocument/2006/relationships/notesSlide" Target="../notesSlides/notesSlide6.xml"/><Relationship Id="rId34" Type="http://schemas.openxmlformats.org/officeDocument/2006/relationships/slideLayout" Target="../slideLayouts/slideLayout13.xml"/><Relationship Id="rId33" Type="http://schemas.openxmlformats.org/officeDocument/2006/relationships/image" Target="../media/image30.GIF"/><Relationship Id="rId32" Type="http://schemas.openxmlformats.org/officeDocument/2006/relationships/image" Target="../media/image29.jpeg"/><Relationship Id="rId31" Type="http://schemas.openxmlformats.org/officeDocument/2006/relationships/tags" Target="../tags/tag27.xml"/><Relationship Id="rId30" Type="http://schemas.openxmlformats.org/officeDocument/2006/relationships/image" Target="../media/image28.jpeg"/><Relationship Id="rId3" Type="http://schemas.openxmlformats.org/officeDocument/2006/relationships/tags" Target="../tags/tag7.xml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image" Target="../media/image27.jpeg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image" Target="../media/image26.svg"/><Relationship Id="rId20" Type="http://schemas.openxmlformats.org/officeDocument/2006/relationships/image" Target="../media/image25.png"/><Relationship Id="rId2" Type="http://schemas.openxmlformats.org/officeDocument/2006/relationships/tags" Target="../tags/tag6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image" Target="../media/image24.svg"/><Relationship Id="rId12" Type="http://schemas.openxmlformats.org/officeDocument/2006/relationships/image" Target="../media/image23.png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image" Target="../media/image10.svg"/><Relationship Id="rId4" Type="http://schemas.openxmlformats.org/officeDocument/2006/relationships/image" Target="../media/image31.png"/><Relationship Id="rId30" Type="http://schemas.openxmlformats.org/officeDocument/2006/relationships/notesSlide" Target="../notesSlides/notesSlide7.xml"/><Relationship Id="rId3" Type="http://schemas.openxmlformats.org/officeDocument/2006/relationships/tags" Target="../tags/tag29.xml"/><Relationship Id="rId29" Type="http://schemas.openxmlformats.org/officeDocument/2006/relationships/slideLayout" Target="../slideLayouts/slideLayout12.xml"/><Relationship Id="rId28" Type="http://schemas.openxmlformats.org/officeDocument/2006/relationships/image" Target="../media/image40.webp"/><Relationship Id="rId27" Type="http://schemas.openxmlformats.org/officeDocument/2006/relationships/image" Target="../media/image39.svg"/><Relationship Id="rId26" Type="http://schemas.openxmlformats.org/officeDocument/2006/relationships/image" Target="../media/image38.png"/><Relationship Id="rId25" Type="http://schemas.openxmlformats.org/officeDocument/2006/relationships/tags" Target="../tags/tag43.xml"/><Relationship Id="rId24" Type="http://schemas.openxmlformats.org/officeDocument/2006/relationships/tags" Target="../tags/tag42.xml"/><Relationship Id="rId23" Type="http://schemas.openxmlformats.org/officeDocument/2006/relationships/image" Target="../media/image37.svg"/><Relationship Id="rId22" Type="http://schemas.openxmlformats.org/officeDocument/2006/relationships/image" Target="../media/image36.png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8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image" Target="../media/image35.svg"/><Relationship Id="rId16" Type="http://schemas.openxmlformats.org/officeDocument/2006/relationships/image" Target="../media/image34.png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image" Target="../media/image33.svg"/><Relationship Id="rId10" Type="http://schemas.openxmlformats.org/officeDocument/2006/relationships/image" Target="../media/image32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1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svg"/><Relationship Id="rId8" Type="http://schemas.openxmlformats.org/officeDocument/2006/relationships/image" Target="../media/image48.png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53.svg"/><Relationship Id="rId12" Type="http://schemas.openxmlformats.org/officeDocument/2006/relationships/image" Target="../media/image52.png"/><Relationship Id="rId11" Type="http://schemas.openxmlformats.org/officeDocument/2006/relationships/image" Target="../media/image51.svg"/><Relationship Id="rId10" Type="http://schemas.openxmlformats.org/officeDocument/2006/relationships/image" Target="../media/image50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4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3" Type="http://schemas.openxmlformats.org/officeDocument/2006/relationships/image" Target="../media/image14.svg"/><Relationship Id="rId2" Type="http://schemas.openxmlformats.org/officeDocument/2006/relationships/image" Target="../media/image55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8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image" Target="../media/image10.svg"/><Relationship Id="rId6" Type="http://schemas.openxmlformats.org/officeDocument/2006/relationships/image" Target="../media/image59.png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image" Target="../media/image58.jpeg"/><Relationship Id="rId19" Type="http://schemas.openxmlformats.org/officeDocument/2006/relationships/notesSlide" Target="../notesSlides/notesSlide13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62.png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image" Target="../media/image61.svg"/><Relationship Id="rId13" Type="http://schemas.openxmlformats.org/officeDocument/2006/relationships/image" Target="../media/image60.png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svg"/><Relationship Id="rId8" Type="http://schemas.openxmlformats.org/officeDocument/2006/relationships/image" Target="../media/image66.png"/><Relationship Id="rId7" Type="http://schemas.openxmlformats.org/officeDocument/2006/relationships/image" Target="../media/image51.svg"/><Relationship Id="rId6" Type="http://schemas.openxmlformats.org/officeDocument/2006/relationships/image" Target="../media/image65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10.svg"/><Relationship Id="rId2" Type="http://schemas.openxmlformats.org/officeDocument/2006/relationships/image" Target="../media/image59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1.svg"/><Relationship Id="rId6" Type="http://schemas.openxmlformats.org/officeDocument/2006/relationships/image" Target="../media/image70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Relationship Id="rId3" Type="http://schemas.openxmlformats.org/officeDocument/2006/relationships/image" Target="../media/image10.svg"/><Relationship Id="rId2" Type="http://schemas.openxmlformats.org/officeDocument/2006/relationships/image" Target="../media/image59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2.jpe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55.png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14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6.svg"/><Relationship Id="rId7" Type="http://schemas.openxmlformats.org/officeDocument/2006/relationships/image" Target="../media/image85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Relationship Id="rId3" Type="http://schemas.openxmlformats.org/officeDocument/2006/relationships/image" Target="../media/image81.png"/><Relationship Id="rId2" Type="http://schemas.openxmlformats.org/officeDocument/2006/relationships/image" Target="../media/image80.jpe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7" Type="http://schemas.openxmlformats.org/officeDocument/2006/relationships/notesSlide" Target="../notesSlides/notesSlide20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88.png"/><Relationship Id="rId14" Type="http://schemas.openxmlformats.org/officeDocument/2006/relationships/image" Target="../media/image87.webp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2.svg"/><Relationship Id="rId6" Type="http://schemas.openxmlformats.org/officeDocument/2006/relationships/image" Target="../media/image25.png"/><Relationship Id="rId5" Type="http://schemas.openxmlformats.org/officeDocument/2006/relationships/image" Target="../media/image91.svg"/><Relationship Id="rId4" Type="http://schemas.openxmlformats.org/officeDocument/2006/relationships/image" Target="../media/image90.png"/><Relationship Id="rId3" Type="http://schemas.openxmlformats.org/officeDocument/2006/relationships/image" Target="../media/image37.svg"/><Relationship Id="rId2" Type="http://schemas.openxmlformats.org/officeDocument/2006/relationships/image" Target="../media/image89.pn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6.svg"/><Relationship Id="rId6" Type="http://schemas.openxmlformats.org/officeDocument/2006/relationships/image" Target="../media/image95.png"/><Relationship Id="rId5" Type="http://schemas.openxmlformats.org/officeDocument/2006/relationships/image" Target="../media/image91.svg"/><Relationship Id="rId4" Type="http://schemas.openxmlformats.org/officeDocument/2006/relationships/image" Target="../media/image90.png"/><Relationship Id="rId3" Type="http://schemas.openxmlformats.org/officeDocument/2006/relationships/image" Target="../media/image94.svg"/><Relationship Id="rId2" Type="http://schemas.openxmlformats.org/officeDocument/2006/relationships/image" Target="../media/image93.pn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png"/><Relationship Id="rId8" Type="http://schemas.openxmlformats.org/officeDocument/2006/relationships/image" Target="../media/image100.svg"/><Relationship Id="rId7" Type="http://schemas.openxmlformats.org/officeDocument/2006/relationships/image" Target="../media/image99.png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" Type="http://schemas.openxmlformats.org/officeDocument/2006/relationships/image" Target="../media/image54.jpeg"/><Relationship Id="rId12" Type="http://schemas.openxmlformats.org/officeDocument/2006/relationships/notesSlide" Target="../notesSlides/notesSlide2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02.svg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8.svg"/><Relationship Id="rId8" Type="http://schemas.openxmlformats.org/officeDocument/2006/relationships/image" Target="../media/image107.png"/><Relationship Id="rId7" Type="http://schemas.openxmlformats.org/officeDocument/2006/relationships/image" Target="../media/image106.svg"/><Relationship Id="rId6" Type="http://schemas.openxmlformats.org/officeDocument/2006/relationships/image" Target="../media/image105.png"/><Relationship Id="rId5" Type="http://schemas.openxmlformats.org/officeDocument/2006/relationships/image" Target="../media/image104.svg"/><Relationship Id="rId4" Type="http://schemas.openxmlformats.org/officeDocument/2006/relationships/image" Target="../media/image103.png"/><Relationship Id="rId3" Type="http://schemas.openxmlformats.org/officeDocument/2006/relationships/image" Target="../media/image14.svg"/><Relationship Id="rId2" Type="http://schemas.openxmlformats.org/officeDocument/2006/relationships/image" Target="../media/image55.png"/><Relationship Id="rId11" Type="http://schemas.openxmlformats.org/officeDocument/2006/relationships/notesSlide" Target="../notesSlides/notesSlide2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svg"/><Relationship Id="rId8" Type="http://schemas.openxmlformats.org/officeDocument/2006/relationships/image" Target="../media/image25.png"/><Relationship Id="rId7" Type="http://schemas.openxmlformats.org/officeDocument/2006/relationships/image" Target="../media/image111.svg"/><Relationship Id="rId6" Type="http://schemas.openxmlformats.org/officeDocument/2006/relationships/image" Target="../media/image110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109.svg"/><Relationship Id="rId2" Type="http://schemas.openxmlformats.org/officeDocument/2006/relationships/image" Target="../media/image21.png"/><Relationship Id="rId17" Type="http://schemas.openxmlformats.org/officeDocument/2006/relationships/notesSlide" Target="../notesSlides/notesSlide26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17.svg"/><Relationship Id="rId14" Type="http://schemas.openxmlformats.org/officeDocument/2006/relationships/image" Target="../media/image116.png"/><Relationship Id="rId13" Type="http://schemas.openxmlformats.org/officeDocument/2006/relationships/image" Target="../media/image115.jpeg"/><Relationship Id="rId12" Type="http://schemas.openxmlformats.org/officeDocument/2006/relationships/image" Target="../media/image114.jpeg"/><Relationship Id="rId11" Type="http://schemas.openxmlformats.org/officeDocument/2006/relationships/image" Target="../media/image113.svg"/><Relationship Id="rId10" Type="http://schemas.openxmlformats.org/officeDocument/2006/relationships/image" Target="../media/image112.png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3.svg"/><Relationship Id="rId6" Type="http://schemas.openxmlformats.org/officeDocument/2006/relationships/image" Target="../media/image122.png"/><Relationship Id="rId5" Type="http://schemas.openxmlformats.org/officeDocument/2006/relationships/image" Target="../media/image121.svg"/><Relationship Id="rId4" Type="http://schemas.openxmlformats.org/officeDocument/2006/relationships/image" Target="../media/image120.png"/><Relationship Id="rId3" Type="http://schemas.openxmlformats.org/officeDocument/2006/relationships/image" Target="../media/image119.svg"/><Relationship Id="rId2" Type="http://schemas.openxmlformats.org/officeDocument/2006/relationships/image" Target="../media/image118.png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6.svg"/><Relationship Id="rId6" Type="http://schemas.openxmlformats.org/officeDocument/2006/relationships/image" Target="../media/image125.png"/><Relationship Id="rId5" Type="http://schemas.openxmlformats.org/officeDocument/2006/relationships/image" Target="../media/image104.svg"/><Relationship Id="rId4" Type="http://schemas.openxmlformats.org/officeDocument/2006/relationships/image" Target="../media/image103.png"/><Relationship Id="rId3" Type="http://schemas.openxmlformats.org/officeDocument/2006/relationships/image" Target="../media/image33.svg"/><Relationship Id="rId2" Type="http://schemas.openxmlformats.org/officeDocument/2006/relationships/image" Target="../media/image124.png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30.svg"/><Relationship Id="rId6" Type="http://schemas.openxmlformats.org/officeDocument/2006/relationships/image" Target="../media/image129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128.svg"/><Relationship Id="rId2" Type="http://schemas.openxmlformats.org/officeDocument/2006/relationships/image" Target="../media/image127.png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92.svg"/><Relationship Id="rId3" Type="http://schemas.openxmlformats.org/officeDocument/2006/relationships/image" Target="../media/image25.png"/><Relationship Id="rId2" Type="http://schemas.openxmlformats.org/officeDocument/2006/relationships/image" Target="../media/image131.jpeg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5.svg"/><Relationship Id="rId4" Type="http://schemas.openxmlformats.org/officeDocument/2006/relationships/image" Target="../media/image134.png"/><Relationship Id="rId3" Type="http://schemas.openxmlformats.org/officeDocument/2006/relationships/image" Target="../media/image133.svg"/><Relationship Id="rId2" Type="http://schemas.openxmlformats.org/officeDocument/2006/relationships/image" Target="../media/image132.png"/><Relationship Id="rId1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svg"/><Relationship Id="rId8" Type="http://schemas.openxmlformats.org/officeDocument/2006/relationships/image" Target="../media/image120.png"/><Relationship Id="rId7" Type="http://schemas.openxmlformats.org/officeDocument/2006/relationships/image" Target="../media/image104.svg"/><Relationship Id="rId6" Type="http://schemas.openxmlformats.org/officeDocument/2006/relationships/image" Target="../media/image103.png"/><Relationship Id="rId5" Type="http://schemas.openxmlformats.org/officeDocument/2006/relationships/image" Target="../media/image123.svg"/><Relationship Id="rId4" Type="http://schemas.openxmlformats.org/officeDocument/2006/relationships/image" Target="../media/image122.png"/><Relationship Id="rId3" Type="http://schemas.openxmlformats.org/officeDocument/2006/relationships/image" Target="../media/image137.svg"/><Relationship Id="rId27" Type="http://schemas.openxmlformats.org/officeDocument/2006/relationships/notesSlide" Target="../notesSlides/notesSlide32.x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94.svg"/><Relationship Id="rId24" Type="http://schemas.openxmlformats.org/officeDocument/2006/relationships/image" Target="../media/image93.png"/><Relationship Id="rId23" Type="http://schemas.openxmlformats.org/officeDocument/2006/relationships/image" Target="../media/image144.svg"/><Relationship Id="rId22" Type="http://schemas.openxmlformats.org/officeDocument/2006/relationships/image" Target="../media/image143.png"/><Relationship Id="rId21" Type="http://schemas.openxmlformats.org/officeDocument/2006/relationships/image" Target="../media/image18.svg"/><Relationship Id="rId20" Type="http://schemas.openxmlformats.org/officeDocument/2006/relationships/image" Target="../media/image142.png"/><Relationship Id="rId2" Type="http://schemas.openxmlformats.org/officeDocument/2006/relationships/image" Target="../media/image136.png"/><Relationship Id="rId19" Type="http://schemas.openxmlformats.org/officeDocument/2006/relationships/image" Target="../media/image141.svg"/><Relationship Id="rId18" Type="http://schemas.openxmlformats.org/officeDocument/2006/relationships/image" Target="../media/image140.png"/><Relationship Id="rId17" Type="http://schemas.openxmlformats.org/officeDocument/2006/relationships/image" Target="../media/image130.svg"/><Relationship Id="rId16" Type="http://schemas.openxmlformats.org/officeDocument/2006/relationships/image" Target="../media/image129.png"/><Relationship Id="rId15" Type="http://schemas.openxmlformats.org/officeDocument/2006/relationships/image" Target="../media/image133.svg"/><Relationship Id="rId14" Type="http://schemas.openxmlformats.org/officeDocument/2006/relationships/image" Target="../media/image132.png"/><Relationship Id="rId13" Type="http://schemas.openxmlformats.org/officeDocument/2006/relationships/image" Target="../media/image126.svg"/><Relationship Id="rId12" Type="http://schemas.openxmlformats.org/officeDocument/2006/relationships/image" Target="../media/image125.png"/><Relationship Id="rId11" Type="http://schemas.openxmlformats.org/officeDocument/2006/relationships/image" Target="../media/image139.svg"/><Relationship Id="rId10" Type="http://schemas.openxmlformats.org/officeDocument/2006/relationships/image" Target="../media/image138.png"/><Relationship Id="rId1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46.jpeg"/><Relationship Id="rId2" Type="http://schemas.openxmlformats.org/officeDocument/2006/relationships/image" Target="../media/image145.jpeg"/><Relationship Id="rId1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50.svg"/><Relationship Id="rId4" Type="http://schemas.openxmlformats.org/officeDocument/2006/relationships/image" Target="../media/image149.png"/><Relationship Id="rId3" Type="http://schemas.openxmlformats.org/officeDocument/2006/relationships/image" Target="../media/image148.svg"/><Relationship Id="rId2" Type="http://schemas.openxmlformats.org/officeDocument/2006/relationships/image" Target="../media/image147.png"/><Relationship Id="rId1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5.svg"/><Relationship Id="rId4" Type="http://schemas.openxmlformats.org/officeDocument/2006/relationships/image" Target="../media/image134.png"/><Relationship Id="rId3" Type="http://schemas.openxmlformats.org/officeDocument/2006/relationships/image" Target="../media/image152.svg"/><Relationship Id="rId2" Type="http://schemas.openxmlformats.org/officeDocument/2006/relationships/image" Target="../media/image151.png"/><Relationship Id="rId1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8.svg"/><Relationship Id="rId8" Type="http://schemas.openxmlformats.org/officeDocument/2006/relationships/image" Target="../media/image157.png"/><Relationship Id="rId7" Type="http://schemas.openxmlformats.org/officeDocument/2006/relationships/image" Target="../media/image156.svg"/><Relationship Id="rId6" Type="http://schemas.openxmlformats.org/officeDocument/2006/relationships/image" Target="../media/image155.png"/><Relationship Id="rId5" Type="http://schemas.openxmlformats.org/officeDocument/2006/relationships/image" Target="../media/image154.svg"/><Relationship Id="rId4" Type="http://schemas.openxmlformats.org/officeDocument/2006/relationships/image" Target="../media/image153.png"/><Relationship Id="rId3" Type="http://schemas.openxmlformats.org/officeDocument/2006/relationships/image" Target="../media/image126.svg"/><Relationship Id="rId2" Type="http://schemas.openxmlformats.org/officeDocument/2006/relationships/image" Target="../media/image125.png"/><Relationship Id="rId13" Type="http://schemas.openxmlformats.org/officeDocument/2006/relationships/notesSlide" Target="../notesSlides/notesSlide36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8.svg"/><Relationship Id="rId10" Type="http://schemas.openxmlformats.org/officeDocument/2006/relationships/image" Target="../media/image142.png"/><Relationship Id="rId1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62.svg"/><Relationship Id="rId6" Type="http://schemas.openxmlformats.org/officeDocument/2006/relationships/image" Target="../media/image161.png"/><Relationship Id="rId5" Type="http://schemas.openxmlformats.org/officeDocument/2006/relationships/image" Target="../media/image160.svg"/><Relationship Id="rId4" Type="http://schemas.openxmlformats.org/officeDocument/2006/relationships/image" Target="../media/image159.png"/><Relationship Id="rId3" Type="http://schemas.openxmlformats.org/officeDocument/2006/relationships/image" Target="../media/image14.svg"/><Relationship Id="rId2" Type="http://schemas.openxmlformats.org/officeDocument/2006/relationships/image" Target="../media/image55.png"/><Relationship Id="rId1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2.svg"/><Relationship Id="rId6" Type="http://schemas.openxmlformats.org/officeDocument/2006/relationships/image" Target="../media/image25.png"/><Relationship Id="rId5" Type="http://schemas.openxmlformats.org/officeDocument/2006/relationships/image" Target="../media/image166.svg"/><Relationship Id="rId4" Type="http://schemas.openxmlformats.org/officeDocument/2006/relationships/image" Target="../media/image165.png"/><Relationship Id="rId3" Type="http://schemas.openxmlformats.org/officeDocument/2006/relationships/image" Target="../media/image164.svg"/><Relationship Id="rId2" Type="http://schemas.openxmlformats.org/officeDocument/2006/relationships/image" Target="../media/image163.png"/><Relationship Id="rId1" Type="http://schemas.openxmlformats.org/officeDocument/2006/relationships/image" Target="../media/image2.jpe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0.svg"/><Relationship Id="rId8" Type="http://schemas.openxmlformats.org/officeDocument/2006/relationships/image" Target="../media/image169.png"/><Relationship Id="rId7" Type="http://schemas.openxmlformats.org/officeDocument/2006/relationships/image" Target="../media/image10.svg"/><Relationship Id="rId6" Type="http://schemas.openxmlformats.org/officeDocument/2006/relationships/image" Target="../media/image59.png"/><Relationship Id="rId5" Type="http://schemas.openxmlformats.org/officeDocument/2006/relationships/image" Target="../media/image168.svg"/><Relationship Id="rId4" Type="http://schemas.openxmlformats.org/officeDocument/2006/relationships/image" Target="../media/image167.png"/><Relationship Id="rId3" Type="http://schemas.openxmlformats.org/officeDocument/2006/relationships/image" Target="../media/image98.svg"/><Relationship Id="rId2" Type="http://schemas.openxmlformats.org/officeDocument/2006/relationships/image" Target="../media/image97.png"/><Relationship Id="rId13" Type="http://schemas.openxmlformats.org/officeDocument/2006/relationships/notesSlide" Target="../notesSlides/notesSlide3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72.svg"/><Relationship Id="rId10" Type="http://schemas.openxmlformats.org/officeDocument/2006/relationships/image" Target="../media/image171.png"/><Relationship Id="rId1" Type="http://schemas.openxmlformats.org/officeDocument/2006/relationships/image" Target="../media/image2.jpe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73.jpeg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image" Target="../media/image168.svg"/><Relationship Id="rId3" Type="http://schemas.openxmlformats.org/officeDocument/2006/relationships/image" Target="../media/image167.png"/><Relationship Id="rId2" Type="http://schemas.openxmlformats.org/officeDocument/2006/relationships/image" Target="../media/image28.jpeg"/><Relationship Id="rId1" Type="http://schemas.openxmlformats.org/officeDocument/2006/relationships/image" Target="../media/image2.jpeg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5.svg"/><Relationship Id="rId4" Type="http://schemas.openxmlformats.org/officeDocument/2006/relationships/image" Target="../media/image134.png"/><Relationship Id="rId3" Type="http://schemas.openxmlformats.org/officeDocument/2006/relationships/image" Target="../media/image175.jpeg"/><Relationship Id="rId2" Type="http://schemas.openxmlformats.org/officeDocument/2006/relationships/image" Target="../media/image174.jpeg"/><Relationship Id="rId1" Type="http://schemas.openxmlformats.org/officeDocument/2006/relationships/image" Target="../media/image2.jpe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76.png"/><Relationship Id="rId1" Type="http://schemas.openxmlformats.org/officeDocument/2006/relationships/image" Target="../media/image2.jpe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image" Target="../media/image178.svg"/><Relationship Id="rId4" Type="http://schemas.openxmlformats.org/officeDocument/2006/relationships/image" Target="../media/image177.png"/><Relationship Id="rId3" Type="http://schemas.openxmlformats.org/officeDocument/2006/relationships/tags" Target="../tags/tag67.xml"/><Relationship Id="rId24" Type="http://schemas.openxmlformats.org/officeDocument/2006/relationships/notesSlide" Target="../notesSlides/notesSlide43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80.xml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tags" Target="../tags/tag66.xml"/><Relationship Id="rId19" Type="http://schemas.openxmlformats.org/officeDocument/2006/relationships/image" Target="../media/image182.svg"/><Relationship Id="rId18" Type="http://schemas.openxmlformats.org/officeDocument/2006/relationships/image" Target="../media/image181.png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image" Target="../media/image180.svg"/><Relationship Id="rId11" Type="http://schemas.openxmlformats.org/officeDocument/2006/relationships/image" Target="../media/image179.png"/><Relationship Id="rId10" Type="http://schemas.openxmlformats.org/officeDocument/2006/relationships/tags" Target="../tags/tag72.xml"/><Relationship Id="rId1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64.svg"/><Relationship Id="rId6" Type="http://schemas.openxmlformats.org/officeDocument/2006/relationships/image" Target="../media/image163.png"/><Relationship Id="rId5" Type="http://schemas.openxmlformats.org/officeDocument/2006/relationships/image" Target="../media/image109.svg"/><Relationship Id="rId4" Type="http://schemas.openxmlformats.org/officeDocument/2006/relationships/image" Target="../media/image21.png"/><Relationship Id="rId3" Type="http://schemas.openxmlformats.org/officeDocument/2006/relationships/image" Target="../media/image175.jpeg"/><Relationship Id="rId2" Type="http://schemas.openxmlformats.org/officeDocument/2006/relationships/image" Target="../media/image183.jpeg"/><Relationship Id="rId1" Type="http://schemas.openxmlformats.org/officeDocument/2006/relationships/image" Target="../media/image2.jpe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7.svg"/><Relationship Id="rId8" Type="http://schemas.openxmlformats.org/officeDocument/2006/relationships/image" Target="../media/image186.png"/><Relationship Id="rId7" Type="http://schemas.openxmlformats.org/officeDocument/2006/relationships/image" Target="../media/image185.svg"/><Relationship Id="rId6" Type="http://schemas.openxmlformats.org/officeDocument/2006/relationships/image" Target="../media/image184.png"/><Relationship Id="rId5" Type="http://schemas.openxmlformats.org/officeDocument/2006/relationships/image" Target="../media/image137.svg"/><Relationship Id="rId4" Type="http://schemas.openxmlformats.org/officeDocument/2006/relationships/image" Target="../media/image136.png"/><Relationship Id="rId3" Type="http://schemas.openxmlformats.org/officeDocument/2006/relationships/image" Target="../media/image168.svg"/><Relationship Id="rId2" Type="http://schemas.openxmlformats.org/officeDocument/2006/relationships/image" Target="../media/image167.png"/><Relationship Id="rId13" Type="http://schemas.openxmlformats.org/officeDocument/2006/relationships/notesSlide" Target="../notesSlides/notesSlide4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89.svg"/><Relationship Id="rId10" Type="http://schemas.openxmlformats.org/officeDocument/2006/relationships/image" Target="../media/image188.png"/><Relationship Id="rId1" Type="http://schemas.openxmlformats.org/officeDocument/2006/relationships/image" Target="../media/image2.jpe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0.svg"/><Relationship Id="rId6" Type="http://schemas.openxmlformats.org/officeDocument/2006/relationships/image" Target="../media/image190.png"/><Relationship Id="rId5" Type="http://schemas.openxmlformats.org/officeDocument/2006/relationships/image" Target="../media/image121.svg"/><Relationship Id="rId4" Type="http://schemas.openxmlformats.org/officeDocument/2006/relationships/image" Target="../media/image120.png"/><Relationship Id="rId3" Type="http://schemas.openxmlformats.org/officeDocument/2006/relationships/image" Target="../media/image10.svg"/><Relationship Id="rId2" Type="http://schemas.openxmlformats.org/officeDocument/2006/relationships/image" Target="../media/image59.png"/><Relationship Id="rId1" Type="http://schemas.openxmlformats.org/officeDocument/2006/relationships/image" Target="../media/image2.jpe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4.svg"/><Relationship Id="rId8" Type="http://schemas.openxmlformats.org/officeDocument/2006/relationships/image" Target="../media/image193.png"/><Relationship Id="rId7" Type="http://schemas.openxmlformats.org/officeDocument/2006/relationships/image" Target="../media/image130.svg"/><Relationship Id="rId6" Type="http://schemas.openxmlformats.org/officeDocument/2006/relationships/image" Target="../media/image129.png"/><Relationship Id="rId5" Type="http://schemas.openxmlformats.org/officeDocument/2006/relationships/image" Target="../media/image192.svg"/><Relationship Id="rId4" Type="http://schemas.openxmlformats.org/officeDocument/2006/relationships/image" Target="../media/image191.png"/><Relationship Id="rId3" Type="http://schemas.openxmlformats.org/officeDocument/2006/relationships/image" Target="../media/image170.svg"/><Relationship Id="rId2" Type="http://schemas.openxmlformats.org/officeDocument/2006/relationships/image" Target="../media/image169.png"/><Relationship Id="rId11" Type="http://schemas.openxmlformats.org/officeDocument/2006/relationships/notesSlide" Target="../notesSlides/notesSlide4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8.xml"/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197.jpeg"/><Relationship Id="rId3" Type="http://schemas.openxmlformats.org/officeDocument/2006/relationships/image" Target="../media/image196.jpeg"/><Relationship Id="rId2" Type="http://schemas.openxmlformats.org/officeDocument/2006/relationships/image" Target="../media/image195.jpeg"/><Relationship Id="rId1" Type="http://schemas.openxmlformats.org/officeDocument/2006/relationships/image" Target="../media/image2.jpe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01.svg"/><Relationship Id="rId6" Type="http://schemas.openxmlformats.org/officeDocument/2006/relationships/image" Target="../media/image200.png"/><Relationship Id="rId5" Type="http://schemas.openxmlformats.org/officeDocument/2006/relationships/image" Target="../media/image119.svg"/><Relationship Id="rId4" Type="http://schemas.openxmlformats.org/officeDocument/2006/relationships/image" Target="../media/image118.png"/><Relationship Id="rId3" Type="http://schemas.openxmlformats.org/officeDocument/2006/relationships/image" Target="../media/image199.svg"/><Relationship Id="rId2" Type="http://schemas.openxmlformats.org/officeDocument/2006/relationships/image" Target="../media/image198.png"/><Relationship Id="rId1" Type="http://schemas.openxmlformats.org/officeDocument/2006/relationships/image" Target="../media/image2.jpeg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0.xml"/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202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2.jpeg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image" Target="../media/image39.svg"/><Relationship Id="rId4" Type="http://schemas.openxmlformats.org/officeDocument/2006/relationships/image" Target="../media/image203.png"/><Relationship Id="rId3" Type="http://schemas.openxmlformats.org/officeDocument/2006/relationships/tags" Target="../tags/tag82.xml"/><Relationship Id="rId24" Type="http://schemas.openxmlformats.org/officeDocument/2006/relationships/notesSlide" Target="../notesSlides/notesSlide51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95.xml"/><Relationship Id="rId21" Type="http://schemas.openxmlformats.org/officeDocument/2006/relationships/tags" Target="../tags/tag94.xml"/><Relationship Id="rId20" Type="http://schemas.openxmlformats.org/officeDocument/2006/relationships/tags" Target="../tags/tag93.xml"/><Relationship Id="rId2" Type="http://schemas.openxmlformats.org/officeDocument/2006/relationships/tags" Target="../tags/tag81.xml"/><Relationship Id="rId19" Type="http://schemas.openxmlformats.org/officeDocument/2006/relationships/image" Target="../media/image156.svg"/><Relationship Id="rId18" Type="http://schemas.openxmlformats.org/officeDocument/2006/relationships/image" Target="../media/image155.png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image" Target="../media/image126.svg"/><Relationship Id="rId11" Type="http://schemas.openxmlformats.org/officeDocument/2006/relationships/image" Target="../media/image125.png"/><Relationship Id="rId10" Type="http://schemas.openxmlformats.org/officeDocument/2006/relationships/tags" Target="../tags/tag87.xml"/><Relationship Id="rId1" Type="http://schemas.openxmlformats.org/officeDocument/2006/relationships/image" Target="../media/image2.jpe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1.svg"/><Relationship Id="rId8" Type="http://schemas.openxmlformats.org/officeDocument/2006/relationships/image" Target="../media/image210.png"/><Relationship Id="rId7" Type="http://schemas.openxmlformats.org/officeDocument/2006/relationships/image" Target="../media/image209.svg"/><Relationship Id="rId6" Type="http://schemas.openxmlformats.org/officeDocument/2006/relationships/image" Target="../media/image208.png"/><Relationship Id="rId5" Type="http://schemas.openxmlformats.org/officeDocument/2006/relationships/image" Target="../media/image207.svg"/><Relationship Id="rId4" Type="http://schemas.openxmlformats.org/officeDocument/2006/relationships/image" Target="../media/image206.png"/><Relationship Id="rId3" Type="http://schemas.openxmlformats.org/officeDocument/2006/relationships/image" Target="../media/image205.svg"/><Relationship Id="rId2" Type="http://schemas.openxmlformats.org/officeDocument/2006/relationships/image" Target="../media/image204.png"/><Relationship Id="rId13" Type="http://schemas.openxmlformats.org/officeDocument/2006/relationships/notesSlide" Target="../notesSlides/notesSlide5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13.svg"/><Relationship Id="rId10" Type="http://schemas.openxmlformats.org/officeDocument/2006/relationships/image" Target="../media/image212.png"/><Relationship Id="rId1" Type="http://schemas.openxmlformats.org/officeDocument/2006/relationships/image" Target="../media/image2.jpe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2.svg"/><Relationship Id="rId8" Type="http://schemas.openxmlformats.org/officeDocument/2006/relationships/image" Target="../media/image171.png"/><Relationship Id="rId7" Type="http://schemas.openxmlformats.org/officeDocument/2006/relationships/image" Target="../media/image215.svg"/><Relationship Id="rId6" Type="http://schemas.openxmlformats.org/officeDocument/2006/relationships/image" Target="../media/image214.png"/><Relationship Id="rId5" Type="http://schemas.openxmlformats.org/officeDocument/2006/relationships/image" Target="../media/image82.svg"/><Relationship Id="rId4" Type="http://schemas.openxmlformats.org/officeDocument/2006/relationships/image" Target="../media/image81.png"/><Relationship Id="rId3" Type="http://schemas.openxmlformats.org/officeDocument/2006/relationships/image" Target="../media/image86.svg"/><Relationship Id="rId2" Type="http://schemas.openxmlformats.org/officeDocument/2006/relationships/image" Target="../media/image85.png"/><Relationship Id="rId13" Type="http://schemas.openxmlformats.org/officeDocument/2006/relationships/notesSlide" Target="../notesSlides/notesSlide5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1.svg"/><Relationship Id="rId10" Type="http://schemas.openxmlformats.org/officeDocument/2006/relationships/image" Target="../media/image60.png"/><Relationship Id="rId1" Type="http://schemas.openxmlformats.org/officeDocument/2006/relationships/image" Target="../media/image2.jpeg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9.svg"/><Relationship Id="rId8" Type="http://schemas.openxmlformats.org/officeDocument/2006/relationships/image" Target="../media/image218.png"/><Relationship Id="rId7" Type="http://schemas.openxmlformats.org/officeDocument/2006/relationships/image" Target="../media/image91.svg"/><Relationship Id="rId6" Type="http://schemas.openxmlformats.org/officeDocument/2006/relationships/image" Target="../media/image90.png"/><Relationship Id="rId5" Type="http://schemas.openxmlformats.org/officeDocument/2006/relationships/image" Target="../media/image217.svg"/><Relationship Id="rId4" Type="http://schemas.openxmlformats.org/officeDocument/2006/relationships/image" Target="../media/image216.png"/><Relationship Id="rId3" Type="http://schemas.openxmlformats.org/officeDocument/2006/relationships/image" Target="../media/image10.svg"/><Relationship Id="rId2" Type="http://schemas.openxmlformats.org/officeDocument/2006/relationships/image" Target="../media/image59.png"/><Relationship Id="rId13" Type="http://schemas.openxmlformats.org/officeDocument/2006/relationships/notesSlide" Target="../notesSlides/notesSlide5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.svg"/><Relationship Id="rId10" Type="http://schemas.openxmlformats.org/officeDocument/2006/relationships/image" Target="../media/image220.png"/><Relationship Id="rId1" Type="http://schemas.openxmlformats.org/officeDocument/2006/relationships/image" Target="../media/image2.jpeg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image" Target="../media/image222.svg"/><Relationship Id="rId4" Type="http://schemas.openxmlformats.org/officeDocument/2006/relationships/image" Target="../media/image221.png"/><Relationship Id="rId30" Type="http://schemas.openxmlformats.org/officeDocument/2006/relationships/notesSlide" Target="../notesSlides/notesSlide55.xml"/><Relationship Id="rId3" Type="http://schemas.openxmlformats.org/officeDocument/2006/relationships/tags" Target="../tags/tag97.xml"/><Relationship Id="rId29" Type="http://schemas.openxmlformats.org/officeDocument/2006/relationships/slideLayout" Target="../slideLayouts/slideLayout12.xml"/><Relationship Id="rId28" Type="http://schemas.openxmlformats.org/officeDocument/2006/relationships/tags" Target="../tags/tag116.xml"/><Relationship Id="rId27" Type="http://schemas.openxmlformats.org/officeDocument/2006/relationships/tags" Target="../tags/tag115.xml"/><Relationship Id="rId26" Type="http://schemas.openxmlformats.org/officeDocument/2006/relationships/tags" Target="../tags/tag114.xml"/><Relationship Id="rId25" Type="http://schemas.openxmlformats.org/officeDocument/2006/relationships/tags" Target="../tags/tag113.xml"/><Relationship Id="rId24" Type="http://schemas.openxmlformats.org/officeDocument/2006/relationships/tags" Target="../tags/tag112.xml"/><Relationship Id="rId23" Type="http://schemas.openxmlformats.org/officeDocument/2006/relationships/image" Target="../media/image126.svg"/><Relationship Id="rId22" Type="http://schemas.openxmlformats.org/officeDocument/2006/relationships/image" Target="../media/image125.png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6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image" Target="../media/image98.svg"/><Relationship Id="rId13" Type="http://schemas.openxmlformats.org/officeDocument/2006/relationships/image" Target="../media/image97.png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image" Target="../media/image2.jpeg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4.svg"/><Relationship Id="rId8" Type="http://schemas.openxmlformats.org/officeDocument/2006/relationships/image" Target="../media/image223.png"/><Relationship Id="rId7" Type="http://schemas.openxmlformats.org/officeDocument/2006/relationships/image" Target="../media/image119.svg"/><Relationship Id="rId6" Type="http://schemas.openxmlformats.org/officeDocument/2006/relationships/image" Target="../media/image118.png"/><Relationship Id="rId5" Type="http://schemas.openxmlformats.org/officeDocument/2006/relationships/image" Target="../media/image33.svg"/><Relationship Id="rId4" Type="http://schemas.openxmlformats.org/officeDocument/2006/relationships/image" Target="../media/image124.png"/><Relationship Id="rId3" Type="http://schemas.openxmlformats.org/officeDocument/2006/relationships/image" Target="../media/image178.svg"/><Relationship Id="rId2" Type="http://schemas.openxmlformats.org/officeDocument/2006/relationships/image" Target="../media/image177.png"/><Relationship Id="rId11" Type="http://schemas.openxmlformats.org/officeDocument/2006/relationships/notesSlide" Target="../notesSlides/notesSlide5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6.svg"/><Relationship Id="rId8" Type="http://schemas.openxmlformats.org/officeDocument/2006/relationships/image" Target="../media/image225.png"/><Relationship Id="rId7" Type="http://schemas.openxmlformats.org/officeDocument/2006/relationships/image" Target="../media/image20.svg"/><Relationship Id="rId6" Type="http://schemas.openxmlformats.org/officeDocument/2006/relationships/image" Target="../media/image190.png"/><Relationship Id="rId5" Type="http://schemas.openxmlformats.org/officeDocument/2006/relationships/image" Target="../media/image170.svg"/><Relationship Id="rId4" Type="http://schemas.openxmlformats.org/officeDocument/2006/relationships/image" Target="../media/image169.png"/><Relationship Id="rId3" Type="http://schemas.openxmlformats.org/officeDocument/2006/relationships/image" Target="../media/image178.svg"/><Relationship Id="rId2" Type="http://schemas.openxmlformats.org/officeDocument/2006/relationships/image" Target="../media/image177.png"/><Relationship Id="rId11" Type="http://schemas.openxmlformats.org/officeDocument/2006/relationships/notesSlide" Target="../notesSlides/notesSlide5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8.png"/><Relationship Id="rId1" Type="http://schemas.openxmlformats.org/officeDocument/2006/relationships/image" Target="../media/image2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AI时代能力培养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27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spc="40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从入门到精通的AI通识课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53975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778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洞察前沿技术 · 重塑思维模式 · 构建核心竞争力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19304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课程导入与AI初识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探讨AI的定义，辨析专用与通用人工智能的本质差异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11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30734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AI发展简史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回顾七十年“冰与火之歌”，从图灵测试到Transformer时代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4254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42164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 现象级爆火解析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拆解引爆全球的“完美风暴”，解读背后的五大核心原因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5397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53594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大模型核心能力全景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深度解析多模态交互、内容生成等核心能力与应用场景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7780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1968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19304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人机协作：AI的角色定位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辨析“任务替代”与“职业替代”，重塑人机协作新范式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29210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540500" y="311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366000" y="30734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主流AI工具生态巡礼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横向对比国内外主流模型与工具，洞察技术生态差异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0640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40500" y="4254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366000" y="42164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实战演练：AI工具初体验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手把手完成账号注册与基础功能实操，快速上手应用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52070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540500" y="5397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66000" y="53594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课程总结与课后任务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回顾核心知识点，布置实战作业以巩固学习成果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课程导入与AI初识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提到AI，你的脑海中会浮现什么画面？是科幻电影里的机器人，还是手机里的语音助手？让我们从这些不同的侧面，开启对人工智能的探索之旅。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6035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科幻想象型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215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机器人、终结者、大白……充满未来感的影视形象，是大众对AI最直观的视觉认知。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2413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2603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38600" y="26035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工具应用型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57600" y="3048000"/>
            <a:ext cx="215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ChatGPT、Siri、人脸识别……这些是我们每天都在使用的、触手可及的AI服务。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2413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2700" y="260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43700" y="26035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担忧与挑战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62700" y="3048000"/>
            <a:ext cx="215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关于失业、隐私泄露、技术失控的深层顾虑，是技术发展中必须面对的伦理命题。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77300" y="2413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67800" y="2603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448800" y="26035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硬核技术派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67800" y="3048000"/>
            <a:ext cx="215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机器学习、深度学习、算法模型……这是驱动AI智能进化的底层逻辑与核心引擎。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rcRect l="4545" r="4545"/>
          <a:stretch>
            <a:fillRect/>
          </a:stretch>
        </p:blipFill>
        <p:spPr>
          <a:xfrm>
            <a:off x="762000" y="4318000"/>
            <a:ext cx="2667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solidFill>
              <a:srgbClr val="FFFFFF">
                <a:alpha val="70000"/>
              </a:srgbClr>
            </a:solidFill>
            <a:prstDash val="solid"/>
            <a:round/>
          </a:ln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rcRect l="5375" r="5375"/>
          <a:stretch>
            <a:fillRect/>
          </a:stretch>
        </p:blipFill>
        <p:spPr>
          <a:xfrm>
            <a:off x="3619500" y="4318000"/>
            <a:ext cx="2667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solidFill>
              <a:srgbClr val="FFFFFF">
                <a:alpha val="70000"/>
              </a:srgbClr>
            </a:solidFill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6540500" y="4318000"/>
            <a:ext cx="51435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731000" y="4470400"/>
            <a:ext cx="482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AI的本质：增强人类智能的“超级工具”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它不仅是机器人或应用，更是一套能够模拟、延伸和扩展人类智能的技术体系。如同从自行车到飞机的交通工具演变，AI的核心使命是帮助人类高效处理复杂的智力任务，释放创造力，而非简单的替代。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课程导入与AI初识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2"/>
            </p:custDataLst>
          </p:nvPr>
        </p:nvSpPr>
        <p:spPr>
          <a:xfrm>
            <a:off x="1016000" y="1473200"/>
            <a:ext cx="10282555" cy="4891405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17272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1778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/>
              <a:t>对</a:t>
            </a:r>
            <a:r>
              <a:rPr lang="en-US" altLang="zh-CN" sz="2000"/>
              <a:t>AI</a:t>
            </a:r>
            <a:r>
              <a:rPr lang="zh-CN" altLang="en-US" sz="2000"/>
              <a:t>的疑问</a:t>
            </a:r>
            <a:endParaRPr lang="zh-CN" altLang="en-US" sz="2000"/>
          </a:p>
        </p:txBody>
      </p:sp>
      <p:cxnSp>
        <p:nvCxnSpPr>
          <p:cNvPr id="14" name="Connector 14"/>
          <p:cNvCxnSpPr/>
          <p:nvPr>
            <p:custDataLst>
              <p:tags r:id="rId7"/>
            </p:custDataLst>
          </p:nvPr>
        </p:nvCxnSpPr>
        <p:spPr>
          <a:xfrm rot="21585054">
            <a:off x="1270000" y="22923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Title 6"/>
          <p:cNvSpPr txBox="1"/>
          <p:nvPr>
            <p:custDataLst>
              <p:tags r:id="rId8"/>
            </p:custDataLst>
          </p:nvPr>
        </p:nvSpPr>
        <p:spPr>
          <a:xfrm>
            <a:off x="1308100" y="2121535"/>
            <a:ext cx="8776970" cy="411035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2" panose="05020102010507070707" charset="0"/>
              <a:buChar char=""/>
            </a:pPr>
            <a:r>
              <a:rPr lang="zh-CN" altLang="en-US" sz="1600" kern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AI是什么？</a:t>
            </a:r>
            <a:endParaRPr lang="zh-CN" altLang="en-US" sz="1600" kern="1200" spc="16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2" panose="05020102010507070707" charset="0"/>
              <a:buChar char=""/>
            </a:pPr>
            <a:r>
              <a:rPr lang="zh-CN" altLang="en-US" sz="1600" b="1" kern="1200" spc="16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现在学</a:t>
            </a:r>
            <a:r>
              <a:rPr lang="en-US" altLang="zh-CN" sz="1600" b="1" kern="1200" spc="16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AI</a:t>
            </a:r>
            <a:r>
              <a:rPr lang="zh-CN" altLang="en-US" sz="1600" b="1" kern="1200" spc="16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有什么用？现在是否又是一个风口？</a:t>
            </a:r>
            <a:endParaRPr lang="zh-CN" altLang="en-US" sz="1600" b="1" kern="1200" spc="160" dirty="0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2" panose="05020102010507070707" charset="0"/>
              <a:buChar char=""/>
            </a:pPr>
            <a:r>
              <a:rPr lang="zh-CN" altLang="en-US" sz="1600" kern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AI发展到什么程度了？</a:t>
            </a:r>
            <a:endParaRPr lang="zh-CN" altLang="en-US" sz="1600" kern="1200" spc="16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2" panose="05020102010507070707" charset="0"/>
              <a:buChar char=""/>
            </a:pPr>
            <a:r>
              <a:rPr lang="zh-CN" altLang="en-US" sz="1600" b="1" kern="1200" spc="16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AI会取代人类吗？</a:t>
            </a:r>
            <a:endParaRPr lang="zh-CN" altLang="en-US" sz="1600" b="1" kern="1200" spc="160" dirty="0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2" panose="05020102010507070707" charset="0"/>
              <a:buChar char=""/>
            </a:pPr>
            <a:r>
              <a:rPr lang="zh-CN" altLang="en-US" sz="1600" kern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AI的发展脉络与技术</a:t>
            </a:r>
            <a:r>
              <a:rPr lang="zh-CN" altLang="en-US" sz="1600" kern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全景是怎样的？</a:t>
            </a:r>
            <a:endParaRPr lang="zh-CN" altLang="en-US" sz="1600" kern="1200" spc="16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2" panose="05020102010507070707" charset="0"/>
              <a:buChar char=""/>
            </a:pPr>
            <a:r>
              <a:rPr lang="zh-CN" altLang="en-US" sz="1600" b="1" kern="1200" spc="16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大模型时代</a:t>
            </a:r>
            <a:r>
              <a:rPr lang="en-US" altLang="zh-CN" sz="1600" b="1" kern="1200" spc="16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AI</a:t>
            </a:r>
            <a:r>
              <a:rPr lang="zh-CN" altLang="en-US" sz="1600" b="1" kern="1200" spc="16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如何学习？好学</a:t>
            </a:r>
            <a:r>
              <a:rPr lang="zh-CN" altLang="en-US" sz="1600" b="1" kern="1200" spc="16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吗？</a:t>
            </a:r>
            <a:endParaRPr lang="zh-CN" altLang="en-US" sz="1600" b="1" kern="1200" spc="160" dirty="0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2" panose="05020102010507070707" charset="0"/>
              <a:buChar char=""/>
            </a:pPr>
            <a:r>
              <a:rPr lang="zh-CN" altLang="en-US" sz="1600" kern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AI技术的原理是什么？</a:t>
            </a:r>
            <a:endParaRPr lang="zh-CN" altLang="en-US" sz="1600" kern="1200" spc="16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2" panose="05020102010507070707" charset="0"/>
              <a:buChar char=""/>
            </a:pPr>
            <a:r>
              <a:rPr lang="zh-CN" altLang="en-US" sz="1600" kern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AI如何提高效率？</a:t>
            </a:r>
            <a:endParaRPr lang="zh-CN" altLang="en-US" sz="1600" kern="1200" spc="16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355600" lvl="0" indent="-355600" algn="l" defTabSz="914400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Wingdings 2" panose="05020102010507070707" charset="0"/>
              <a:buChar char=""/>
            </a:pPr>
            <a:r>
              <a:rPr lang="zh-CN" altLang="en-US" sz="1600" kern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如何使用当前的前沿技术搭建属于自己的AI</a:t>
            </a:r>
            <a:r>
              <a:rPr lang="zh-CN" altLang="en-US" sz="1600" kern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应用？</a:t>
            </a:r>
            <a:endParaRPr lang="zh-CN" altLang="en-US" sz="1600" kern="1200" spc="16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课程导入与AI初识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 (AI) 是赋予计算机像人类一样具备</a:t>
            </a: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感知、思考、学习、决策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能力的技术。它不是简单的程序指令，而是让机器拥有自主的认知、推理与进化能力，模拟甚至延伸人类的智能边界。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2540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819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95400" y="28194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感知能力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3238500"/>
            <a:ext cx="223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如同人类的五官，让机器看懂图像、听懂语音、读懂文字与理解环境。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67100" y="2667000"/>
            <a:ext cx="2540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2819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000500" y="28194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逻辑思考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3238500"/>
            <a:ext cx="223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对输入的信息进行分析、推理与归纳，建立复杂的逻辑链条与判断依据。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2667000"/>
            <a:ext cx="2540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4600" y="2819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05600" y="28194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自主学习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24600" y="3238500"/>
            <a:ext cx="223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从海量数据与历史经验中汲取养分，不断优化模型，实现自我迭代与进步。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77300" y="2667000"/>
            <a:ext cx="2540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29700" y="2819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410700" y="28194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智能决策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29700" y="3238500"/>
            <a:ext cx="223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基于分析结果权衡利弊，自主做出最优选择，甚至预测未来趋势。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核心类比：像教孩子认识“猫”一样训练AI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4699000"/>
            <a:ext cx="25400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89000" y="48006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海量数据投喂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给AI看成千上万张不同角度、品种的猫图，就像给孩子看画册。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3467100" y="4699000"/>
            <a:ext cx="25400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3594100" y="48006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明确标签指引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告诉AI“这是猫”，建立正确的认知标准，如同家长的语言引导。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172200" y="4699000"/>
            <a:ext cx="25400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299200" y="48006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自动寻找规律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AI自动总结共性：尖耳朵、胡须、猫须等特征，形成内在模型。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877300" y="4699000"/>
            <a:ext cx="25400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004300" y="48006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实现举一反三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遇到从未见过的新品种猫也能认出，具备了知识的泛化能力。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课程导入与AI初识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4508500" y="1474470"/>
            <a:ext cx="3429000" cy="3377565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172847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5270500" y="175387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</a:t>
            </a: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AI (AGI)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21585054">
            <a:off x="4762500" y="229362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762500" y="242697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模拟人类智能行为的技术总称，旨在让机器具备像人一样的思考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计划、解决问题、抽象思维、理解复杂理念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、学习与解决问题的能力，是一个涵盖性极强的宽泛概念。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762500" y="3709670"/>
            <a:ext cx="2921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889500" y="383667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教学比喻：</a:t>
            </a:r>
            <a:r>
              <a:rPr 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如同</a:t>
            </a:r>
            <a:r>
              <a:rPr lang="zh-CN" alt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一个流水线</a:t>
            </a:r>
            <a:r>
              <a:rPr 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包含大量功能，完成复杂任务</a:t>
            </a:r>
            <a:r>
              <a:rPr 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，包含了各式各样的具体应用。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1016000" y="1473200"/>
            <a:ext cx="3429000" cy="3378835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70000" y="17272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1778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专用</a:t>
            </a: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AI (</a:t>
            </a: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ANI)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5"/>
            </p:custDataLst>
          </p:nvPr>
        </p:nvCxnSpPr>
        <p:spPr>
          <a:xfrm rot="21585054">
            <a:off x="1270000" y="22923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1270000" y="24257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专注解决特定领域问题的智能系统，仅在单一任务上表现出智能，是目前我们日常接触到的所有AI应用的主流形态。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1270000" y="3708400"/>
            <a:ext cx="2921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397000" y="38354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教学比喻：</a:t>
            </a:r>
            <a:r>
              <a:rPr 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好比</a:t>
            </a:r>
            <a:r>
              <a:rPr lang="zh-CN" alt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流水线的一位工人</a:t>
            </a:r>
            <a:r>
              <a:rPr 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，只能在特定场景下</a:t>
            </a:r>
            <a:r>
              <a:rPr lang="zh-CN" alt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发挥作用，完成特定任务</a:t>
            </a:r>
            <a:r>
              <a:rPr 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，而非全能。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8001000" y="1499870"/>
            <a:ext cx="3429000" cy="335153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55000" y="175387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8763000" y="177927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超人工智能</a:t>
            </a: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</a:t>
            </a: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ASI)</a:t>
            </a:r>
            <a:endParaRPr lang="en-US" sz="1100"/>
          </a:p>
        </p:txBody>
      </p:sp>
      <p:cxnSp>
        <p:nvCxnSpPr>
          <p:cNvPr id="21" name="Connector 21"/>
          <p:cNvCxnSpPr/>
          <p:nvPr>
            <p:custDataLst>
              <p:tags r:id="rId23"/>
            </p:custDataLst>
          </p:nvPr>
        </p:nvCxnSpPr>
        <p:spPr>
          <a:xfrm rot="21585054">
            <a:off x="8255000" y="231902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8255000" y="245237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具备与人类同等水平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甚至超越水平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的认知与学习能力，能理解、学习并应用知识于任意领域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，能进行科学探索、演算推理能力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，目前仅存在于理论设想与科幻作品之中。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5"/>
            </p:custDataLst>
          </p:nvPr>
        </p:nvSpPr>
        <p:spPr>
          <a:xfrm>
            <a:off x="8255000" y="3735070"/>
            <a:ext cx="2921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382000" y="386207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教学比喻：</a:t>
            </a:r>
            <a:r>
              <a:rPr lang="zh-CN" altLang="en-US" sz="130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一个公司</a:t>
            </a:r>
            <a:r>
              <a:rPr lang="en-US" altLang="zh-CN" sz="130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zh-CN" altLang="en-US" sz="130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你有想法，我来实现</a:t>
            </a:r>
            <a:r>
              <a:rPr lang="en-US" altLang="zh-CN" sz="130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，拥有跨领域的全能智慧。</a:t>
            </a:r>
            <a:endParaRPr lang="en-US" sz="1100"/>
          </a:p>
        </p:txBody>
      </p:sp>
      <p:pic>
        <p:nvPicPr>
          <p:cNvPr id="28" name="图片 27"/>
          <p:cNvPicPr/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1114425" y="5008880"/>
            <a:ext cx="3175000" cy="177292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28"/>
            </p:custDataLst>
          </p:nvPr>
        </p:nvSpPr>
        <p:spPr>
          <a:xfrm>
            <a:off x="2359025" y="4724400"/>
            <a:ext cx="1085850" cy="326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2017</a:t>
            </a:r>
            <a:r>
              <a:rPr lang="zh-CN" altLang="en-US"/>
              <a:t>年</a:t>
            </a:r>
            <a:r>
              <a:rPr lang="en-US" altLang="zh-CN"/>
              <a:t>5</a:t>
            </a:r>
            <a:r>
              <a:rPr lang="zh-CN" altLang="en-US"/>
              <a:t>月</a:t>
            </a:r>
            <a:endParaRPr lang="zh-CN" altLang="en-US"/>
          </a:p>
        </p:txBody>
      </p:sp>
      <p:pic>
        <p:nvPicPr>
          <p:cNvPr id="30" name="Picture 10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rcRect t="172" b="172"/>
          <a:stretch>
            <a:fillRect/>
          </a:stretch>
        </p:blipFill>
        <p:spPr>
          <a:xfrm>
            <a:off x="4762500" y="5050790"/>
            <a:ext cx="3048000" cy="167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1" name="文本框 30"/>
          <p:cNvSpPr txBox="1"/>
          <p:nvPr>
            <p:custDataLst>
              <p:tags r:id="rId31"/>
            </p:custDataLst>
          </p:nvPr>
        </p:nvSpPr>
        <p:spPr>
          <a:xfrm>
            <a:off x="5260975" y="4794250"/>
            <a:ext cx="1543050" cy="326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2022</a:t>
            </a:r>
            <a:r>
              <a:rPr lang="zh-CN" altLang="en-US"/>
              <a:t>年</a:t>
            </a:r>
            <a:r>
              <a:rPr lang="en-US" altLang="zh-CN"/>
              <a:t>11</a:t>
            </a:r>
            <a:r>
              <a:rPr lang="zh-CN" altLang="en-US"/>
              <a:t>月</a:t>
            </a:r>
            <a:r>
              <a:rPr lang="en-US" altLang="zh-CN"/>
              <a:t>30</a:t>
            </a:r>
            <a:r>
              <a:rPr lang="zh-CN" altLang="en-US"/>
              <a:t>日</a:t>
            </a:r>
            <a:endParaRPr lang="zh-CN" altLang="en-US"/>
          </a:p>
        </p:txBody>
      </p:sp>
      <p:pic>
        <p:nvPicPr>
          <p:cNvPr id="32" name="图片 31"/>
          <p:cNvPicPr/>
          <p:nvPr/>
        </p:nvPicPr>
        <p:blipFill>
          <a:blip r:embed="rId32"/>
          <a:stretch>
            <a:fillRect/>
          </a:stretch>
        </p:blipFill>
        <p:spPr>
          <a:xfrm>
            <a:off x="8067675" y="5315585"/>
            <a:ext cx="1747520" cy="1084580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8470900" y="4978400"/>
            <a:ext cx="1130935" cy="326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漫威</a:t>
            </a:r>
            <a:r>
              <a:rPr lang="zh-CN" altLang="en-US"/>
              <a:t>贾维斯</a:t>
            </a:r>
            <a:endParaRPr lang="zh-CN" altLang="en-US"/>
          </a:p>
        </p:txBody>
      </p:sp>
      <p:pic>
        <p:nvPicPr>
          <p:cNvPr id="34" name="图片 33"/>
          <p:cNvPicPr/>
          <p:nvPr/>
        </p:nvPicPr>
        <p:blipFill>
          <a:blip r:embed="rId33"/>
          <a:stretch>
            <a:fillRect/>
          </a:stretch>
        </p:blipFill>
        <p:spPr>
          <a:xfrm>
            <a:off x="9969500" y="5309235"/>
            <a:ext cx="1784350" cy="109093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10224770" y="5008880"/>
            <a:ext cx="1130935" cy="326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550W-</a:t>
            </a:r>
            <a:r>
              <a:rPr lang="zh-CN" altLang="en-US"/>
              <a:t>莫斯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8509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课程导入与AI初识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1336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397000" y="2133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 (AI)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952500" y="2667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智能技术的总纲，是最宽泛的概念。它涵盖了所有让机器模拟、延伸和扩展人类智能的技术科学，是创造智能机器的底层基石。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3492500" y="1905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83000" y="21336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4127500" y="2133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 (ML)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3683000" y="2667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实现AI的核心手段。通过算法让计算机从海量数据中自动挖掘规律、改进性能，无需人工编写具体规则，是数据驱动的智能引擎。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6223000" y="1905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13500" y="2133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6858000" y="2133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 (DL)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6413500" y="2667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机器学习的前沿分支。基于深层神经网络模拟人脑结构，能高效处理图像、语音、文本等复杂非结构化数据，是现代AI爆发的关键。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953500" y="1905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44000" y="21336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4"/>
            </p:custDataLst>
          </p:nvPr>
        </p:nvSpPr>
        <p:spPr>
          <a:xfrm>
            <a:off x="9588500" y="2133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大语言模型 (LLM)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5"/>
            </p:custDataLst>
          </p:nvPr>
        </p:nvSpPr>
        <p:spPr>
          <a:xfrm>
            <a:off x="9144000" y="26670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深度学习在NLP领域的巅峰应用。通过训练万亿级文本数据，具备理解、生成、推理人类语言的能力，是通用人工智能的重要突破口。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389880"/>
            <a:ext cx="107950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16000" y="5618480"/>
            <a:ext cx="355600" cy="35560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28"/>
          <a:stretch>
            <a:fillRect/>
          </a:stretch>
        </p:blipFill>
        <p:spPr>
          <a:xfrm>
            <a:off x="4445000" y="4051935"/>
            <a:ext cx="2988945" cy="20193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5618480"/>
            <a:ext cx="990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趣味理解：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若将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比作“超市”，那么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是超市的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货架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是货架上的产品，而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大语言模型(LLM)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正是当下最火爆、功能最强大的“明星爆款”。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课程导入与AI初识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89" r="89"/>
          <a:stretch>
            <a:fillRect/>
          </a:stretch>
        </p:blipFill>
        <p:spPr>
          <a:xfrm>
            <a:off x="762000" y="1778000"/>
            <a:ext cx="4064000" cy="2438400"/>
          </a:xfrm>
          <a:prstGeom prst="rect">
            <a:avLst/>
          </a:prstGeom>
          <a:noFill/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508500"/>
            <a:ext cx="4064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14400" y="4673600"/>
            <a:ext cx="381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直观理解：概念的层级嵌套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若把人工智能比作“水果”大家族，机器学习就是其中的“苹果”，而深度学习则是“红富士”——它是机器学习中更强大的分支，通过模拟人脑神经网络，自动挖掘数据的深层特征，无需人工干预。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核心技术路径对比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476500"/>
            <a:ext cx="5461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2476500"/>
            <a:ext cx="508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13500" y="25654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🧠 核心思想：从“人工”到“自动”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传统机器学习依赖专家人工设计特征；深度学习则通过多层神经网络，让机器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自动从数据中提取特征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，更接近人脑的学习方式。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3556000"/>
            <a:ext cx="5461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3556000"/>
            <a:ext cx="508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13500" y="36449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门槛：数据与算力的“饕餮”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传统ML对数据量要求适中，普通CPU即可运行；深度学习需要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海量数据喂养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，且高度依赖GPU的并行计算能力来训练复杂的深层网络。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4635500"/>
            <a:ext cx="5461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4635500"/>
            <a:ext cx="508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13500" y="47244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战场：结构化 vs 非结构化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传统ML擅长处理表格、数据库等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结构化数据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；深度学习则是图像识别、语音合成、自然语言处理等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非结构化数据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的绝对王者。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5778500"/>
            <a:ext cx="5461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cap="flat" cmpd="sng">
            <a:solidFill>
              <a:srgbClr val="0CAC47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50000" y="5867400"/>
            <a:ext cx="527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一句话总结：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深度学习是机器学习在大数据时代的进化形态，赋予了AI更强的感知能力。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课程导入与AI初识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个人生活：无处不在的AI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984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9464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智能手机交互体验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人脸解锁与支付、语音助手问答、拍照场景智能优化，让设备更懂你。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8989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个性化娱乐分发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抖音与YouTube的智能推荐、Netflix的影视推荐，基于协同过滤算法精准匹配。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89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8514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智慧出行与导航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高德/百度地图的实时路况预测，特斯拉等自动驾驶辅助系统的视觉感知。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1905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商业应用：效率与创新的引擎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298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29464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电商与服务升级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淘宝/亚马逊的千人千面推荐，智能客服机器人提供7x24小时即时响应。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937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38989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金融科技与风控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基于机器学习的信用卡欺诈交易毫秒级检测，以及量化投资策略的智能优化。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889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8514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智慧医疗与科研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医学影像AI辅助识别肿瘤病灶，以及利用深度学习加速新药研发周期。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课程导入与AI初识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584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AI的民主化元年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84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2022年11月30日，ChatGPT横空出世，被业界誉为“AI的iPhone时刻”。它在短短两个月内用户数突破1亿，刷新了互联网消费级应用的增长纪录，彻底打破了AI技术的使用壁垒。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810000"/>
            <a:ext cx="27940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39624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变革前 · 技术壁垒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AI是少数技术精英的专属工具，普通人难以触及，应用场景局限于实验室与科技巨头内部。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746500" y="3810000"/>
            <a:ext cx="27940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873500" y="39624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变革后 · 全民普惠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AI成为每个人的生产力工具，渗透进工作、学习与生活，实现了从“精英科技”到“大众工具”的跨越。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5245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这一历史性转变，标志着 AI 不再是遥不可及的概念，而是真正赋能每一个普通人的实用工具。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rcRect l="1543" r="1543"/>
          <a:stretch>
            <a:fillRect/>
          </a:stretch>
        </p:blipFill>
        <p:spPr>
          <a:xfrm>
            <a:off x="7112000" y="2159000"/>
            <a:ext cx="4318000" cy="27940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7112000" y="5207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 的交互界面不仅是一次技术展示，更开启了自然语言处理技术的全民应用时代。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课程导入与AI初识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专用AI (Narrow AI)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11400"/>
            <a:ext cx="4699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专注解决单一特定任务的人工智能，如围棋博弈、机器翻译、图像识别或自动驾驶。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当前主流的AI形态，技术已趋于成熟，广泛渗透于医疗、金融、交通等各个领域。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通用AI (General AI)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311400"/>
            <a:ext cx="4699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具备与人类相当的综合智能，能够理解、学习并灵活执行任何智力任务的AI。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目前仍处于理论研究与探索阶段，是人工智能领域追求的终极目标与愿景。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迈向强AI的关键挑战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7625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9784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9657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技术与认知的双重突破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39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机器如何获得人类般的常识推理能力？如何实现跨领域的自主学习与知识迁移？以及如何产生自我意识与主观认知，是目前亟待攻克的技术难题。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7625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9784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49657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伦理规范与社会治理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39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如何确保AI目标与人类价值观对齐（控制问题）？如何应对自动化带来的就业结构变化与贫富差距？以及如何界定AI行为的法律责任与道德边界。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课程导入与AI初识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专用 AI (Narrow AI / 弱AI)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488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专注于单一领域的“专家”，擅长解决特定任务。例如AlphaGo下围棋、人脸识别解锁、机器翻译等。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核心认知：我们目前生活中接触到的所有AI，全部都属于专用AI。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159500" y="1778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50000" y="1968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 AI (General AI / 强AI)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413000"/>
            <a:ext cx="488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拥有人类般的通用智能，能理解、学习并执行任何智力任务，具备自主意识与推理能力。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现状：目前技术尚未实现，是人工智能发展追求的终极愿景。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t="172" b="172"/>
          <a:stretch>
            <a:fillRect/>
          </a:stretch>
        </p:blipFill>
        <p:spPr>
          <a:xfrm>
            <a:off x="762000" y="4445000"/>
            <a:ext cx="3048000" cy="167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254500" y="4445000"/>
            <a:ext cx="7175500" cy="1676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4635500"/>
            <a:ext cx="679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 的核心本质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5080000"/>
            <a:ext cx="679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它看似无所不能，但其底层逻辑非常纯粹——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预测下一个词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。它是基于海量文本数据训练出的“文字接龙”高手，在语言建模与上下文理解上做到了极致优化，但并不具备真正的自我意识。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AI发展简史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9" r="9"/>
          <a:stretch>
            <a:fillRect/>
          </a:stretch>
        </p:blipFill>
        <p:spPr>
          <a:xfrm>
            <a:off x="762000" y="1308100"/>
            <a:ext cx="3556000" cy="2692400"/>
          </a:xfrm>
          <a:prstGeom prst="roundRect">
            <a:avLst>
              <a:gd name="adj" fmla="val 566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050915" y="762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“机器能思考吗？”</a:t>
            </a:r>
            <a:br>
              <a:rPr lang="en-US" sz="1400" b="0" i="1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1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艾伦·图灵，人工智能之父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4699000" y="2032000"/>
            <a:ext cx="6731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46990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9200" y="2222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5537200" y="2222500"/>
            <a:ext cx="571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图灵测试 (1950)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5029200" y="2730500"/>
            <a:ext cx="6019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艾伦·图灵提出了判断机器智能的核心标准：若一台机器与人类对话时，人类无法分辨其身份，即判定其具备智能。这一思想实验为人工智能的发展确立了最初的理论愿景与检验准则。——</a:t>
            </a:r>
            <a:r>
              <a:rPr lang="en-US" sz="1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《计算机器与智能》</a:t>
            </a:r>
            <a:endParaRPr lang="en-US" sz="1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699000" y="4254500"/>
            <a:ext cx="6731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699000" y="42545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29200" y="444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5537200" y="4445000"/>
            <a:ext cx="571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达特茅斯会议 (1956)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5029200" y="4953000"/>
            <a:ext cx="6019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约翰·麦卡锡在此会议上首次提出“人工智能”术语，标志着AI成为一门独立学科。这次汇聚了明斯基、香农等先驱的会议，确立了“让机器拥有人类智能”的宏伟目标，正式拉开了AI研究的序幕。</a:t>
            </a:r>
            <a:endParaRPr lang="en-US" sz="1100"/>
          </a:p>
        </p:txBody>
      </p:sp>
      <p:pic>
        <p:nvPicPr>
          <p:cNvPr id="16" name="图片 15"/>
          <p:cNvPicPr/>
          <p:nvPr/>
        </p:nvPicPr>
        <p:blipFill>
          <a:blip r:embed="rId17"/>
          <a:stretch>
            <a:fillRect/>
          </a:stretch>
        </p:blipFill>
        <p:spPr>
          <a:xfrm>
            <a:off x="1029335" y="4445000"/>
            <a:ext cx="3288665" cy="20154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AI发展简史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（从</a:t>
            </a:r>
            <a:r>
              <a:rPr lang="en-US" altLang="zh-CN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狂热</a:t>
            </a:r>
            <a:r>
              <a:rPr lang="en-US" altLang="zh-CN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altLang="zh-CN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理性</a:t>
            </a:r>
            <a:r>
              <a:rPr lang="en-US" altLang="zh-CN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3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早期突破与曙光 (1950s-1970s)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984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9464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逻辑理论家 (Logic Theorist)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由西蒙与纽厄尔开发，成功证明了数学定理，首次实证了机器具备模拟人类逻辑推理的能力，是符号主义AI的开山之作。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44069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ELIZA 对话机器人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魏泽鲍姆打造的首个聊天AI，通过模式匹配模拟心理治疗师，实现了看似自然的人机对话，引发了公众对人工智能的无限遐想。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905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第一次寒冬 (1974-1980)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984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29464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期望落差与资金撤离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早期系统无法解决复杂的现实世界问题，算力瓶颈凸显，导致政府与私人资本对AI的盲目热情消退，研究资助大幅缩减。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445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44069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“莱特希尔报告”的冲击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英国发布的该报告严厉批评AI进展缓慢，认为其成果远未达到承诺，直接导致英美等国大幅削减AI研究经费，行业陷入长期低谷。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374151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从技术的狂热起步到理性的低谷反思，这段历程为后续AI的稳健发展积累了宝贵的经验与教训。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AI发展简史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03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616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专家系统兴起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302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核心是将人类专家的领域知识转化为“如果…那么…”的逻辑规则，模拟专家决策过程。典型应用如医疗诊断系统MYCIN，在特定专业领域展现出媲美人类专家的推理能力。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2286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603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68900" y="2616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技术固有局限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3302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规则库维护成本极高，易出现规则冲突；系统缺乏自学习能力，难以处理未预设的新情况；且领域移植性差，跨场景拓展几乎需要完全重构，导致应用边界被严重限制。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2286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6B72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603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13800" y="2616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行业寒冬降临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3302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随着专用Lisp硬件市场的迅速崩溃，以及日本雄心勃勃的“第五代计算机”计划未能实现预期突破，投资者信心彻底丧失，研发资金大幅撤离，AI研究再次进入长达数年的低谷期。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7150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58166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关键启示：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单纯依靠人工编写规则的符号主义路径难以实现通用智能，这一教训直接推动了后来学术界与工业界对数据驱动、机器学习及神经网络的深入探索与回归。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AI发展简史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519" r="519"/>
          <a:stretch>
            <a:fillRect/>
          </a:stretch>
        </p:blipFill>
        <p:spPr>
          <a:xfrm>
            <a:off x="762000" y="1905000"/>
            <a:ext cx="4318000" cy="2921000"/>
          </a:xfrm>
          <a:prstGeom prst="roundRect">
            <a:avLst>
              <a:gd name="adj" fmla="val 521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016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1997年，卡斯帕罗夫与IBM“深蓝”对弈现场，AI首次战胜人类棋王。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9050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AI在特定领域超越人类 (1990s-2000s)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461000" y="2667000"/>
            <a:ext cx="59690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651500" y="2819400"/>
            <a:ext cx="558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1997 · 算力与算法的里程碑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IBM“深蓝”战胜国际象棋冠军卡斯帕罗夫，标志着AI在复杂策略博弈中通过暴力搜索与算法优化实现了对人类的超越，打破了“机器无法匹敌人类智慧”的传统认知。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461000" y="4318000"/>
            <a:ext cx="59690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651500" y="4470400"/>
            <a:ext cx="558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专用AI (Narrow AI) 的局限与启示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“深蓝”是典型的专用AI，仅精通单一任务。它揭示了垂直领域AI的强大算力，同时也凸显了与具备跨领域理解、推理能力的通用人工智能（AGI）之间的本质差距与未来方向。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461000" y="5969000"/>
            <a:ext cx="596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1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这是人工智能从理论走向实用的关键一跃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AI发展简史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深度学习崛起：AlexNet的技术突破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2012年的ImageNet图像识别大赛是计算机视觉领域的重要分水岭。当时主流的传统机器学习方法依赖手工设计特征，识别准确率遭遇瓶颈，而AlexNet以全新的深度卷积神经网络架构，在这场顶级赛事中展现出压倒性优势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492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429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8层深度卷积网络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打破传统浅层网络限制，通过多层卷积与池化操作，自动提取图像的深层语义特征，奠定了深度模型的基础。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3302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349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3429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ReLU 激活函数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替代传统的Sigmoid函数，有效解决了深层网络中的梯度消失问题，极大加速了模型的收敛速度，提升训练效率。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635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826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7625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Dropout 正则化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训练时随机丢弃部分神经元连接，有效防止模型对训练数据的过拟合，显著增强了模型的泛化能力与鲁棒性。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635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4826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7625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GPU 并行加速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利用GPU强大的浮点运算能力进行并行计算，将深度网络的训练时间从理论上的数年缩短至数周，实现高效迭代。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9690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969000"/>
            <a:ext cx="50800" cy="584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969000"/>
            <a:ext cx="10350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历史转折：</a:t>
            </a:r>
            <a:r>
              <a:rPr lang="en-US" sz="14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AlexNet以压倒性优势夺冠，将图像分类错误率从26%降至15%，标志着深度学习正式进入主流视野，开启了人工智能的新篇章。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AI发展简史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ECFCF1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2012 · 爆发起点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AlexNet在ImageNet竞赛中以压倒性优势夺冠，打破了传统视觉算法的局限，正式宣告深度学习成为AI领域的主流范式。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815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ECFCF1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72000" y="1968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2016 · 认知突破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2000" y="2413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AlphaGo击败围棋冠军李世石，证明了深度学习在处理复杂策略、直觉博弈任务上具备超越人类的能力，引发全球对AI潜力的热议。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010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ECFCF1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191500" y="1968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2017 · 架构革命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91500" y="2413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Google提出Transformer架构，引入自注意力机制解决了循环神经网络的效率瓶颈，成为现代大语言模型（LLM）的技术基石。——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Attention is All Your Need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》</a:t>
            </a:r>
            <a:endParaRPr lang="zh-CN" alt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937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 l="9474" r="9474"/>
          <a:stretch>
            <a:fillRect/>
          </a:stretch>
        </p:blipFill>
        <p:spPr>
          <a:xfrm>
            <a:off x="952500" y="4127500"/>
            <a:ext cx="2095500" cy="196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175000" y="4127500"/>
            <a:ext cx="27305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人机博弈的巅峰时刻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这场跨越世纪的对决，不仅是算法的胜利，更是机器在直觉与策略并重的复杂领域迈出的关键一步，彻底刷新了人类对人工智能边界的认知。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159500" y="3937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 l="3552" r="3552"/>
          <a:stretch>
            <a:fillRect/>
          </a:stretch>
        </p:blipFill>
        <p:spPr>
          <a:xfrm>
            <a:off x="6350000" y="4127500"/>
            <a:ext cx="2095500" cy="196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8572500" y="4127500"/>
            <a:ext cx="27305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大模型时代的技术钥匙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Transformer通过并行计算大幅提升效率，其自注意力机制有效捕捉了长距离依赖关系，为BERT、GPT等现代AI模型提供了坚实的架构支撑。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AI发展简史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33" r="133"/>
          <a:stretch>
            <a:fillRect/>
          </a:stretch>
        </p:blipFill>
        <p:spPr>
          <a:xfrm>
            <a:off x="762000" y="1778000"/>
            <a:ext cx="3556000" cy="31115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图示为Transformer经典的编码器-解码器结构，它的出现标志着序列建模从循环范式向并行范式的根本转变。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1778000"/>
            <a:ext cx="660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Transformer：开启大模型时代的钥匙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26000" y="2540000"/>
            <a:ext cx="660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500" y="28702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588000" y="2641600"/>
            <a:ext cx="577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自注意力机制 (Self-Attention)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突破RNN的序列依赖限制，直接计算词与词之间的全局相关性，彻底解决了长文本中信息丢失的问题，赋予模型真正的“全局视野”。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826000" y="3746500"/>
            <a:ext cx="660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6500" y="40767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588000" y="3848100"/>
            <a:ext cx="577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多头注意力 (Multi-Head Attention)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将注意力机制拆分为多个独立的“头”，在不同的特征子空间中并行学习，从而捕捉更丰富、更细微的语义关联与特征维度。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826000" y="4953000"/>
            <a:ext cx="660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6500" y="52832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88000" y="5054600"/>
            <a:ext cx="577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位置编码 (Positional Encoding)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通过三角函数为每个词注入位置信息，弥补了注意力机制对序列顺序不敏感的缺陷，让模型能够感知语言的时序逻辑。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AI发展简史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大模型爆发 (2020s-2026)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52830" y="2768600"/>
            <a:ext cx="5029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052830" y="31242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256030" y="2895600"/>
            <a:ext cx="482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2020 · 涌现能力初现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OpenAI发布GPT-3，拥有1750亿参数，展现出强大的“涌现”能力，标志着大模型时代的序幕正式拉开。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6148070" y="27686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6148070" y="31242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6351270" y="2895600"/>
            <a:ext cx="482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2022 · 全民AI浪潮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ChatGPT正式发布，凭借流畅的自然对话能力引爆全球，成为AI民主化的里程碑，让人工智能从实验室走向大众。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052830" y="4673600"/>
            <a:ext cx="5029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052830" y="50292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1256030" y="4800600"/>
            <a:ext cx="482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2023 · 通用智能逼近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GPT-4重磅登场，在律师、医生、程序员等专业领域及学术基准测试中，表现出接近甚至超越人类的专业水平。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6148070" y="46736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6148070" y="50292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6351270" y="4800600"/>
            <a:ext cx="482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2024+ · 智能体新纪元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多模态能力全面普及，AI Agent（智能体）成为核心方向，人工智能从被动交互的“工具”向主动协作的“助手”进化。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图片 16"/>
          <p:cNvPicPr/>
          <p:nvPr/>
        </p:nvPicPr>
        <p:blipFill>
          <a:blip r:embed="rId14"/>
          <a:stretch>
            <a:fillRect/>
          </a:stretch>
        </p:blipFill>
        <p:spPr>
          <a:xfrm>
            <a:off x="4836795" y="72390"/>
            <a:ext cx="3002280" cy="2823210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15"/>
          <a:stretch>
            <a:fillRect/>
          </a:stretch>
        </p:blipFill>
        <p:spPr>
          <a:xfrm>
            <a:off x="7918450" y="72390"/>
            <a:ext cx="3511550" cy="282321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257425" y="6388100"/>
            <a:ext cx="816038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1" i="0">
                <a:solidFill>
                  <a:srgbClr val="0F1115"/>
                </a:solidFill>
                <a:latin typeface="quote-cjk-patch"/>
                <a:ea typeface="quote-cjk-patch"/>
              </a:rPr>
              <a:t>OpenAI:</a:t>
            </a:r>
            <a:r>
              <a:rPr lang="zh-CN" altLang="en-US" sz="1600" b="1" i="0">
                <a:solidFill>
                  <a:srgbClr val="0F1115"/>
                </a:solidFill>
                <a:latin typeface="quote-cjk-patch"/>
                <a:ea typeface="quote-cjk-patch"/>
              </a:rPr>
              <a:t>模型的性能与其规模（参数、数据、算力）之间存在可预测的幂律关系</a:t>
            </a:r>
            <a:endParaRPr lang="zh-CN" altLang="en-US" sz="1600" b="1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AI发展简史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cap="flat" cmpd="sng">
            <a:solidFill>
              <a:srgbClr val="E6CFC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034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AI的发展并非一帆风顺，而是一部跨越70年、充满曲折的史诗。它经历了两次令人沮丧的行业“寒冬”，也迎来了数次颠覆性的技术突破，从实验室走向了我们生活的方方面面。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20320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63600" y="3365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1950s-70s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63600" y="3873500"/>
            <a:ext cx="18288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诞生与寒冬I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63600" y="43180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达特茅斯会议正式确立AI学科，早期的盲目乐观后因预期落空，迎来了第一次行业寒冬。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46400" y="3175000"/>
            <a:ext cx="20320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048000" y="3365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1980s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048000" y="3873500"/>
            <a:ext cx="18288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专家系统与寒冬II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048000" y="43180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基于规则的专家系统在商业上短暂繁荣，但受限于算力与知识获取瓶颈，再次陷入资金枯竭的寒冬。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130800" y="3175000"/>
            <a:ext cx="20320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232400" y="3365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1990s-00s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32400" y="3873500"/>
            <a:ext cx="18288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专用领域突破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32400" y="43180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深蓝战胜国际象棋冠军，标志着AI在特定领域超越人类；语音识别与机器翻译技术开始实用化。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15200" y="3175000"/>
            <a:ext cx="20320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416800" y="3365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2010s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16800" y="3873500"/>
            <a:ext cx="18288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深度学习崛起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416800" y="43180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大数据与GPU算力爆发，CNN在图像识别上取得惊人成绩，Transformer架构为后续大模型奠定基础。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499600" y="3175000"/>
            <a:ext cx="20320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601200" y="3365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2020s+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601200" y="3873500"/>
            <a:ext cx="18288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大模型爆发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601200" y="43180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GPT系列与多模态模型涌现，AI展现出极强的通用能力，AGI成为行业与学术界共同探索的新方向。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3600" y="6181725"/>
            <a:ext cx="1076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</a:t>
            </a:r>
            <a:r>
              <a:rPr lang="zh-CN" alt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马克思主义</a:t>
            </a:r>
            <a:r>
              <a:rPr lang="zh-CN" alt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原理：事物发展的总趋势是上升的，但具体道路是迂回的，这是前进性与曲折性的统一。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endParaRPr lang="en-US" sz="1100"/>
          </a:p>
        </p:txBody>
      </p:sp>
      <p:sp>
        <p:nvSpPr>
          <p:cNvPr id="27" name="AutoShape 26"/>
          <p:cNvSpPr/>
          <p:nvPr/>
        </p:nvSpPr>
        <p:spPr>
          <a:xfrm>
            <a:off x="889000" y="5842000"/>
            <a:ext cx="1076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技术的浪潮虽有起伏，但人类对智能边界的探索始终未曾停歇。”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ChatGPT为什么火了？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495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问题背景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175000"/>
            <a:ext cx="28702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原始大模型的核心目标是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“预测下一个词”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，这让它更像一个优秀的“续写机器”，而非智能助手。它擅长生成连贯的文本，却难以精准理解并严格遵循用户的具体指令与真实意图。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34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68900" y="23495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指令微调技术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609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60900" y="3175000"/>
            <a:ext cx="28702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通过收集海量高质量的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“指令-输出”数据对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，对预训练模型进行二次训练。这一过程重塑了模型的响应逻辑，让它学会从“被动续写”转向“主动理解并执行指令”，是实现智能化交互的关键一步。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34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13800" y="23495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全能助手的诞生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3058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05800" y="3175000"/>
            <a:ext cx="28702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微调后的模型能精准捕捉用户意图，流畅完成翻译、文案创作、代码编写、知识问答等复杂任务。它不再只是冷冰冰的生成工具，而是真正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“听得懂、办得成”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的智能助手，这正是ChatGPT火爆全球的核心原因。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技术的微小迭代，往往能带来用户体验的巨大飞跃 ——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ChatGPT为什么火了？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技术核心：RLHF (基于人类反馈的强化学习)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5400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传统指令微调仅能让模型“听懂并执行指令”，却无法定义输出是否“优质”。RLHF 通过引入人类主观价值判断，构建了一套让模型向“人类偏好”进化的闭环机制，这正是 ChatGPT 体验质变的关键。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746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3721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训练奖励模型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191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让人类对模型的多组输出进行排序和评分，利用这些真实的反馈数据，训练出一个能精准评估内容优劣的“奖励模型”。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3556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3746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53000" y="3721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强化学习优化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4191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以奖励模型的打分作为优化目标，通过强化学习算法不断调整模型参数，让模型学会主动生成能获得更高分数的回答。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3556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3746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572500" y="3721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闭环迭代升级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4191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不断重复“生成-评估-优化”的循环，让模型的输出持续逼近人类的价值观，实现从“能用”到“好用”的跨越。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651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8166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最终成效：</a:t>
            </a:r>
            <a:r>
              <a:rPr lang="en-US" sz="14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 AI 生成的内容不仅“符合指令”，更做到了</a:t>
            </a:r>
            <a:r>
              <a:rPr lang="en-US" sz="14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更有用、更诚实、更无害</a:t>
            </a:r>
            <a:r>
              <a:rPr lang="en-US" sz="14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，极大提升了交互的安全性与体验感。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ChatGPT为什么火了？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84" r="184"/>
          <a:stretch>
            <a:fillRect/>
          </a:stretch>
        </p:blipFill>
        <p:spPr>
          <a:xfrm>
            <a:off x="762000" y="2032000"/>
            <a:ext cx="4318000" cy="2717800"/>
          </a:xfrm>
          <a:prstGeom prst="rect">
            <a:avLst/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0165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极简的对话式UI设计，将复杂的AI交互简化为日常聊天，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极大地降低了用户的心理门槛与操作成本。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2032000"/>
            <a:ext cx="2984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1200" y="2235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197600" y="22098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对话式交互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791200" y="2692400"/>
            <a:ext cx="2578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采用直观的聊天框形式，用户无需学习复杂指令，直接通过自然语言即可与AI顺畅沟通。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699500" y="2032000"/>
            <a:ext cx="2984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2700" y="22352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309100" y="22098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实时响应体验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902700" y="2692400"/>
            <a:ext cx="2578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输入问题后即刻生成回复，模拟真人实时对话的流畅感，消除等待焦虑，提升沉浸感。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88000" y="4127500"/>
            <a:ext cx="2984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91200" y="43307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197600" y="43053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免费+增值模式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791200" y="4787900"/>
            <a:ext cx="2578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免费版快速积累海量用户与数据，付费Plus版解锁更快速度与更多功能，兼顾流量与变现。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699500" y="4127500"/>
            <a:ext cx="2984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02700" y="43307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309100" y="43053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高频模型迭代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02700" y="4787900"/>
            <a:ext cx="2578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基于用户反馈与大数据，实现周度甚至日度的快速更新，让产品能力与体验持续进化。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ChatGPT为什么火了？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28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技术底座的成熟积累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Transformer架构的算法突破、超大规模算力基建的完善，以及互联网海量语料数据的长期沉淀，共同为ChatGPT的诞生筑牢了不可替代的技术基石。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10400" y="228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后疫情时代的数字化刚需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全球疫情重塑了工作与生活方式，远程办公、在线教育与数字服务成为新常态，用户对能提升协作效率、降低沟通成本的智能工具需求迎来爆发式增长。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49400" y="4445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信息洪流中的效率解药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953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在碎片化信息爆炸的时代，人们被海量数据包围，亟需智能助手帮助快速筛选、深度理解信息，并辅助内容创作与知识整合，有效缓解效率焦虑。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445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10400" y="4445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社交场域的病毒式传播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953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其惊艳的交互能力与颠覆性的应用潜力在社交平台快速发酵，从科技圈层扩散至大众视野，引发全球范围内的热议、试用与分享，形成现象级传播效应。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ChatGPT为什么火了？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完美风暴：五大原因解析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955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ChatGPT的成功并非偶然，而是技术突破、产品体验革新与时代基础设施成熟共同作用的结果，这是一场不可复制的行业“完美风暴”。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429000" cy="10414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86EFA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9718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9210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能力泛化：全能模型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打破单一任务限制，一个模型即可处理对话、创作、编程等多元复杂任务。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81500" y="2794000"/>
            <a:ext cx="3429000" cy="10414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86EFA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9718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53000" y="29210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交互自然：零门槛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基于自然语言对话，无需专业技能，像日常聊天一样即可轻松驾驭AI。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01000" y="2794000"/>
            <a:ext cx="3429000" cy="10414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86EFA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9718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72500" y="29210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触手可及：即开即用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无需下载安装，浏览器直接访问，极大地降低了大众接触AI的使用成本。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000500"/>
            <a:ext cx="3429000" cy="10414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86EFA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1783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33500" y="41275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效果惊艳：认知颠覆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内容生成逻辑连贯且富有创造力，首次让大众感受到AI具备了“理解力”。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381500" y="4000500"/>
            <a:ext cx="3429000" cy="10414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86EFA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41783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953000" y="4127500"/>
            <a:ext cx="285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时机成熟：基建完备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云计算、大数据与GPU算力的爆发，为大模型的训练提供了坚实的底座。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rcRect t="1492" b="1492"/>
          <a:stretch>
            <a:fillRect/>
          </a:stretch>
        </p:blipFill>
        <p:spPr>
          <a:xfrm>
            <a:off x="8001000" y="4000500"/>
            <a:ext cx="1651000" cy="1206500"/>
          </a:xfrm>
          <a:prstGeom prst="roundRect">
            <a:avLst>
              <a:gd name="adj" fmla="val 12631"/>
            </a:avLst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rcRect l="11513" r="11513"/>
          <a:stretch>
            <a:fillRect/>
          </a:stretch>
        </p:blipFill>
        <p:spPr>
          <a:xfrm>
            <a:off x="9779000" y="4000500"/>
            <a:ext cx="1651000" cy="1206500"/>
          </a:xfrm>
          <a:prstGeom prst="roundRect">
            <a:avLst>
              <a:gd name="adj" fmla="val 12631"/>
            </a:avLst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23" name="AutoShape 23"/>
          <p:cNvSpPr/>
          <p:nvPr/>
        </p:nvSpPr>
        <p:spPr>
          <a:xfrm>
            <a:off x="762000" y="5334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000" y="56134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24000" y="54864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ChatGPT的火爆不仅是技术的胜利，更是一次全民级的科技启蒙。它用最直观的方式向全人类宣告：</a:t>
            </a:r>
            <a:r>
              <a:rPr lang="en-US" sz="15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“AI时代已经真实地到来了”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，这是一场关于生产力与生活方式的深刻变革。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大模型能够做什么？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114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2311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内容创作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Before-AI：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人工构思撰写耗时耗力，从选题、大纲到成文需反复推敲，产出效率低。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2545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After-AI：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输入主题即可秒级生成多风格草稿，自动适配语境与文风，人工仅需微调即可发布。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3114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18100" y="2311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信息摘要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211">
            <a:off x="46609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60900" y="3048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Before-AI：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阅读长篇报告或论文需逐字研读，人工提炼核心观点易遗漏细节，耗时数小时。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60900" y="42545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After-AI：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上传文档一键生成结构化摘要，精准提取关键数据、核心结论与行动建议，效率提升80%。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3114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2311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代码生成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5211">
            <a:off x="83058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05800" y="3048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Before-AI：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程序员需手动编写代码、查阅文档、反复调试排错，简单功能开发也需数小时。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05800" y="42545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After-AI：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自然语言描述需求，AI 直接生成可运行代码，附带详细注释与优化建议，大幅降低开发门槛。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9055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cap="flat" cmpd="sng">
            <a:solidFill>
              <a:srgbClr val="0CAC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89000" y="60198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核心价值：AI 并非替代人类，而是将高耗时的基础工作自动化，释放创造力专注于决策与优化。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大模型能够做什么？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286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2260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数据分析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566">
            <a:off x="952513" y="278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984500"/>
            <a:ext cx="2997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Before-AI：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依赖人工编写复杂SQL或Python脚本，数据清洗与建模耗时费力，技术门槛较高。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2545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After-AI：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上传表格即可用自然语言提问，AI自动输出分析结论、关键趋势洞察及可视化图表建议。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228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78400" y="2260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语言翻译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566">
            <a:off x="4597413" y="278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97400" y="2984500"/>
            <a:ext cx="2997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Before-AI：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传统机器翻译逐字转换，译文生硬且不准确，难以还原原文的语境、情感与文化内涵。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97400" y="42545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After-AI：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生成接近专业译员水平的译文，精准保留原文语气与风格，轻松应对跨文化沟通与专业文本。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300" y="2286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23300" y="2260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创意辅助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566">
            <a:off x="8242313" y="278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42300" y="2984500"/>
            <a:ext cx="2997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Before-AI：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依赖人工头脑风暴，创意产出慢且易受思维定式限制，灵感枯竭时难以快速突破瓶颈。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42300" y="42545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After-AI：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输入概念即可生成产品名称、Slogan、营销活动方案与创意脚本，激发无限灵感火花。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905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从繁琐的数据处理到流畅的跨语言沟通，再到无限的创意激发，大模型正在重塑工作方式，让专业能力普惠化。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大模型能够做什么？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159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教育辅导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691">
            <a:off x="965214" y="26606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65200" y="28194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Before-AI：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学生遇到难题常需等待老师或翻阅资料，响应延迟易打断学习节奏，答疑效率较低。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65200" y="39370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After-AI：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化身24小时在线私教，即时答疑解惑、拆解复杂概念，还能根据学习进度定制练习题，实现个性化高效学习。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0100" y="2159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41900" y="2159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智能客服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691">
            <a:off x="4610114" y="26606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10100" y="28194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Before-AI：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人工客服需处理海量重复咨询，高峰期排队时间长，人力成本高昂且简单问题处理效率低。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10100" y="39370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After-AI：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AI机器人秒级响应，自动解决80%+常见咨询，释放人工客服处理复杂问题，大幅提升服务效率与用户满意度。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159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86800" y="2159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图像生成与编辑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691">
            <a:off x="8255014" y="26606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28194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Before-AI：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图像创作依赖专业设计师和复杂软件，从构思到成品耗时久，非专业人士难以快速实现创意。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55000" y="39370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After-AI：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自然语言描述即可一键生成图像，或上传图片通过指令智能修改，零基础也能高效产出高质量视觉内容。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7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1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AI 正从单一的技术工具，转变为重塑各行各业生产力与创造力的核心引擎。”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大模型能够做什么？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960" r="1960"/>
          <a:stretch>
            <a:fillRect/>
          </a:stretch>
        </p:blipFill>
        <p:spPr>
          <a:xfrm>
            <a:off x="762000" y="2159000"/>
            <a:ext cx="2032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大模型不仅是技术的革新，更是企业降本增效、优化决策的核心引擎。从财务流程自动化到知识资产的深度激活，它为企业带来了可量化、可持续的商业价值回报。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191000" y="2032000"/>
            <a:ext cx="33782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381500" y="2222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IBM Finance 财务自动化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2794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90%+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流程周期缩减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3556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部署AI自动化财务流程，实现了财务处理效率的质变，每年为企业节省约60万美元的运营成本，大幅降低人工差错率。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747000" y="2032000"/>
            <a:ext cx="33782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937500" y="2222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Morgan Stanley 财富管理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937500" y="2794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98%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员工采纳率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37500" y="3556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为财富顾问部署GPT-4助手，极大提升了服务效率。内部知识库文档的访问利用率从20%跃升至80%，赋能顾问精准决策。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191000" y="5016500"/>
            <a:ext cx="69342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54229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016500" y="52070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IBM watsonx Orchestrate 价值验证：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据行业报告显示，企业部署该平台后平均实现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236%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的三年期ROI，投资回收期仅需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2.1个月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，为企业带来立竿见影的经济效益。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大模型能够做什么？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2733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市场营销场景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84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市场调研洞察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利用AI抓取并分析全网社媒评论与用户行为数据，快速挖掘消费者痛点、偏好趋势，为产品迭代与市场定位提供精准依据。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873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自动化内容生产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根据品牌调性自动生成适配多平台的营销文案与社媒帖文，支持风格改写与批量创作，解决内容产出效率低、灵感枯竭难题。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762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广告投放智能调优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基于数据模型分析转化链路，智能优化投放人群标签与创意素材，实时调整出价策略，有效提升广告ROI与用户转化率。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21500" y="22733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软件开发场景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2984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需求智能转译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将模糊的自然语言需求自动转化为结构化的技术规格文档，消除业务与技术团队的沟通壁垒，减少需求理解偏差与返工。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3873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代码辅助与质检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根据业务逻辑自动生成基础代码框架，智能审查代码漏洞与规范问题，自动编写单元测试用例，提升开发质量与效率。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4762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技术文档自动生成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从代码仓库中自动提取逻辑与接口信息，生成规范的API文档、开发手册与架构说明，降低文档维护成本，沉淀技术资产。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大模型能够做什么？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大模型如同全能助手，深度覆盖学术研究、创意设计与工程实践，为你提供全方位的智能支持。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2476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413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文本生成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撰写校园咖啡厅设计方案，输出高质量商业文案与报告。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33782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3619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556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代码编写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编写Python数据分析脚本，快速实现功能模块与调试。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33782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200" y="4762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699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多语翻译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精准翻译学术论文摘要，实现跨语言文献的快速阅读。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651500"/>
            <a:ext cx="33782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5200" y="5842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57785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总结摘要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提炼长篇论文核心观点，高效梳理复杂文档的脉络。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394200" y="2286000"/>
            <a:ext cx="33782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97400" y="2476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029200" y="2413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知识问答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解释专业概念并举例，即时解答学习中的疑难问题。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94200" y="3429000"/>
            <a:ext cx="33782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7400" y="3619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029200" y="3556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创意生成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提供毕业设计选题建议，激发科研与创作的新灵感。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94200" y="4572000"/>
            <a:ext cx="33782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97400" y="4762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029200" y="4699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数据分析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分析实验数据并找出异常值，辅助科研数据的处理。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394200" y="5651500"/>
            <a:ext cx="33782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597400" y="58420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5029200" y="57785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图像理解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分析建筑设计风格与材料，解读图像中的关键信息。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26400" y="2286000"/>
            <a:ext cx="33782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29600" y="2476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661400" y="2413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PPT大纲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设计项目演示PPT框架，优化演示逻辑与视觉结构。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026400" y="3429000"/>
            <a:ext cx="33782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29600" y="3619500"/>
            <a:ext cx="355600" cy="3556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8661400" y="3556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文献综述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梳理领域研究热点，快速构建课题的研究背景框架。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026400" y="4572000"/>
            <a:ext cx="33782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29600" y="4762500"/>
            <a:ext cx="355600" cy="3556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661400" y="4699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公式推导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解释公式物理含义并演示计算，加深对理论的理解。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026400" y="5651500"/>
            <a:ext cx="33782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229600" y="5842000"/>
            <a:ext cx="355600" cy="3556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8661400" y="57785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方案评估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从多维度评估施工方案，提供可行性与风险分析。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大模型能够做什么？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7526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工程设计 / 机械专业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辅助课程设计与图纸撰写，智能分析选型对比，协助仿真参数调试，为学科竞赛方案提供优化推演与可行性评估。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0226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31242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土木工程专业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辅助施工组织设计规划与荷载计算，指导BIM建模与规范条文解读，为毕业设计选题与复杂结构方案提供深化建议。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3942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44958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建筑 / 艺术设计专业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快速捕捉设计灵感，智能撰写设计说明，提供色彩与材料搭配方案，辅助生成概念草图，全方位优化作品集的呈现效果。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l="8271" r="8271"/>
          <a:stretch>
            <a:fillRect/>
          </a:stretch>
        </p:blipFill>
        <p:spPr>
          <a:xfrm>
            <a:off x="6223000" y="1651000"/>
            <a:ext cx="2730500" cy="1841500"/>
          </a:xfrm>
          <a:prstGeom prst="roundRect">
            <a:avLst>
              <a:gd name="adj" fmla="val 6896"/>
            </a:avLst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1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l="8427" r="8427"/>
          <a:stretch>
            <a:fillRect/>
          </a:stretch>
        </p:blipFill>
        <p:spPr>
          <a:xfrm>
            <a:off x="9080500" y="1651000"/>
            <a:ext cx="2730500" cy="1841500"/>
          </a:xfrm>
          <a:prstGeom prst="roundRect">
            <a:avLst>
              <a:gd name="adj" fmla="val 6896"/>
            </a:avLst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6223000" y="37465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3873500"/>
            <a:ext cx="533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AI 是“效率放大器”，不是“决策者”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它能帮你生成初稿、扩展思路、检索资料，从繁琐的基础工作中解放出来，让你更专注于核心创意与专业判断。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51435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EF3C7">
              <a:alpha val="7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350000" y="5270500"/>
            <a:ext cx="533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🚫 必须坚守的三条原则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所有AI生成内容，务必人工审核，严禁直接套用；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涉及安全、结构与数据准确性，必须以人工判断为准；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AI仅提供建议，最终责任与决策由人承担。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AI会不会取代人？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61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2286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医生：从“执行者”进阶“决策者”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84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易被替代的机械性工作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病历的数字化录入、医学影像的初步病灶筛查、以及针对常见疾病的标准化诊断流程，这些重复性强、规则明确的任务可由AI高效接管。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191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AI赋能的核心价值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快速整合分析海量病历与医学文献，提供个性化诊疗建议；帮助医生从繁琐事务中解放，更专注于复杂手术操作、深度医患沟通及人文关怀，回归医疗的本质温度。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361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59600" y="2286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律师：从“检索员”转型“策略师”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29845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易被替代的流程化工作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标准化法律文书的自动起草、过往判例的基础检索与比对、以及合同条款的形式合规审查，AI能以更高效率和准确率完成此类信息处理任务。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477000" y="4191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AI赋能的核心价值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智能预测案件走向与潜在风险点，辅助制定精准的诉讼策略；让律师从海量信息检索中解脱，聚焦于庭审辩论、案件核心策略制定及客户需求的深度挖掘。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核心洞察：AI 并非取代人类，而是重构职业分工，让人类更专注于创造力、情感联结与复杂决策。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AI会不会取代人？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114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00200" y="2311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教师：回归教育的“育人”本质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978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175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🔄 被替代的任务：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重复性的作业批改、标准化的知识点宣讲、基础的学情数据统计等机械性工作，可由AI高效完成。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1275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被放大的价值：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从“教书匠”转型为“成长导师”，专注于启发式引导、情感关怀与价值观塑造。AI作为全天候个性化助教，让因材施教真正落地，释放教师的人文温度。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3114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61200" y="2311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程序员：升级为“技术架构师”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167">
            <a:off x="6477008" y="2978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3175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🔄 被替代的任务：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基础代码编写、常规Bug修复、标准化技术文档撰写等重复性工作，可由AI辅助生成。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1275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被放大的价值：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聚焦于系统架构设计、复杂算法创新与业务逻辑的顶层构建。AI作为高效“副驾驶”，释放程序员的精力，让核心创造力专注于解决高难度技术难题与产品创新。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740400"/>
            <a:ext cx="107315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5842000"/>
            <a:ext cx="1047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核心洞察：AI 不是人类的“替代者”，而是能力的“放大器”，它正在重塑职业的价值重心。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AI会不会取代人？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AI时代的核心竞争力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578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创造力 (Creativity)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22600"/>
            <a:ext cx="299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AI虽能生成内容，却难以产生颠覆性的原创洞察。人类独有的想象力、审美直觉与突破性的创新思维，依然是不可替代的核心驱动力。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413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2603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78400" y="2578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情商 (Emotional Intelligence)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97400" y="3022600"/>
            <a:ext cx="299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AI无法真正理解或共情人类的复杂情感。同理心、情绪感知、人际沟通与情感关怀，是建立信任与协作的关键，也是人性的独特光辉。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2413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300" y="260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23300" y="2578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伦理判断力 (Ethical Judgment)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42300" y="3022600"/>
            <a:ext cx="299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AI的决策基于数据与算法，却缺乏道德意识。人类能够权衡复杂的价值冲突，做出符合伦理、兼顾公平与长远利益的判断与选择。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381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572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33500" y="45466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复杂问题解决能力 (Complex Problem Solving)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49911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面对模糊、动态且充满不确定性的挑战时，人类的系统思维、跨领域整合与战略规划能力，能够打破单一逻辑的局限，寻找最优解。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159500" y="4381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4572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731000" y="45466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终身学习能力 (Lifelong Learning)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49911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技术迭代日新月异，知识半衰期不断缩短。保持好奇心，主动探索新工具、新知识，并快速适应变化的环境，是未来最具价值的生存技能。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AI会不会取代人？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核心洞察：AI取代的是</a:t>
            </a: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具体任务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，而非完整职业。职业是一系列任务的有机集合，真正被重构的是工作方式，而非岗位本身。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686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22400" y="273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擅长：标准化与计算型任务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238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以建筑设计为例，AI可高效完成：效果图快速生成、日照与能耗的量化分析、方案说明初稿撰写、以及复杂的图纸冲突自动检查。这些规则明确、数据驱动的工作是AI的“天然优势区”。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540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374151">
              <a:alpha val="8000"/>
            </a:srgbClr>
          </a:solidFill>
          <a:ln w="12700" cap="flat" cmpd="sng">
            <a:solidFill>
              <a:srgbClr val="37415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7686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83400" y="273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人类 主导：共情与决策型任务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238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这是无法被算法替代的核心：精准洞察客户的情感偏好、复杂的现场勘查与突发决策、独特的审美价值判断、以及对项目承担法律责任和维护长期信任关系。这些需要人性温度与责任担当。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016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4102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207000"/>
            <a:ext cx="977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结论：AI 是“增强者”而非“取代者”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它将专业人士从繁琐的重复性劳动中解放出来，让我们能专注于高价值的创意构思、深度沟通与战略判断，实现“人机协作”的效能飞跃，而非被机器取代。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AI会不会取代人？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擅长的领域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65400"/>
            <a:ext cx="203200" cy="203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20800" y="2514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高效执行：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处理海量重复性任务，实现24小时不间断工作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73400"/>
            <a:ext cx="203200" cy="203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20800" y="3022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知识整合：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基于现有知识库快速推理、总结并生成方案变体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581400"/>
            <a:ext cx="203200" cy="203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20800" y="3530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跨界通才：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具备多语言、多领域信息的即时检索与整合能力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089400"/>
            <a:ext cx="203200" cy="203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20800" y="4038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数据洞察：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从庞杂数据中快速识别潜在模式与关联规律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6B728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968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的能力边界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565400"/>
            <a:ext cx="203200" cy="203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781800" y="2514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情感共情：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难以真正感知人类复杂情绪，缺乏真实情感共鸣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073400"/>
            <a:ext cx="203200" cy="203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81800" y="3022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原创直觉：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无法产生颠覆性的原创思想，依赖人类输入的数据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581400"/>
            <a:ext cx="203200" cy="203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781800" y="3530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责任承担：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无法对结果负责，不具备道德与法律主体资格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089400"/>
            <a:ext cx="203200" cy="203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781800" y="4038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隐性洞察：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难以理解组织中的非正式规则、权力结构与文化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8895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1054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397000" y="50800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未来职业规划核心：聚焦“不可被算法替代”的人性优势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16000" y="55245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与其焦虑被取代，不如主动构建“人机协作”的竞争力。重点培养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批判性思维、跨领域整合力、审美判断力、深层沟通与领导力、以及对伦理与价值观的坚守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。这些根植于人性的特质，正是未来职场的核心护城河。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AI会不会取代人？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95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57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不与AI拼效率，拼优势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565400"/>
            <a:ext cx="476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放弃在速度和算力上的直接竞争，专注于AI无法胜任的领域：复杂的创意构思、深度的情感共情以及涉及人性的价值判断。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095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2057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视AI为“初级执行助手”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2565400"/>
            <a:ext cx="476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你是决策者，负责定方向、做判断和把控价值；AI是执行者，负责处理数据、生成初稿和完成标准化的重复劳动。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556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746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3708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深耕“人性”核心能力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216400"/>
            <a:ext cx="476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有意识地培养那些需要人类经验与情感投入的能力：批判性思维、审美鉴赏力、跨文化沟通与团队领导力。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556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3746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3708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掌握AI是职场“必选项”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4216400"/>
            <a:ext cx="476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未来的职场法则：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会用AI的人，终将取代不会用AI的人。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这不是技能的加分项，而是立足的基本功。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207000"/>
            <a:ext cx="10731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5753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651000" y="53594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核心隐喻：AI是“能力放大器”，而非“自动驾驶系统”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它像电动车的电机，能让你跑得更快、更远，但不会替你决定目的地和路线。你的任务是握紧车把，决定方向，而不是让电机来驾驶。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主流AI工具介绍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871" b="1871"/>
          <a:stretch>
            <a:fillRect/>
          </a:stretch>
        </p:blipFill>
        <p:spPr>
          <a:xfrm>
            <a:off x="1016000" y="2159000"/>
            <a:ext cx="2032000" cy="1079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238500" y="2387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3359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81400"/>
            <a:ext cx="203200" cy="203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95400" y="35560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OpenAI (美国) —— 生态最成熟的通用模型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089400"/>
            <a:ext cx="203200" cy="203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95400" y="40640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综合能力天花板，代码生成与逻辑推理表现卓越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6990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79500" y="48006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优势亮点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API集成极其便捷，插件生态丰富，功能迭代速度极快，社区支持完善。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492500" y="46990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556000" y="48006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不足之处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易产生“幻觉”生成不实信息，中文语境理解稍弱，数据时效性存在延迟。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86500" y="1905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 t="17307" b="17307"/>
          <a:stretch>
            <a:fillRect/>
          </a:stretch>
        </p:blipFill>
        <p:spPr>
          <a:xfrm>
            <a:off x="6540500" y="2159000"/>
            <a:ext cx="1651000" cy="1079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8382000" y="2387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Claude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167">
            <a:off x="6540508" y="3359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3581400"/>
            <a:ext cx="203200" cy="203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19900" y="35560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 (美国) —— 专注安全与对齐的模型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4089400"/>
            <a:ext cx="203200" cy="203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19900" y="40640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极高的安全性与道德对齐，超长文本处理专家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40500" y="46990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04000" y="48006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优势亮点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输出内容无害合规，支持百万字级长文档处理，总结与提炼能力出色。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9017000" y="4699000"/>
            <a:ext cx="2349500" cy="1079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080500" y="48006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不足之处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在复杂逻辑推理上略逊于GPT-4，API调用成本相对较高，创意发散稍弱。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主流AI工具介绍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23" b="123"/>
          <a:stretch>
            <a:fillRect/>
          </a:stretch>
        </p:blipFill>
        <p:spPr>
          <a:xfrm>
            <a:off x="1308100" y="2159000"/>
            <a:ext cx="2286000" cy="1282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89000" y="3619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Gemini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Google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4127500"/>
            <a:ext cx="3124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原生多模态 · 超强逻辑推理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572000"/>
            <a:ext cx="3124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能够无缝处理文本、图像、音频及视频内容，在复杂逻辑推理任务中表现卓越。目前部分高级功能仍处于预览阶段，稳定性和响应速度仍有优化空间。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1905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34000" y="2159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533900" y="3746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Kimi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Moonshot AI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33900" y="4127500"/>
            <a:ext cx="3124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百万级超长上下文 · 文档专家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33900" y="4572000"/>
            <a:ext cx="3124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专为处理长篇内容设计，轻松理解百万字级别的小说、代码库或技术文档。相比其他头部模型，其综合能力迭代速度稍慢，但在长文本领域具有独特优势。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1905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05900" y="2286000"/>
            <a:ext cx="1270000" cy="1270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178800" y="3746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DeepSeek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78800" y="4127500"/>
            <a:ext cx="3124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极致性价比 · 代码数学双优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78800" y="4572000"/>
            <a:ext cx="3124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开源模型的高性价比之选，在代码生成、数学推理及解题方面表现突出。虽然在综合能力上与GPT-4等顶尖模型仍有差距，但其亲民的价格深受开发者喜爱。</a:t>
            </a:r>
            <a:endParaRPr lang="en-US"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主流AI工具介绍</a:t>
            </a:r>
            <a:endParaRPr lang="en-US" sz="110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35" y="1760855"/>
            <a:ext cx="10866120" cy="44958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47040" y="1362075"/>
            <a:ext cx="4121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综合智能排</a:t>
            </a:r>
            <a:r>
              <a:rPr lang="zh-CN" altLang="en-US" sz="2000" b="1"/>
              <a:t>名：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主流AI工具介绍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73200" y="228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明确核心需求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15211">
            <a:off x="10160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16000" y="3048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从具体使用场景出发匹配工具：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创作/闲聊：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ChatGPT, Claude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代码/推理：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DeepSeek, ChatGPT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数据/多模态：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Gemini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长文档阅读：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Kimi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视频创作</a:t>
            </a:r>
            <a:r>
              <a:rPr lang="en-US" sz="1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：See</a:t>
            </a:r>
            <a:r>
              <a:rPr lang="en-US" sz="1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Dance</a:t>
            </a:r>
            <a:endParaRPr lang="en-US" sz="1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069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900" y="2286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118100" y="228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评估预算成本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4"/>
            </p:custDataLst>
          </p:nvPr>
        </p:nvCxnSpPr>
        <p:spPr>
          <a:xfrm rot="-15211">
            <a:off x="46609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660900" y="3048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平衡成本投入与功能收益：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免费/轻量：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DeepSeek, Kimi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进阶/个人：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 Plus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企业级：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Claude Pro, API调用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按需选择，避免资源浪费。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0518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05800" y="2286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763000" y="228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重视数据隐私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21"/>
            </p:custDataLst>
          </p:nvPr>
        </p:nvCxnSpPr>
        <p:spPr>
          <a:xfrm rot="-15211">
            <a:off x="83058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8305800" y="3048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根据数据敏感程度做决策：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高敏感：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私有化部署方案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一般需求：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主流SaaS工具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企业建议：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签署合规协议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保障业务数据的安全可控。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89000" y="58801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选择智慧：</a:t>
            </a:r>
            <a:r>
              <a:rPr lang="en-US" sz="14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没有绝对完美的AI工具，只有最贴合当前场景、预算与安全需求的选择，灵活组合才能最大化效能。</a:t>
            </a:r>
            <a:endParaRPr lang="en-US"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主流AI工具介绍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国内热门AI工具速览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4216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223266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778000" y="2232660"/>
            <a:ext cx="1460500" cy="3149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通义千问</a:t>
            </a:r>
            <a:r>
              <a:rPr lang="zh-CN" alt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Qwen</a:t>
            </a:r>
            <a:r>
              <a:rPr lang="zh-CN" alt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16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52500" y="305816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背靠阿里云生态，企业级应用与云计算协同能力突出，适合深度开发与复杂业务场景。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204216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83000" y="223266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508500" y="223266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豆包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83000" y="305816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豆包轻量敏捷，无缝融入社交办公生态；Seedance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超强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20116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435356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文心一言 (ERNIE</a:t>
            </a:r>
            <a:r>
              <a:rPr lang="zh-CN" alt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百度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依托百度搜索的海量数据积累，对中文语境理解与本土化知识覆盖尤为稳健，是通用问答、信息检索与内容创作的得力助手。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286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31000" y="254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核心建议：拒绝“单一依赖”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3302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33020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利用“性格差异”实现认知互补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不同模型的训练逻辑不同，对同一问题的解读视角各异。兼听则明，能有效帮你突破个人思维盲区。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4318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43180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建立“交叉验证”机制保障决策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在撰写重要文案、分析关键数据时，用多个AI结果互相对比验证，规避单一模型的偏见、错误或“幻觉”。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731000" y="5397500"/>
            <a:ext cx="4699000" cy="5842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858000" y="54991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“把多个AI当作你的专属顾问团，而非唯一的神谕。”</a:t>
            </a:r>
            <a:endParaRPr lang="en-US" sz="1100"/>
          </a:p>
        </p:txBody>
      </p:sp>
      <p:sp>
        <p:nvSpPr>
          <p:cNvPr id="23" name="AutoShape 13"/>
          <p:cNvSpPr/>
          <p:nvPr/>
        </p:nvSpPr>
        <p:spPr>
          <a:xfrm>
            <a:off x="762000" y="54991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14"/>
          <p:cNvSpPr/>
          <p:nvPr/>
        </p:nvSpPr>
        <p:spPr>
          <a:xfrm>
            <a:off x="952500" y="56515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Kim K3</a:t>
            </a:r>
            <a:r>
              <a:rPr lang="zh-CN" alt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：国产大模型之王；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</a:t>
            </a:r>
            <a:r>
              <a:rPr lang="zh-CN" alt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性价比之王；</a:t>
            </a:r>
            <a:endParaRPr lang="zh-CN" alt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sz="1800"/>
              <a:t>GLM</a:t>
            </a:r>
            <a:r>
              <a:rPr lang="zh-CN" altLang="en-US" sz="1800">
                <a:ea typeface="宋体" panose="02010600030101010101" pitchFamily="2" charset="-122"/>
              </a:rPr>
              <a:t>：质谱华章，能力与</a:t>
            </a:r>
            <a:r>
              <a:rPr lang="en-US" altLang="zh-CN" sz="1800">
                <a:ea typeface="宋体" panose="02010600030101010101" pitchFamily="2" charset="-122"/>
              </a:rPr>
              <a:t>GPT</a:t>
            </a:r>
            <a:r>
              <a:rPr lang="zh-CN" altLang="en-US" sz="1800">
                <a:ea typeface="宋体" panose="02010600030101010101" pitchFamily="2" charset="-122"/>
              </a:rPr>
              <a:t>不相上下</a:t>
            </a:r>
            <a:r>
              <a:rPr lang="zh-CN" altLang="en-US" sz="2000">
                <a:ea typeface="宋体" panose="02010600030101010101" pitchFamily="2" charset="-122"/>
              </a:rPr>
              <a:t>；</a:t>
            </a:r>
            <a:endParaRPr lang="zh-CN" altLang="en-US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实操环节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提示词工程核心原则：五步打造精准AI指令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578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明确角色 (Role)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赋予AI具体身份，建立专业对话基调。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例：“你是一位经验丰富的美食评论家，专注于中式烹饪。”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81500" y="2413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603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53000" y="2578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清晰指令 (Task)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048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使用动词开头，精准定义需要执行的动作。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例：“分析这道红烧肉的制作工艺与风味特点。”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001000" y="2413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60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572500" y="2578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提供上下文 (Context)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3048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补充背景信息与约束条件，消除理解歧义。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例：“这道菜出自江南老字号，选用黑毛猪五花肉制作。”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5085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699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33500" y="4673600"/>
            <a:ext cx="450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指定格式 (Format)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51435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规范输出的结构形式，让结果更易读、更实用。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例：“请以‘色泽、口感、香气、回味’为维度，用Markdown表格进行评分。”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159500" y="45085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4699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731000" y="4673600"/>
            <a:ext cx="450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给出示例 (Example)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51435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通过具象的案例演示，降低AI的理解成本，校准输出方向。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例：“例如评价示例：‘色泽红亮诱人，肥瘦肉比例得当，入口软糯即化。’”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实操环节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62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链式思考 CoT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111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让AI像人类一样“思考出声”，将复杂问题拆解为一步步的推理过程，而非直接跳跃到答案，有效解决逻辑难题与多步骤任务。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445000"/>
            <a:ext cx="2870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4572000"/>
            <a:ext cx="2616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提示示例：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“请先不要直接给出答案，而是一步一步地分析这个问题的解题思路，把你的完整推理过程写出来，最后再总结出最终答案。”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2032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349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56200" y="2362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少样本提示 Few-Shot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482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48200" y="3111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在提示词中植入少量“问题-答案”示例，为AI建立明确的任务范式，帮助它快速理解你的输出格式要求、逻辑规则与风格偏好。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48200" y="4445000"/>
            <a:ext cx="2870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775200" y="4572000"/>
            <a:ext cx="2616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📝 提示示例：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“Q: 请用一个成语形容时间快？A: 白驹过隙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Q: 请用一个成语形容心情好？A: 心花怒放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Q: 请用一个成语形容天气热？请按以上格式回答。”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2032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2349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88400" y="2362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复杂任务拆解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2804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80400" y="3111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将大型、模糊的任务（如写报告、做方案）拆解为多个具体的子任务，引导AI分步完成，利用前一步的输出作为后一步的输入，层层递进。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80400" y="4445000"/>
            <a:ext cx="2870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407400" y="4572000"/>
            <a:ext cx="2616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应用场景：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撰写产品文案时，先让AI提炼产品核心卖点，再针对每个卖点生成3个不同风格的短句，最后将这些短句组合成完整的宣传文案。</a:t>
            </a:r>
            <a:endParaRPr lang="en-US" sz="1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实操环节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多模态内容生成教程：图像生成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705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主流生成工具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299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涵盖行业标杆模型：MidJourney（艺术美学）、DALL-E 3（理解与细节）、Stable Diffusion（开源可控），满足多样化创作需求。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540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273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78400" y="2705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黄金提示词公式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97400" y="3175000"/>
            <a:ext cx="299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掌握六维描述法：主体 + 动作状态 + 环境氛围 + 艺术风格 + 光影质感 + 镜头构图。精准的关键词是产出优质画面的核心。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2540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300" y="2730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23300" y="27051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场景描述示例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42300" y="3175000"/>
            <a:ext cx="299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“一只穿着复古宇航服的橘猫，漂浮在布满星云的深邃宇宙中，背景是巨大的蓝色气态行星，采用超现实主义风格，柔和的逆光，电影级宽画幅。”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826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0546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87500" y="50546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课堂互动：打造你的专属视觉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537200"/>
            <a:ext cx="1003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请用3-5句话描述一个你脑海中最独特的场景（无论是奇幻梦境、未来都市还是治愈系风景）。随后，我们将选取创意描述，现场使用AI工具将其转化为可视化图像，见证文字到画面的神奇蜕变！</a:t>
            </a:r>
            <a:endParaRPr lang="en-US"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实操环节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多模态内容生成教程：图像生成</a:t>
            </a:r>
            <a:endParaRPr lang="en-US" sz="1100"/>
          </a:p>
        </p:txBody>
      </p:sp>
      <p:pic>
        <p:nvPicPr>
          <p:cNvPr id="21" name="图片 20" descr="b5643a4ef0c35cac914c5eb461488e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585" y="4010025"/>
            <a:ext cx="3556000" cy="2667000"/>
          </a:xfrm>
          <a:prstGeom prst="rect">
            <a:avLst/>
          </a:prstGeom>
        </p:spPr>
      </p:pic>
      <p:pic>
        <p:nvPicPr>
          <p:cNvPr id="22" name="图片 21" descr="9beb2b31e7ec63ea2bcae2171ebe7da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585" y="706120"/>
            <a:ext cx="3630295" cy="2722880"/>
          </a:xfrm>
          <a:prstGeom prst="rect">
            <a:avLst/>
          </a:prstGeom>
        </p:spPr>
      </p:pic>
      <p:pic>
        <p:nvPicPr>
          <p:cNvPr id="23" name="图片 22" descr="8e5d3aaa5012fdf759e092ad0923d42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445" y="2818765"/>
            <a:ext cx="3635375" cy="272669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实操环节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066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22400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主流生成工具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无需专业拍摄设备，借助前沿AI模型即可将文本转化为动态影像：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eeDance</a:t>
            </a:r>
            <a:endParaRPr lang="en-US" sz="14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006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41900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高效提示词结构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540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精准的指令是生成高质量视频的关键，建议包含四个维度：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[画面主体] + [镜头运镜] + [时长] + [艺术风格]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01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006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61400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画质与风格增强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540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加入专业级参数，显著提升画面的精细度与艺术感：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4K/8K超清 · 60fps流畅帧率 · 电影级灯光渲染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4254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优秀 Prompt 案例解析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699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“夜晚东京涩谷的街头延时摄影，车水马龙化作流光溢彩的光带，镜头从人群特写缓慢向上拉远，展现繁华的城市天际线，4K超高清，赛博朋克色调，电影级质感。”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解析：指令包含了明确的场景、动态、镜头运动、画质要求和艺术风格，细节越丰富，生成效果越精准。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1595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4254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🎬 课堂实战：构思你的视频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4699000"/>
            <a:ext cx="4762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请结合上述公式，构思一个简单的动态场景。例如：“一片火红的枫叶在秋风中缓缓飘落，在空中旋转，最终轻轻地落在铺满落叶的林间小径上，特写镜头，慢动作，温暖治愈的色调。”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行动：现在打开AI视频工具，输入你的Prompt，看看AI会为你创造出怎样的画面！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实操环节</a:t>
            </a:r>
            <a:endParaRPr lang="en-US" sz="1100"/>
          </a:p>
        </p:txBody>
      </p:sp>
      <p:sp>
        <p:nvSpPr>
          <p:cNvPr id="22" name="AutoShape 4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多模态内容生成教程：</a:t>
            </a:r>
            <a:r>
              <a:rPr lang="zh-CN" alt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</a:t>
            </a: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</a:t>
            </a:r>
            <a:endParaRPr lang="en-US" sz="1100"/>
          </a:p>
        </p:txBody>
      </p:sp>
      <p:pic>
        <p:nvPicPr>
          <p:cNvPr id="23" name="77e7d2fcf2985e8426cc72efd66e1c16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62835" y="2527300"/>
            <a:ext cx="7952105" cy="3816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实操环节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349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60500" y="23368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内容出错：AI幻觉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15211">
            <a:off x="10160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16000" y="3111500"/>
            <a:ext cx="28702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这是模型生成的“幻觉”现象，可通过三步法解决：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优化提示词，补充更精准的上下文；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指令AI提供信息来源与引用依据；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对关键信息务必进行人工二次校验。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069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900" y="2349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105400" y="23368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缺乏创意？激活灵感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4"/>
            </p:custDataLst>
          </p:nvPr>
        </p:nvCxnSpPr>
        <p:spPr>
          <a:xfrm rot="-15211">
            <a:off x="46609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660900" y="3111500"/>
            <a:ext cx="28702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想要提升生成内容的独特性与创造力：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在提示词中植入“脑洞大开”等词汇；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赋予AI特定的角色进行沉浸式创作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zh-CN" alt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创意</a:t>
            </a:r>
            <a:endParaRPr lang="zh-CN" alt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0518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05800" y="2349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750300" y="23368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存在偏见？重塑中立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21"/>
            </p:custDataLst>
          </p:nvPr>
        </p:nvCxnSpPr>
        <p:spPr>
          <a:xfrm rot="-15211">
            <a:off x="8305814" y="2914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8305800" y="3111500"/>
            <a:ext cx="28702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偏见源于训练数据的偏差，需主动干预：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明确指令“保持客观中立，拒绝偏见”；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优先选用经过去偏处理的可信模型；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对最终输出内容进行公平性审核修正。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核心法则：清晰的指令描述 + 适当的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调节 + 必要的人工复核 = 优质的AI产出</a:t>
            </a:r>
            <a:endParaRPr lang="en-US" sz="11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实操环节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注册与体验：国内主流AI工具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3622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3368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 (深度求索)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chat.deepseek.com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体验任务：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测试逻辑推理。提问：“小明用五折买了本48元的书，花了24元，计算对吗？请一步步推理并指出潜在问题。”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254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4577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44323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Kimi (月之暗面)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8895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kimi.moonshot.cn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体验任务：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测试长文档理解。上传一篇PDF/文档，提问：“请用200字总结核心内容，并提炼3个关键论点和作者的核心立场。”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实战对比：三个维度检验AI能力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2159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3368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56400" y="2311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维度一：概念通俗化（理解力）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2692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向完全不懂技术的长辈解释“深度学习”，必须使用生活化的比喻（如教孩子认猫），要求生动形象，字数不超过200字。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55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37338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56400" y="3708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维度二：专业赋能（创造力）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4089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“我是一名[你的专业]大二学生，请给我3个具体、可执行的建议，利用AI工具解决我目前在文献阅读、笔记整理或技能练习上的效率问题。”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953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51308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756400" y="5105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维度三：代码与逻辑（严谨性）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13500" y="5486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“用Python写一个程序：接收用户输入的出生年份，计算并输出其2026年的年龄。要求代码规范、有异常处理（如输入非数字的情况）。”</a:t>
            </a:r>
            <a:endParaRPr lang="en-US" sz="11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课程总结与作业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22606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22400" y="22606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AI的70年发展之路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90600" y="2768600"/>
            <a:ext cx="2971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这不仅是技术的演进，更是背后无数科研人员几十年的坚持与迭代，是一场厚积薄发的必然结果。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2032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2606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67300" y="22606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技术与时代的完美共振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768600"/>
            <a:ext cx="2971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ChatGPT的爆发是底层技术突破、极致产品打磨与时代需求的三者合一，缺一不可，成就了现象级的应用。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2032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2260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12200" y="22606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学会“指挥”你的AI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80400" y="2768600"/>
            <a:ext cx="2971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大模型的输出质量取决于Prompt的质量。学会设计精准的指令，是解锁AI无限潜力的关键钥匙。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254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600" y="44831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22400" y="44831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做驾驭AI的掌舵人，而非乘客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90600" y="49911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AI更像是助力前行的电动自行车，而不是自动驾驶汽车。它提供强大的动力，但方向、目标和决策始终需要由你来掌控。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86500" y="4254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15100" y="44831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46900" y="44831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组建你的“AI顾问团”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15100" y="49911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不要依赖单一工具，不同模型各有所长。通过多工具交叉验证，获取更全面、客观的信息，做出更明智的判断。</a:t>
            </a:r>
            <a:endParaRPr lang="en-US" sz="1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课程总结与作业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68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930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大语言模型 (LLM)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299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基于Transformer架构，在海量文本上预训练的模型。核心能力是理解和生成自然语言，是当前AI应用的智能底座与核心引擎。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196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78400" y="1930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预训练 (Pre-training)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97400" y="2413000"/>
            <a:ext cx="299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模型在海量无标签数据上的自监督学习过程。旨在捕捉通用的语言知识、语义规则与世界常识，为后续任务打下坚实基础。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300" y="1968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23300" y="1930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微调 (Fine-tuning)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42300" y="2413000"/>
            <a:ext cx="2997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利用特定任务的有标签数据对预训练模型进行针对性训练。让通用模型快速适配翻译、问答、摘要等具体场景，提升任务表现。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27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318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33500" y="42799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对齐 (Alignment)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7625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使AI行为符合人类价值观、意图与安全准则的过程。核心技术如RLHF（基于人类反馈的强化学习），通过人类偏好优化模型输出，确保其有用、无害且诚实。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127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4318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94500" y="42799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智能体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47625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具备自主理解、规划、决策与工具调用能力的AI系统。它能独立拆解复杂任务、动态选择工具执行，是AI从被动“问答助手”向主动“协作同事”进化的关键形态。</a:t>
            </a:r>
            <a:endParaRPr lang="en-US" sz="11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课程总结与作业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24000" y="2184400"/>
            <a:ext cx="190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AI工具对比笔记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3302000" y="2222500"/>
            <a:ext cx="635000" cy="2794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3302000" y="2222500"/>
            <a:ext cx="63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必做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9"/>
            </p:custDataLst>
          </p:nvPr>
        </p:nvCxnSpPr>
        <p:spPr>
          <a:xfrm rot="-14946">
            <a:off x="1016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1016000" y="2984500"/>
            <a:ext cx="29210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逻辑推理、专业知识、创意写作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三类问题，选取至少3款主流AI工具实测。记录回答差异与特点，撰写一份400字以上的深度分析笔记，总结各工具的优劣与适用场景。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381500" y="1905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355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5143500" y="2184400"/>
            <a:ext cx="190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效率对比实战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6921500" y="2222500"/>
            <a:ext cx="635000" cy="2794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6921500" y="2222500"/>
            <a:ext cx="63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必做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18"/>
            </p:custDataLst>
          </p:nvPr>
        </p:nvCxnSpPr>
        <p:spPr>
          <a:xfrm rot="-14946">
            <a:off x="46355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4635500" y="2984500"/>
            <a:ext cx="29210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选择一项真实的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专业工作任务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，分别用纯人工和AI辅助方式完成。从耗时、成果质量、操作体验三个维度详细记录，输出一份500字以上的对比报告，分析AI带来的效率提升。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8001000" y="1905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55000" y="2159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8763000" y="2184400"/>
            <a:ext cx="190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场景头脑风暴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10541000" y="2222500"/>
            <a:ext cx="635000" cy="279400"/>
          </a:xfrm>
          <a:prstGeom prst="roundRect">
            <a:avLst>
              <a:gd name="adj" fmla="val 0"/>
            </a:avLst>
          </a:prstGeom>
          <a:solidFill>
            <a:srgbClr val="64748B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10541000" y="2222500"/>
            <a:ext cx="63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选做</a:t>
            </a:r>
            <a:endParaRPr lang="en-US" sz="1100"/>
          </a:p>
        </p:txBody>
      </p:sp>
      <p:cxnSp>
        <p:nvCxnSpPr>
          <p:cNvPr id="23" name="Connector 23"/>
          <p:cNvCxnSpPr/>
          <p:nvPr>
            <p:custDataLst>
              <p:tags r:id="rId27"/>
            </p:custDataLst>
          </p:nvPr>
        </p:nvCxnSpPr>
        <p:spPr>
          <a:xfrm rot="-14946">
            <a:off x="8255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>
            <p:custDataLst>
              <p:tags r:id="rId28"/>
            </p:custDataLst>
          </p:nvPr>
        </p:nvSpPr>
        <p:spPr>
          <a:xfrm>
            <a:off x="8255000" y="2984500"/>
            <a:ext cx="29210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结合你的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目标职业方向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（如教育、设计、营销等），发散思维构思至少5个AI创新应用场景。简要描述每个场景的具体价值、落地方式与潜在影响，形成一份创意清单。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588000"/>
            <a:ext cx="10668000" cy="6858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52500" y="56896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学习贴士：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实践是掌握AI的关键。希望大家通过动手实操，不仅掌握工具用法，更能培养出利用AI解决实际问题的思维与能力，期待看到大家的精彩成果！</a:t>
            </a:r>
            <a:endParaRPr lang="en-US" sz="11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课程总结与作业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68500"/>
            <a:ext cx="10668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22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挑战性课后项目：用AI打造一份高质量研究报告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285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984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选题方向：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聚焦前沿领域或社会热点，如“AI赋能教育创新”“新能源汽车市场趋势”等，选择你感兴趣且有探索空间的细分话题。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5016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3873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3810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智能信息聚合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利用ChatGPT、学术数据库等工具，高效检索、筛选并汇总文献、数据与行业动态，建立详实的研究素材库。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159500" y="3683000"/>
            <a:ext cx="5016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3873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94500" y="3810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AI辅助分析梳理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借助AI对碎片化信息进行归类归纳，提炼核心观点，梳理逻辑脉络，挖掘数据背后的趋势与本质问题。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4889500"/>
            <a:ext cx="5016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5080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50165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自动化生成初稿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基于整理好的框架，指令AI生成包含引言、主体分析、结论建议的完整报告大纲与初稿。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59500" y="4889500"/>
            <a:ext cx="5016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0" y="5080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94500" y="50165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人工润色与定稿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对AI初稿进行内容校验、逻辑修正与语言打磨，融入个人思考，最终产出约2000字的高质量报告。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课程总结与作业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挑战性课后项目 (2/2)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3495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项目二：为自己的专业设计一个AI辅助工作流</a:t>
            </a:r>
            <a:r>
              <a:rPr lang="zh-CN" alt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（人在</a:t>
            </a:r>
            <a:r>
              <a:rPr lang="zh-CN" alt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环内）</a:t>
            </a:r>
            <a:endParaRPr lang="zh-CN" altLang="en-US" sz="18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2540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365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3401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痛点深度剖析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810000"/>
            <a:ext cx="2159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梳理专业学习与工作中的核心任务，深挖效率瓶颈与重复性劳动，精准定位亟待AI介入的关键问题与场景。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67100" y="3175000"/>
            <a:ext cx="2540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3365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038600" y="33401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匹配AI工具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57600" y="3810000"/>
            <a:ext cx="2159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调研并筛选功能契合的AI工具，评估其适配性与易用性，确保工具能针对性解决专业痛点，成为高效辅助。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3175000"/>
            <a:ext cx="2540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2700" y="3365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43700" y="33401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构建协作流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62700" y="3810000"/>
            <a:ext cx="2159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设计从任务启动到交付的全链路步骤，清晰界定AI工具在各环节的介入时机与作用，形成人机协同的标准化作业流程。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77300" y="3175000"/>
            <a:ext cx="2540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67800" y="3365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448800" y="33401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成果验证呈现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67800" y="3810000"/>
            <a:ext cx="2159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制作可视化流程图或演示文稿，清晰展示工作流逻辑，并量化预期收益，如效率提升、质量优化等实际价值。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行动指南：将AI技术真正融入专业场景，打造属于你的智能化工作模式，实现从理论到实践的落地。</a:t>
            </a:r>
            <a:endParaRPr lang="en-US" sz="11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99000" y="5080000"/>
            <a:ext cx="2794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524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欢迎随时交流探讨，共同探索未来的无限可能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6.45,&quot;left&quot;:60,&quot;top&quot;:116,&quot;width&quot;:840}"/>
</p:tagLst>
</file>

<file path=ppt/tags/tag2.xml><?xml version="1.0" encoding="utf-8"?>
<p:tagLst xmlns:p="http://schemas.openxmlformats.org/presentationml/2006/main">
  <p:tag name="KSO_WM_DIAGRAM_VIRTUALLY_FRAME" val="{&quot;height&quot;:386.45,&quot;left&quot;:60,&quot;top&quot;:116,&quot;width&quot;:840}"/>
</p:tagLst>
</file>

<file path=ppt/tags/tag3.xml><?xml version="1.0" encoding="utf-8"?>
<p:tagLst xmlns:p="http://schemas.openxmlformats.org/presentationml/2006/main">
  <p:tag name="KSO_WM_DIAGRAM_VIRTUALLY_FRAME" val="{&quot;height&quot;:386.45,&quot;left&quot;:60,&quot;top&quot;:116,&quot;width&quot;:840}"/>
</p:tagLst>
</file>

<file path=ppt/tags/tag4.xml><?xml version="1.0" encoding="utf-8"?>
<p:tagLst xmlns:p="http://schemas.openxmlformats.org/presentationml/2006/main">
  <p:tag name="KSO_WM_DIAGRAM_VIRTUALLY_FRAME" val="{&quot;height&quot;:386.45,&quot;left&quot;:60,&quot;top&quot;:116,&quot;width&quot;:840}"/>
</p:tagLst>
</file>

<file path=ppt/tags/tag5.xml><?xml version="1.0" encoding="utf-8"?>
<p:tagLst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3;您的正文已经经简明扼要，字字珠玑，但信息却千丝万缕、错综复杂，需要用更多。"/>
  <p:tag name="KSO_WM_UNIT_NOCLEAR" val="1"/>
  <p:tag name="KSO_WM_UNIT_VALUE" val="9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7_289*f*1"/>
  <p:tag name="KSO_WM_TEMPLATE_CATEGORY" val="mixed"/>
  <p:tag name="KSO_WM_TEMPLATE_INDEX" val="20201947"/>
  <p:tag name="KSO_WM_UNIT_LAYERLEVEL" val="1"/>
  <p:tag name="KSO_WM_TAG_VERSION" val="1.0"/>
  <p:tag name="KSO_WM_BEAUTIFY_FLAG" val="#wm#"/>
  <p:tag name="KSO_WM_UNIT_TEXTBOXSTYLE_GUID" val="{3074ddb6-70c3-4ce4-8dbc-9a280b31b1b9}"/>
  <p:tag name="KSO_WM_UNIT_TEXTBOXSTYLE_TEMPLATEID" val="3132861"/>
  <p:tag name="KSO_WM_UNIT_TEXTBOXSTYLE_TYPE" val="8"/>
</p:tagLst>
</file>

<file path=ppt/tags/tag6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7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8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9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10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11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12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13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14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15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16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17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18.xml><?xml version="1.0" encoding="utf-8"?>
<p:tagLst xmlns:p="http://schemas.openxmlformats.org/presentationml/2006/main">
  <p:tag name="KSO_WM_DIAGRAM_VIRTUALLY_FRAME" val="{&quot;height&quot;:386.45,&quot;left&quot;:60,&quot;top&quot;:116,&quot;width&quot;:840}"/>
</p:tagLst>
</file>

<file path=ppt/tags/tag19.xml><?xml version="1.0" encoding="utf-8"?>
<p:tagLst xmlns:p="http://schemas.openxmlformats.org/presentationml/2006/main">
  <p:tag name="KSO_WM_DIAGRAM_VIRTUALLY_FRAME" val="{&quot;height&quot;:386.45,&quot;left&quot;:60,&quot;top&quot;:116,&quot;width&quot;:840}"/>
</p:tagLst>
</file>

<file path=ppt/tags/tag20.xml><?xml version="1.0" encoding="utf-8"?>
<p:tagLst xmlns:p="http://schemas.openxmlformats.org/presentationml/2006/main">
  <p:tag name="KSO_WM_DIAGRAM_VIRTUALLY_FRAME" val="{&quot;height&quot;:386.45,&quot;left&quot;:60,&quot;top&quot;:116,&quot;width&quot;:840}"/>
</p:tagLst>
</file>

<file path=ppt/tags/tag21.xml><?xml version="1.0" encoding="utf-8"?>
<p:tagLst xmlns:p="http://schemas.openxmlformats.org/presentationml/2006/main">
  <p:tag name="KSO_WM_DIAGRAM_VIRTUALLY_FRAME" val="{&quot;height&quot;:386.45,&quot;left&quot;:60,&quot;top&quot;:116,&quot;width&quot;:840}"/>
</p:tagLst>
</file>

<file path=ppt/tags/tag22.xml><?xml version="1.0" encoding="utf-8"?>
<p:tagLst xmlns:p="http://schemas.openxmlformats.org/presentationml/2006/main">
  <p:tag name="KSO_WM_DIAGRAM_VIRTUALLY_FRAME" val="{&quot;height&quot;:386.45,&quot;left&quot;:60,&quot;top&quot;:116,&quot;width&quot;:840}"/>
</p:tagLst>
</file>

<file path=ppt/tags/tag23.xml><?xml version="1.0" encoding="utf-8"?>
<p:tagLst xmlns:p="http://schemas.openxmlformats.org/presentationml/2006/main">
  <p:tag name="KSO_WM_DIAGRAM_VIRTUALLY_FRAME" val="{&quot;height&quot;:386.45,&quot;left&quot;:60,&quot;top&quot;:116,&quot;width&quot;:840}"/>
</p:tagLst>
</file>

<file path=ppt/tags/tag24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25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26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27.xml><?xml version="1.0" encoding="utf-8"?>
<p:tagLst xmlns:p="http://schemas.openxmlformats.org/presentationml/2006/main">
  <p:tag name="KSO_WM_DIAGRAM_VIRTUALLY_FRAME" val="{&quot;height&quot;:418,&quot;left&quot;:60,&quot;top&quot;:116,&quot;width&quot;:840}"/>
</p:tagLst>
</file>

<file path=ppt/tags/tag28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29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30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31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32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33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34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35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36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37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38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39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40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41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42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43.xml><?xml version="1.0" encoding="utf-8"?>
<p:tagLst xmlns:p="http://schemas.openxmlformats.org/presentationml/2006/main">
  <p:tag name="KSO_WM_DIAGRAM_VIRTUALLY_FRAME" val="{&quot;height&quot;:206.1,&quot;left&quot;:60,&quot;top&quot;:133.9,&quot;width&quot;:850}"/>
</p:tagLst>
</file>

<file path=ppt/tags/tag44.xml><?xml version="1.0" encoding="utf-8"?>
<p:tagLst xmlns:p="http://schemas.openxmlformats.org/presentationml/2006/main">
  <p:tag name="KSO_WM_DIAGRAM_VIRTUALLY_FRAME" val="{&quot;height&quot;:330,&quot;left&quot;:370,&quot;top&quot;:160,&quot;width&quot;:530}"/>
</p:tagLst>
</file>

<file path=ppt/tags/tag45.xml><?xml version="1.0" encoding="utf-8"?>
<p:tagLst xmlns:p="http://schemas.openxmlformats.org/presentationml/2006/main">
  <p:tag name="KSO_WM_DIAGRAM_VIRTUALLY_FRAME" val="{&quot;height&quot;:330,&quot;left&quot;:370,&quot;top&quot;:160,&quot;width&quot;:530}"/>
</p:tagLst>
</file>

<file path=ppt/tags/tag46.xml><?xml version="1.0" encoding="utf-8"?>
<p:tagLst xmlns:p="http://schemas.openxmlformats.org/presentationml/2006/main">
  <p:tag name="KSO_WM_DIAGRAM_VIRTUALLY_FRAME" val="{&quot;height&quot;:330,&quot;left&quot;:370,&quot;top&quot;:160,&quot;width&quot;:530}"/>
</p:tagLst>
</file>

<file path=ppt/tags/tag47.xml><?xml version="1.0" encoding="utf-8"?>
<p:tagLst xmlns:p="http://schemas.openxmlformats.org/presentationml/2006/main">
  <p:tag name="KSO_WM_DIAGRAM_VIRTUALLY_FRAME" val="{&quot;height&quot;:330,&quot;left&quot;:370,&quot;top&quot;:160,&quot;width&quot;:530}"/>
</p:tagLst>
</file>

<file path=ppt/tags/tag48.xml><?xml version="1.0" encoding="utf-8"?>
<p:tagLst xmlns:p="http://schemas.openxmlformats.org/presentationml/2006/main">
  <p:tag name="KSO_WM_DIAGRAM_VIRTUALLY_FRAME" val="{&quot;height&quot;:330,&quot;left&quot;:370,&quot;top&quot;:160,&quot;width&quot;:530}"/>
</p:tagLst>
</file>

<file path=ppt/tags/tag49.xml><?xml version="1.0" encoding="utf-8"?>
<p:tagLst xmlns:p="http://schemas.openxmlformats.org/presentationml/2006/main">
  <p:tag name="KSO_WM_DIAGRAM_VIRTUALLY_FRAME" val="{&quot;height&quot;:330,&quot;left&quot;:370,&quot;top&quot;:160,&quot;width&quot;:530}"/>
</p:tagLst>
</file>

<file path=ppt/tags/tag50.xml><?xml version="1.0" encoding="utf-8"?>
<p:tagLst xmlns:p="http://schemas.openxmlformats.org/presentationml/2006/main">
  <p:tag name="KSO_WM_DIAGRAM_VIRTUALLY_FRAME" val="{&quot;height&quot;:330,&quot;left&quot;:370,&quot;top&quot;:160,&quot;width&quot;:530}"/>
</p:tagLst>
</file>

<file path=ppt/tags/tag51.xml><?xml version="1.0" encoding="utf-8"?>
<p:tagLst xmlns:p="http://schemas.openxmlformats.org/presentationml/2006/main">
  <p:tag name="KSO_WM_DIAGRAM_VIRTUALLY_FRAME" val="{&quot;height&quot;:330,&quot;left&quot;:370,&quot;top&quot;:160,&quot;width&quot;:530}"/>
</p:tagLst>
</file>

<file path=ppt/tags/tag52.xml><?xml version="1.0" encoding="utf-8"?>
<p:tagLst xmlns:p="http://schemas.openxmlformats.org/presentationml/2006/main">
  <p:tag name="KSO_WM_DIAGRAM_VIRTUALLY_FRAME" val="{&quot;height&quot;:330,&quot;left&quot;:370,&quot;top&quot;:160,&quot;width&quot;:530}"/>
</p:tagLst>
</file>

<file path=ppt/tags/tag53.xml><?xml version="1.0" encoding="utf-8"?>
<p:tagLst xmlns:p="http://schemas.openxmlformats.org/presentationml/2006/main">
  <p:tag name="KSO_WM_DIAGRAM_VIRTUALLY_FRAME" val="{&quot;height&quot;:330,&quot;left&quot;:370,&quot;top&quot;:160,&quot;width&quot;:530}"/>
</p:tagLst>
</file>

<file path=ppt/tags/tag54.xml><?xml version="1.0" encoding="utf-8"?>
<p:tagLst xmlns:p="http://schemas.openxmlformats.org/presentationml/2006/main">
  <p:tag name="KSO_WM_DIAGRAM_VIRTUALLY_FRAME" val="{&quot;height&quot;:313,&quot;left&quot;:15.2,&quot;top&quot;:190,&quot;width&quot;:884.8}"/>
</p:tagLst>
</file>

<file path=ppt/tags/tag55.xml><?xml version="1.0" encoding="utf-8"?>
<p:tagLst xmlns:p="http://schemas.openxmlformats.org/presentationml/2006/main">
  <p:tag name="KSO_WM_DIAGRAM_VIRTUALLY_FRAME" val="{&quot;height&quot;:313,&quot;left&quot;:15.2,&quot;top&quot;:190,&quot;width&quot;:884.8}"/>
</p:tagLst>
</file>

<file path=ppt/tags/tag56.xml><?xml version="1.0" encoding="utf-8"?>
<p:tagLst xmlns:p="http://schemas.openxmlformats.org/presentationml/2006/main">
  <p:tag name="KSO_WM_DIAGRAM_VIRTUALLY_FRAME" val="{&quot;height&quot;:313,&quot;left&quot;:15.2,&quot;top&quot;:190,&quot;width&quot;:884.8}"/>
</p:tagLst>
</file>

<file path=ppt/tags/tag57.xml><?xml version="1.0" encoding="utf-8"?>
<p:tagLst xmlns:p="http://schemas.openxmlformats.org/presentationml/2006/main">
  <p:tag name="KSO_WM_DIAGRAM_VIRTUALLY_FRAME" val="{&quot;height&quot;:313,&quot;left&quot;:15.2,&quot;top&quot;:190,&quot;width&quot;:884.8}"/>
</p:tagLst>
</file>

<file path=ppt/tags/tag58.xml><?xml version="1.0" encoding="utf-8"?>
<p:tagLst xmlns:p="http://schemas.openxmlformats.org/presentationml/2006/main">
  <p:tag name="KSO_WM_DIAGRAM_VIRTUALLY_FRAME" val="{&quot;height&quot;:313,&quot;left&quot;:15.2,&quot;top&quot;:190,&quot;width&quot;:884.8}"/>
</p:tagLst>
</file>

<file path=ppt/tags/tag59.xml><?xml version="1.0" encoding="utf-8"?>
<p:tagLst xmlns:p="http://schemas.openxmlformats.org/presentationml/2006/main">
  <p:tag name="KSO_WM_DIAGRAM_VIRTUALLY_FRAME" val="{&quot;height&quot;:313,&quot;left&quot;:15.2,&quot;top&quot;:190,&quot;width&quot;:884.8}"/>
</p:tagLst>
</file>

<file path=ppt/tags/tag60.xml><?xml version="1.0" encoding="utf-8"?>
<p:tagLst xmlns:p="http://schemas.openxmlformats.org/presentationml/2006/main">
  <p:tag name="KSO_WM_DIAGRAM_VIRTUALLY_FRAME" val="{&quot;height&quot;:313,&quot;left&quot;:15.2,&quot;top&quot;:190,&quot;width&quot;:884.8}"/>
</p:tagLst>
</file>

<file path=ppt/tags/tag61.xml><?xml version="1.0" encoding="utf-8"?>
<p:tagLst xmlns:p="http://schemas.openxmlformats.org/presentationml/2006/main">
  <p:tag name="KSO_WM_DIAGRAM_VIRTUALLY_FRAME" val="{&quot;height&quot;:313,&quot;left&quot;:15.2,&quot;top&quot;:190,&quot;width&quot;:884.8}"/>
</p:tagLst>
</file>

<file path=ppt/tags/tag62.xml><?xml version="1.0" encoding="utf-8"?>
<p:tagLst xmlns:p="http://schemas.openxmlformats.org/presentationml/2006/main">
  <p:tag name="KSO_WM_DIAGRAM_VIRTUALLY_FRAME" val="{&quot;height&quot;:313,&quot;left&quot;:15.2,&quot;top&quot;:190,&quot;width&quot;:884.8}"/>
</p:tagLst>
</file>

<file path=ppt/tags/tag63.xml><?xml version="1.0" encoding="utf-8"?>
<p:tagLst xmlns:p="http://schemas.openxmlformats.org/presentationml/2006/main">
  <p:tag name="KSO_WM_DIAGRAM_VIRTUALLY_FRAME" val="{&quot;height&quot;:313,&quot;left&quot;:15.2,&quot;top&quot;:190,&quot;width&quot;:884.8}"/>
</p:tagLst>
</file>

<file path=ppt/tags/tag64.xml><?xml version="1.0" encoding="utf-8"?>
<p:tagLst xmlns:p="http://schemas.openxmlformats.org/presentationml/2006/main">
  <p:tag name="KSO_WM_DIAGRAM_VIRTUALLY_FRAME" val="{&quot;height&quot;:313,&quot;left&quot;:15.2,&quot;top&quot;:190,&quot;width&quot;:884.8}"/>
</p:tagLst>
</file>

<file path=ppt/tags/tag65.xml><?xml version="1.0" encoding="utf-8"?>
<p:tagLst xmlns:p="http://schemas.openxmlformats.org/presentationml/2006/main">
  <p:tag name="KSO_WM_DIAGRAM_VIRTUALLY_FRAME" val="{&quot;height&quot;:313,&quot;left&quot;:15.2,&quot;top&quot;:190,&quot;width&quot;:884.8}"/>
</p:tagLst>
</file>

<file path=ppt/tags/tag66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67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68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69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70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71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72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73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74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75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76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77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78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79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80.xml><?xml version="1.0" encoding="utf-8"?>
<p:tagLst xmlns:p="http://schemas.openxmlformats.org/presentationml/2006/main">
  <p:tag name="KSO_WM_DIAGRAM_VIRTUALLY_FRAME" val="{&quot;height&quot;:270,&quot;left&quot;:60,&quot;top&quot;:160,&quot;width&quot;:840}"/>
</p:tagLst>
</file>

<file path=ppt/tags/tag81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82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83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84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85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86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87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88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89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90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91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92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93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94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95.xml><?xml version="1.0" encoding="utf-8"?>
<p:tagLst xmlns:p="http://schemas.openxmlformats.org/presentationml/2006/main">
  <p:tag name="KSO_WM_DIAGRAM_VIRTUALLY_FRAME" val="{&quot;height&quot;:290,&quot;left&quot;:60,&quot;top&quot;:160,&quot;width&quot;:840}"/>
</p:tagLst>
</file>

<file path=ppt/tags/tag96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97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98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99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00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01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02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03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04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05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06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07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08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09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10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11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12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13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14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15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ags/tag116.xml><?xml version="1.0" encoding="utf-8"?>
<p:tagLst xmlns:p="http://schemas.openxmlformats.org/presentationml/2006/main">
  <p:tag name="KSO_WM_DIAGRAM_VIRTUALLY_FRAME" val="{&quot;height&quot;:260,&quot;left&quot;:60,&quot;top&quot;:15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19006</Words>
  <Application>WPS 演示</Application>
  <PresentationFormat/>
  <Paragraphs>1138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58</vt:i4>
      </vt:variant>
    </vt:vector>
  </HeadingPairs>
  <TitlesOfParts>
    <vt:vector size="75" baseType="lpstr">
      <vt:lpstr>Arial</vt:lpstr>
      <vt:lpstr>宋体</vt:lpstr>
      <vt:lpstr>Wingdings</vt:lpstr>
      <vt:lpstr>Arial</vt:lpstr>
      <vt:lpstr>Noto Sans SC</vt:lpstr>
      <vt:lpstr>Wingdings 2</vt:lpstr>
      <vt:lpstr>微软雅黑</vt:lpstr>
      <vt:lpstr>Arial Unicode MS</vt:lpstr>
      <vt:lpstr>quote-cjk-patch</vt:lpstr>
      <vt:lpstr>Segoe Print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母江涛</cp:lastModifiedBy>
  <cp:revision>65</cp:revision>
  <dcterms:created xsi:type="dcterms:W3CDTF">2026-08-10T06:28:00Z</dcterms:created>
  <dcterms:modified xsi:type="dcterms:W3CDTF">2026-08-10T11:20:54Z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{"Label":"1","ContentProducer":"001191110102MACQD9K64010000","ProduceID":"7672284037515529404","ReservedCode1":"","ContentPropagator":"","PropagateID":"","ReservedCode2":""}</vt:lpwstr>
  </property>
  <property fmtid="{D5CDD505-2E9C-101B-9397-08002B2CF9AE}" pid="3" name="ICV">
    <vt:lpwstr>63EB1FF6F4BE44F9B26C677A39F7BB3C_12</vt:lpwstr>
  </property>
  <property fmtid="{D5CDD505-2E9C-101B-9397-08002B2CF9AE}" pid="4" name="KSOProductBuildVer">
    <vt:lpwstr>2052-12.1.0.24034</vt:lpwstr>
  </property>
</Properties>
</file>