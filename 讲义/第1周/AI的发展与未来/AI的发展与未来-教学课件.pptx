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AI时代能力培养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面向零基础大学生的AI入门速成课程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C0"/>
                </a:solidFill>
                <a:latin typeface="Microsoft YaHei"/>
              </a:defRPr>
            </a:pPr>
            <a:r>
              <a:t>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Microsoft YaHei"/>
              </a:defRPr>
            </a:pPr>
            <a:r>
              <a:t>第一课：AI的发展与未来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⏱ 总时长：约140分钟  |  8个知识块  |  理论讲解+动手实操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教学理念：会用AI → 懂AI → 会开发AI应用 → 了解AI前沿</a:t>
            </a:r>
            <a:br/>
            <a:r>
              <a:t>📍 课前准备：浏览器 + 邮箱 + DeepSeek账号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第1课 · AI的发展与未来  |  V1.0  | 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本课路线图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8个知识块 · 约140分钟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总览 · 140min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课程导入</a:t>
            </a:r>
            <a:br/>
            <a:r>
              <a:t>与AI初识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讲解+互动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2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AI发展简史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25min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故事化讲解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2303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8023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023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ChatGPT</a:t>
            </a:r>
            <a:br/>
            <a:r>
              <a:t>为什么火了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8023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8023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讲解+讨论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0983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1296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7015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5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大模型</a:t>
            </a:r>
            <a:br/>
            <a:r>
              <a:t>能做什么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7015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7015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讲解+举例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7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AI会不会</a:t>
            </a:r>
            <a:br/>
            <a:r>
              <a:t>取代人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7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15min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7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互动讨论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8968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79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4999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4999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主流AI</a:t>
            </a:r>
            <a:br/>
            <a:r>
              <a:t>工具介绍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4999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10min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4999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快速概览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48272" y="1645920"/>
            <a:ext cx="987552" cy="2011680"/>
          </a:xfrm>
          <a:prstGeom prst="roundRect">
            <a:avLst/>
          </a:prstGeom>
          <a:solidFill>
            <a:srgbClr val="FFE8D0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3992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动手实操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40min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注册+体验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6952" y="242316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27264" y="1645920"/>
            <a:ext cx="987552" cy="2011680"/>
          </a:xfrm>
          <a:prstGeom prst="roundRect">
            <a:avLst/>
          </a:prstGeom>
          <a:solidFill>
            <a:srgbClr val="DBEAFC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72984" y="17190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KB8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72984" y="20574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总结与</a:t>
            </a:r>
            <a:br/>
            <a:r>
              <a:t>作业布置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2984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6A17"/>
                </a:solidFill>
                <a:latin typeface="Microsoft YaHei"/>
              </a:defRPr>
            </a:pPr>
            <a:r>
              <a:t>⏱ 5min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2984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收尾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Microsoft YaHei"/>
              </a:defRPr>
            </a:pPr>
            <a:r>
              <a:t>⏱ 理论讲解：~95min  |  实操环节：~40min  |  机动时间：~5min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教师提示：这张PPT在讲课时保持打开，提醒学生和您当前的进度位置。每讲完一个KB，翻回此页指出已完成的部分。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KB1：课程导入与AI初识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建立对AI的基本认知 + 激发学习兴趣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KB1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KB1 · 15min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0233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🧠 AI是什么？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3749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人工智能 = 让计算机像人一样</a:t>
            </a:r>
            <a:br/>
            <a:br/>
            <a:r>
              <a:t>👁 感知 → 🧠 思考 → 📚 学习 → ✅ 决策</a:t>
            </a:r>
            <a:br/>
            <a:br/>
            <a:r>
              <a:t>💬 核心类比："教小孩认猫"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4023360" cy="12801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🎯 课程学习理念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19072"/>
            <a:ext cx="3749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✦ 会用AI → 懂AI → 会开发AI应用 → 了解AI前沿</a:t>
            </a:r>
            <a:br/>
            <a:r>
              <a:t>✦ 理论30% + 实践70%</a:t>
            </a:r>
            <a:br/>
            <a:r>
              <a:t>✦ "你不是学编程，你是学会用AI解决专业问题"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841248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🔗 AI &gt; ML &gt; DL &gt; LLM （同心圆关系）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8138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AI 人工智能  ← 最大的圈：所有让机器"智能"的技术      │</a:t>
            </a:r>
            <a:br/>
            <a:r>
              <a:t>│  ┌──────────────────────────────┐        │</a:t>
            </a:r>
            <a:br/>
            <a:r>
              <a:t>│  │  ML 机器学习  ← 从数据中学习规律          │        │</a:t>
            </a:r>
            <a:br/>
            <a:r>
              <a:t>│  │  ┌────────────────────┐      │        │</a:t>
            </a:r>
            <a:br/>
            <a:r>
              <a:t>│  │  │  DL 深度学习  ← 多层神经网络    │      │        │</a:t>
            </a:r>
            <a:br/>
            <a:r>
              <a:t>│  │  │  ┌──────────┐     │      │        │</a:t>
            </a:r>
            <a:br/>
            <a:r>
              <a:t>│  │  │  │ LLM 大模型│  ← 超大规模语言模型 │        │</a:t>
            </a:r>
            <a:br/>
            <a:r>
              <a:t>│  │  │  │ GPT/Claude│     │      │        │</a:t>
            </a:r>
            <a:br/>
            <a:r>
              <a:t>│  │  │  └──────────┘     │      │        │</a:t>
            </a:r>
            <a:br/>
            <a:r>
              <a:t>│  │  └────────────────────┘      │        │</a:t>
            </a:r>
            <a:br/>
            <a:r>
              <a:t>│  └──────────────────────────────┘        │</a:t>
            </a:r>
            <a:br/>
            <a:r>
              <a:t>└─────────────────────────────────────────┘</a:t>
            </a:r>
            <a:br/>
            <a:r>
              <a:t>📌 记忆法：AI是大超市，ML是食品区，DL是生鲜区，LLM是和牛专柜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教师提示：此处可提问："你用过哪些AI工具？" 快速举手调查，活跃气氛。预计5分钟互动。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KB1 · AI与人类的对比 + 课程定位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KB1 · 15min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⚡ AI擅长 vs 不擅长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✅ 擅长：</a:t>
            </a:r>
            <a:br/>
            <a:r>
              <a:t>  • 大量重复性任务（永不疲倦）</a:t>
            </a:r>
            <a:br/>
            <a:r>
              <a:t>  • 基于已有知识推理总结</a:t>
            </a:r>
            <a:br/>
            <a:r>
              <a:t>  • 快速生成多种方案变体</a:t>
            </a:r>
            <a:br/>
            <a:r>
              <a:t>  • 多语言、多领域知识整合</a:t>
            </a:r>
            <a:br/>
            <a:br/>
            <a:r>
              <a:t>❌ 不擅长：</a:t>
            </a:r>
            <a:br/>
            <a:r>
              <a:t>  • 真正原创性的创造</a:t>
            </a:r>
            <a:br/>
            <a:r>
              <a:t>  • 需要物理世界经验的操作</a:t>
            </a:r>
            <a:br/>
            <a:r>
              <a:t>  • 承担道德责任</a:t>
            </a:r>
            <a:br/>
            <a:r>
              <a:t>  • 理解组织的隐性文化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🚲 核心类比：电动自行车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"AI是电动自行车，</a:t>
            </a:r>
            <a:br/>
            <a:r>
              <a:t>  不是自动驾驶汽车"</a:t>
            </a:r>
            <a:br/>
            <a:br/>
            <a:r>
              <a:t>🔋 它放大你的力量</a:t>
            </a:r>
            <a:br/>
            <a:r>
              <a:t>🧭 但方向始终由你掌控</a:t>
            </a:r>
            <a:br/>
            <a:br/>
            <a:r>
              <a:t>正确的态度：</a:t>
            </a:r>
            <a:br/>
            <a:r>
              <a:t>不是"恐惧AI取代我"</a:t>
            </a:r>
            <a:br/>
            <a:r>
              <a:t>而是"学会骑这辆电动自行车"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474720"/>
            <a:ext cx="8412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📊 专用AI vs 通用AI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1"/>
            <a:ext cx="8138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专用AI：下棋的不会翻译 → AlphaGo / 翻译模型 / 图像识别模型</a:t>
            </a:r>
            <a:br/>
            <a:r>
              <a:t>通用AI（雏形）：一个模型解决多种任务 → ChatGPT 能聊天/编程/翻译/写诗/做题……</a:t>
            </a:r>
            <a:br/>
            <a:r>
              <a:t>ChatGPT的意义：首次向大众展示了"通用人工智能"的雏形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教师提示：过渡到KB2："那么AI是怎么从专用走到今天的？让我们回到70年前……" 翻下一页。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KB2：AI发展简史（1950-2026）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一部跨越70年的"冰与火之歌"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KB2 · 25min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783080"/>
            <a:ext cx="27432" cy="45720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图灵测试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"机器能思考吗？"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7432" cy="45720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达特茅斯会议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06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"人工智能"正式命名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520440"/>
            <a:ext cx="27432" cy="45720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莱特希尔报告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→ 第一次AI寒冬 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690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1980s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389119"/>
            <a:ext cx="27432" cy="45720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069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专家系统兴起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43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"如果…那么…"规则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5257800"/>
            <a:ext cx="27432" cy="457200"/>
          </a:xfrm>
          <a:prstGeom prst="rect">
            <a:avLst/>
          </a:prstGeom>
          <a:solidFill>
            <a:srgbClr val="37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专家系统崩溃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→ 第二次AI寒冬 ❄️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46304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1997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508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深蓝击败卡斯帕罗夫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1874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AI首次在智力竞技上超越人类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251460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560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60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AlexNet夺冠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9260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🎆 深度学习时代正式开启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566160"/>
            <a:ext cx="4114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611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6118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AlphaGo击败李世石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97763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围棋"最后的人类堡垒"被攻破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4617720"/>
            <a:ext cx="4114800" cy="8229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663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⚡ Transformer论文发表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029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"Attention Is All You Need" — 改变AI历史的8页论文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教师提示：KB2核心教学策略：不是念时间线——而是讲"故事"。重点强调Transformer（2017）是改变一切的节点。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KB2：大模型爆发（2020s-2026）+ 关键启示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KB2 · 25min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02336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🚀 2020s — 大模型爆发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2020 — GPT-3 (1750亿参数)</a:t>
            </a:r>
            <a:br/>
            <a:r>
              <a:t>2022.11 — ChatGPT发布 🔥</a:t>
            </a:r>
            <a:br/>
            <a:r>
              <a:t>          → 2个月破1亿用户</a:t>
            </a:r>
            <a:br/>
            <a:r>
              <a:t>2023 — GPT-4/Claude/Gemini → 百模大战</a:t>
            </a:r>
            <a:br/>
            <a:r>
              <a:t>2024 — 多模态成熟 + MCP协议</a:t>
            </a:r>
            <a:br/>
            <a:r>
              <a:t>2025 — Coding Agent成熟</a:t>
            </a:r>
            <a:br/>
            <a:r>
              <a:t>         Claude Code/Codex</a:t>
            </a:r>
            <a:br/>
            <a:r>
              <a:t>2026 — Agent工程化落地时代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402336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📌 四大关键启示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1️⃣ AI不是一蹴而就 — 72年积累</a:t>
            </a:r>
            <a:br/>
            <a:r>
              <a:t>2️⃣ 两次寒冬教会我们谦逊</a:t>
            </a:r>
            <a:br/>
            <a:r>
              <a:t>   过度乐观 → 现实打击 → 经费削减</a:t>
            </a:r>
            <a:br/>
            <a:r>
              <a:t>3️⃣ Transformer是"奇点"</a:t>
            </a:r>
            <a:br/>
            <a:r>
              <a:t>   2017年的8页论文开启现代LLM时代</a:t>
            </a:r>
            <a:br/>
            <a:r>
              <a:t>4️⃣ 2022 = AI民主化元年</a:t>
            </a:r>
            <a:br/>
            <a:r>
              <a:t>   ChatGPT之前：AI属于少数精英</a:t>
            </a:r>
            <a:br/>
            <a:r>
              <a:t>   ChatGPT之后：AI属于所有人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841248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🎯 1950-2026 AI发展时间线全景速查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81381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1950       1956     1973    1980s    1987     1997        2012      2016      2017         2020      2022.11      2026</a:t>
            </a:r>
            <a:br/>
            <a:r>
              <a:t>图灵测试 → 达特茅斯 → 寒冬1 → 专家系统 → 寒冬2 → 深蓝夺冠 → AlexNet → AlphaGo → ⚡Transformer → GPT-3 → ChatGPT 🔥 → Agent时代</a:t>
            </a:r>
            <a:br/>
            <a:r>
              <a:t>  AI诞生    命名      ❄️    小春天     ❄️    专用AI      DL崛起    围棋    改变一切      大模型     AI民主化      工程落地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教师提示：此处可做互动："请把左边的事件和右边的年份连线"（PPT翻页后展示答案）。预计2分钟。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KB3：ChatGPT为什么火了？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五大原因 —— 一场"完美风暴"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KB3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554480"/>
            <a:ext cx="16459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1️⃣ 能力泛化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一个模型解决多种问题</a:t>
            </a:r>
            <a:br/>
            <a:r>
              <a:t>从"专才"到"通才"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→ 瑞士军刀 → 全能助手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1554480"/>
            <a:ext cx="16459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645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2️⃣ 交互自然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打字聊天 — 每个人天生就会</a:t>
            </a:r>
            <a:br/>
            <a:r>
              <a:t>零学习成本 = 破圈关键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→ 不需要学任何命令/API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1554480"/>
            <a:ext cx="16459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1645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3️⃣ 门槛极低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打开浏览器就能用</a:t>
            </a:r>
            <a:br/>
            <a:r>
              <a:t>免费版可用 支持50+语言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→ 对比：以前AI需GPU+编程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9824" y="1554480"/>
            <a:ext cx="16459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1645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4️⃣ 效果惊艳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通过USMLE医学执照</a:t>
            </a:r>
            <a:br/>
            <a:r>
              <a:t>通过BAR律师资格</a:t>
            </a:r>
            <a:br/>
            <a:r>
              <a:t>多项编程竞赛排名前列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→ "AI的智能到底有多高？"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72" y="1554480"/>
            <a:ext cx="16459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645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5️⃣ 时机成熟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1488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云计算普及 + 互联网数据积累</a:t>
            </a:r>
            <a:br/>
            <a:r>
              <a:t>GPU算力1000倍提升</a:t>
            </a:r>
            <a:br/>
            <a:r>
              <a:t>社交媒体病毒传播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→ 技术+产品+时机的完美结合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931920"/>
            <a:ext cx="841248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050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💡 关键洞察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7939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ChatGPT最重要的贡献：让全人类（不仅是技术人员）都意识到AI时代的到来 —— "AI的iPhone时刻"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846320"/>
            <a:ext cx="841248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194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📊 增长对比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9379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ChatGPT: 2个月破1亿用户  |  TikTok: 9个月  |  Instagram: 2.5年  |  →  史上增长最快的消费级应用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教师提示：此处可互动："过去一年，ChatGPT（或类似AI）改变了你的生活或学习吗？" 1分钟快速分享。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KB4：大模型能够做什么？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12项核心能力 + 你的专业场景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KB4 · 15min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📝 文本生成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写文章/方案/报告/邮件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💻 代码编写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写代码/Debug/代码翻译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🌍 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多语言互译·学术级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📄 总结摘要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长文提炼要点·300字总结20页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🎓 知识问答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私人导师·解释任何概念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💡 创意生成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43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头脑风暴·10个毕业选题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📊 数据分析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处理Excel·找异常·画图表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🖼 图像理解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9377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识别图片·分析设计风格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📽 PPT大纲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生成演示文稿结构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📚 文献综述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43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梳理研究脉络·写综述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📐 公式推导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解释公式的物理含义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✓ 方案评估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9377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多维度分析方案优缺点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教师提示：此处应放慢节奏，挑3-4个与班上专业最相关的能力展开举例。12个能力不用全念。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KB4：分专业AI应用场景举例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让学生从自己专业的角度看到AI的实用性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KB4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651760" cy="3657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🔧 工程设计/机械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课程设计初始方案构思</a:t>
            </a:r>
            <a:br/>
            <a:r>
              <a:t>• 技术文档撰写和润色</a:t>
            </a:r>
            <a:br/>
            <a:r>
              <a:t>• 材料选择初步建议</a:t>
            </a:r>
            <a:br/>
            <a:r>
              <a:t>• 实验数据整理和分析</a:t>
            </a:r>
            <a:br/>
            <a:r>
              <a:t>• 代码编写（Python/MATLAB）</a:t>
            </a:r>
            <a:br/>
            <a:br/>
            <a:r>
              <a:t>💬 "帮我写一份齿轮减速器</a:t>
            </a:r>
            <a:br/>
            <a:r>
              <a:t>  设计计算说明书"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71600"/>
            <a:ext cx="2651760" cy="3657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🏗 土木工程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719072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施工组织设计方案框架</a:t>
            </a:r>
            <a:br/>
            <a:r>
              <a:t>• 工程量辅助估算</a:t>
            </a:r>
            <a:br/>
            <a:r>
              <a:t>• 规范条文快速检索</a:t>
            </a:r>
            <a:br/>
            <a:r>
              <a:t>• 项目报告模板生成</a:t>
            </a:r>
            <a:br/>
            <a:r>
              <a:t>• 结构分析概念辅助学习</a:t>
            </a:r>
            <a:br/>
            <a:br/>
            <a:r>
              <a:t>💬 "解释一下这个结构力学</a:t>
            </a:r>
            <a:br/>
            <a:r>
              <a:t>  公式每一步的物理含义"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51760" cy="3657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🎨 建筑/艺术设计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设计概念灵感发散</a:t>
            </a:r>
            <a:br/>
            <a:r>
              <a:t>• 设计说明文档撰写</a:t>
            </a:r>
            <a:br/>
            <a:r>
              <a:t>• Mood Board色彩搭配</a:t>
            </a:r>
            <a:br/>
            <a:r>
              <a:t>• 设计风格分析</a:t>
            </a:r>
            <a:br/>
            <a:r>
              <a:t>• 作品集文案优化</a:t>
            </a:r>
            <a:br/>
            <a:br/>
            <a:r>
              <a:t>💬 "给我5个现代简约风格的</a:t>
            </a:r>
            <a:br/>
            <a:r>
              <a:t>  咖啡厅设计概念方向"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教师提示：这是KB4最关键的部分 — 学生看到自己专业的名字会自然集中注意力。根据班级实际专业分布调整展开深度。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KB5：AI会不会取代人？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坦诚面对焦虑，理性分析 + 行动方向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KB5 · 15min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02336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🎯 核心论点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"AI取代的是具体任务，</a:t>
            </a:r>
            <a:br/>
            <a:r>
              <a:t>  不是完整职业。"</a:t>
            </a:r>
            <a:br/>
            <a:br/>
            <a:r>
              <a:t>例：建筑设计师 = 100+项任务</a:t>
            </a:r>
            <a:br/>
            <a:r>
              <a:t>  AI能帮：画图/写方案/日照分析（5-10项）</a:t>
            </a:r>
            <a:br/>
            <a:r>
              <a:t>  AI做不到：客户沟通/审美判断/现场决策/签字负责</a:t>
            </a:r>
            <a:br/>
            <a:br/>
            <a:r>
              <a:t>"会用AI的人会取代不会用AI的人"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402336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🚲 电动自行车类比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19072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"AI是电动自行车，</a:t>
            </a:r>
            <a:br/>
            <a:r>
              <a:t>  不是自动驾驶汽车"</a:t>
            </a:r>
            <a:br/>
            <a:br/>
            <a:r>
              <a:t>🔋 它放大你的力量</a:t>
            </a:r>
            <a:br/>
            <a:r>
              <a:t>    → 跑得更快、更远</a:t>
            </a:r>
            <a:br/>
            <a:r>
              <a:t>🧭 但你掌控方向</a:t>
            </a:r>
            <a:br/>
            <a:r>
              <a:t>    → 去哪、怎么走、何时停</a:t>
            </a:r>
            <a:br/>
            <a:br/>
            <a:r>
              <a:t>不是恐惧AI → 而是学会骑它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841248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📜 历史规律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8138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蒸汽机 → 淘汰手工纺织工 → 创造了铁路工程师、机械师  |  电力 → 淘汰煤气灯点灯人 → 创造了电工、电气工程师</a:t>
            </a:r>
            <a:br/>
            <a:r>
              <a:t>计算机 → 淘汰打字员 → 创造了程序员、UI设计师  |  互联网 → 淘汰部分零售店员 → 创造了电商运营、新媒体</a:t>
            </a:r>
            <a:br/>
            <a:br/>
            <a:r>
              <a:t>🔑 规律：技术淘汰"可被标准化的重复性工作"，创造"需要人类判断力、创造力和情感智慧的工作"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663440"/>
            <a:ext cx="8412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3659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📋 给大学生的四条建议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10912"/>
            <a:ext cx="8138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1. 不要和AI比效率  |  2. 把AI当作"初级助手"  |  3. 培养AI做不了的能力（批判性思维/跨领域整合/审美判断/人际沟通）  |  4. 学好AI工具（不是可选项，是必选项）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教师提示：这个板块语气要诚恳但积极。核心："把焦虑转化为行动"。如果学生质疑"AI已经有创造力了"，用Midjourney做例子回应。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KB6：主流AI工具介绍与选择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国际六大工具 + 国内补充 + 决策树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KB6 · 10min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463040"/>
            <a:ext cx="1389888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综合最强·生态完善</a:t>
            </a:r>
            <a:br/>
            <a:r>
              <a:t>$20/月·需特殊网络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1463040"/>
            <a:ext cx="1389888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9928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编程最强·长文分析</a:t>
            </a:r>
            <a:br/>
            <a:r>
              <a:t>$20/月·需特殊网络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9816" y="1463040"/>
            <a:ext cx="1389888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多模态最强·生态整合</a:t>
            </a:r>
            <a:br/>
            <a:r>
              <a:t>$20/月·需特殊网络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81144" y="1463040"/>
            <a:ext cx="1389888" cy="155448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⭐DeepSeek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深度求索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完全免费·中文极佳</a:t>
            </a:r>
            <a:br/>
            <a:r>
              <a:t>代码强·国内直连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2472" y="1463040"/>
            <a:ext cx="1389888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Kimi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月之暗面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200万字上下文</a:t>
            </a:r>
            <a:br/>
            <a:r>
              <a:t>论文利器·国内直连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1463040"/>
            <a:ext cx="1389888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508760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Perplexity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78308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69696"/>
                </a:solidFill>
                <a:latin typeface="Microsoft YaHei"/>
              </a:defRPr>
            </a:pPr>
            <a:r>
              <a:t>Perplexity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11680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Microsoft YaHei"/>
              </a:defRPr>
            </a:pPr>
            <a:r>
              <a:t>AI搜索引擎</a:t>
            </a:r>
            <a:br/>
            <a:r>
              <a:t>带引用来源·需特殊网络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" y="3246120"/>
            <a:ext cx="438912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319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🇨🇳 其他国内工具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593591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通义千问（阿里）- 阿里生态·免费</a:t>
            </a:r>
            <a:br/>
            <a:r>
              <a:t>• 豆包（字节）- 语音交互好·免费</a:t>
            </a:r>
            <a:br/>
            <a:r>
              <a:t>• 文心一言（百度）- 百度生态·免费</a:t>
            </a:r>
            <a:br/>
            <a:br/>
            <a:r>
              <a:t>💰 零成本方案：</a:t>
            </a:r>
            <a:br/>
            <a:r>
              <a:t>DeepSeek + Kimi + 通义千问 + 豆包</a:t>
            </a:r>
            <a:br/>
            <a:r>
              <a:t>四个全免费·国内全直连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246120"/>
            <a:ext cx="420624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3192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🧭 选择决策树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593591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🖥 写代码 → Claude / DeepSeek</a:t>
            </a:r>
            <a:br/>
            <a:r>
              <a:t>📖 读论文 → Kimi（200万字）</a:t>
            </a:r>
            <a:br/>
            <a:r>
              <a:t>🔍 查最新信息 → Perplexity</a:t>
            </a:r>
            <a:br/>
            <a:r>
              <a:t>🖼 处理图片/视频 → Gemini</a:t>
            </a:r>
            <a:br/>
            <a:r>
              <a:t>🇨🇳 国内方便 → DeepSeek（首选）</a:t>
            </a:r>
            <a:br/>
            <a:r>
              <a:t>💰 全免费 → DeepSeek+Kimi+通义+豆包</a:t>
            </a:r>
            <a:br/>
            <a:br/>
            <a:r>
              <a:t>⚠️ 最重要：不要只用一个AI！</a:t>
            </a:r>
            <a:br/>
            <a:r>
              <a:t>组建你的"AI顾问团"，交叉验证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教师提示：节奏要快！10分钟讲完。重点推荐DeepSeek作为学生首选工具（免费+国内直连+中文好）。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KB7：动手实操 — 注册与体验AI工具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本课最重要的环节！40分钟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KB7 · 40min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463040"/>
            <a:ext cx="1389888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注册ChatGPT</a:t>
            </a:r>
            <a:br/>
            <a:r>
              <a:t>(15min)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无法访问→跳过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8488" y="1463040"/>
            <a:ext cx="1389888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注册Claude</a:t>
            </a:r>
            <a:br/>
            <a:r>
              <a:t>(15min)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无法访问→跳过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9816" y="1463040"/>
            <a:ext cx="1389888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注册Gemini</a:t>
            </a:r>
            <a:br/>
            <a:r>
              <a:t>(10min)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无法访问→跳过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1144" y="1463040"/>
            <a:ext cx="1389888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4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体验Perplexity</a:t>
            </a:r>
            <a:br/>
            <a:r>
              <a:t>(10min)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无法访问→跳过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3016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2472" y="1463040"/>
            <a:ext cx="1389888" cy="1463040"/>
          </a:xfrm>
          <a:prstGeom prst="roundRect">
            <a:avLst/>
          </a:prstGeom>
          <a:solidFill>
            <a:srgbClr val="FFE8D0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⭐ 注册国内AI</a:t>
            </a:r>
            <a:br/>
            <a:r>
              <a:t>(10min)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DeepSeek·Kimi·通义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1463040"/>
            <a:ext cx="1389888" cy="1463040"/>
          </a:xfrm>
          <a:prstGeom prst="roundRect">
            <a:avLst/>
          </a:prstGeom>
          <a:solidFill>
            <a:srgbClr val="FFE8D0"/>
          </a:solidFill>
          <a:ln w="254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508760"/>
            <a:ext cx="12070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A17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1737360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⭐ 对比测试</a:t>
            </a:r>
            <a:br/>
            <a:r>
              <a:t>(最后完成)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331720"/>
            <a:ext cx="1207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5A5A"/>
                </a:solidFill>
                <a:latin typeface="Microsoft YaHei"/>
              </a:defRPr>
            </a:pPr>
            <a:r>
              <a:t>同一问题→多个AI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" y="3108960"/>
            <a:ext cx="438912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🔗 快速链接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456432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ChatGPT:   chatgpt.com</a:t>
            </a:r>
            <a:br/>
            <a:r>
              <a:t>Claude:    claude.ai</a:t>
            </a:r>
            <a:br/>
            <a:r>
              <a:t>Gemini:    gemini.google.com</a:t>
            </a:r>
            <a:br/>
            <a:r>
              <a:t>Perplexity: perplexity.ai</a:t>
            </a:r>
            <a:br/>
            <a:r>
              <a:t>⭐ DeepSeek: chat.deepseek.com</a:t>
            </a:r>
            <a:br/>
            <a:r>
              <a:t>Kimi:      kimi.moonshot.cn</a:t>
            </a:r>
            <a:br/>
            <a:r>
              <a:t>通义千问:   tongyi.aliyun.com</a:t>
            </a:r>
            <a:br/>
            <a:r>
              <a:t>豆包:      doubao.com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108960"/>
            <a:ext cx="4206240" cy="1463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3182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🎯 每个学生的最低目标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456432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✅ 至少成功注册1个AI工具</a:t>
            </a:r>
            <a:br/>
            <a:r>
              <a:t>   （推荐DeepSeek — 免费+国内直连）</a:t>
            </a:r>
            <a:br/>
            <a:br/>
            <a:r>
              <a:t>✅ 完成对比测试：</a:t>
            </a:r>
            <a:br/>
            <a:r>
              <a:t>   同一组问题 → 至少2个不同的AI</a:t>
            </a:r>
            <a:br/>
            <a:r>
              <a:t>   对比回答质量，记录差异</a:t>
            </a:r>
            <a:br/>
            <a:br/>
            <a:r>
              <a:t>⏱ 如果快：多注册几个工具</a:t>
            </a:r>
            <a:br/>
            <a:r>
              <a:t>⏱ 如果慢：只做DeepSeek + 对比测试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教师提示：实操期间教师不停在教室走动！看谁在皱眉/迷茫/卡住了。"注册不了就跳过"要用行动而非口头上落实。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KB7：对比测试 + 教师巡查指南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KB7 · 40min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402336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🧪 统一测试Prompt（复制粘贴）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749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Q1: 请用200字以内解释什么是"结构力学"。</a:t>
            </a:r>
            <a:br/>
            <a:br/>
            <a:r>
              <a:t>Q2: 一个工程设计师在日常工作中</a:t>
            </a:r>
            <a:br/>
            <a:r>
              <a:t>    如何使用AI提高效率？</a:t>
            </a:r>
            <a:br/>
            <a:r>
              <a:t>    请列出5个具体场景。</a:t>
            </a:r>
            <a:br/>
            <a:br/>
            <a:r>
              <a:t>Q3: 用Python写一个计算BMI的小程序</a:t>
            </a:r>
            <a:br/>
            <a:r>
              <a:t>    （输入身高m和体重kg，</a:t>
            </a:r>
            <a:br/>
            <a:r>
              <a:t>      输出BMI值和健康分级）。</a:t>
            </a:r>
            <a:br/>
            <a:br/>
            <a:r>
              <a:t>📋 发给至少2个不同的AI，记录对比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402336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🔍 教师巡查五要点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19072"/>
            <a:ext cx="3749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1. 有没有人眉头紧锁/发呆？</a:t>
            </a:r>
            <a:br/>
            <a:r>
              <a:t>   → 主动走过去："遇到什么问题？"</a:t>
            </a:r>
            <a:br/>
            <a:r>
              <a:t>2. 有没有人卡在注册验证码？</a:t>
            </a:r>
            <a:br/>
            <a:r>
              <a:t>   → 立刻建议切换到DeepSeek</a:t>
            </a:r>
            <a:br/>
            <a:r>
              <a:t>3. 有没有人注册完了不知道干什么？</a:t>
            </a:r>
            <a:br/>
            <a:r>
              <a:t>   → 把测试Prompt发给他</a:t>
            </a:r>
            <a:br/>
            <a:r>
              <a:t>4. 有没有人AI回答看不懂？</a:t>
            </a:r>
            <a:br/>
            <a:r>
              <a:t>   → 教他追问："用更简单的语言解释"</a:t>
            </a:r>
            <a:br/>
            <a:r>
              <a:t>5. 有没有人很快就完成了所有步骤？</a:t>
            </a:r>
            <a:br/>
            <a:r>
              <a:t>   → 让他帮助旁边的同学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931920"/>
            <a:ext cx="8412480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050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⏱ 时间弹性方案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79392"/>
            <a:ext cx="8138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如果时间充裕（50min）：让学生多问几个问题，深度体验AI工具的高级功能（文件上传、联网搜索等）</a:t>
            </a:r>
            <a:br/>
            <a:r>
              <a:t>如果时间紧张（30min）：砍掉Step 2-4（国外工具），全员只做 DeepSeek + 对比测试</a:t>
            </a:r>
            <a:br/>
            <a:r>
              <a:t>💡 口诀："境外工具全跳过，DeepSeek必须搞"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03520"/>
            <a:ext cx="8412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766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🆘 备用方案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50992"/>
            <a:ext cx="813815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全班网络大面积故障 → 切换到"全国内工具"方案（DeepSeek + Kimi + 通义千问）  |  断网极端情况 → 让学生打开手机热点，或布置为课后作业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教师提示：不要让任何一个学生在"注册不了"这件事上消耗超过2分钟。立刻给替代方案。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KB8：课程总结与作业布置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巩固核心认知 + 明确下周任务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KB8 · 5min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📌 本课五句话核心回顾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1️⃣ AI发展是一条70年的路，</a:t>
            </a:r>
            <a:br/>
            <a:r>
              <a:t>   不是一夜之间冒出来的</a:t>
            </a:r>
            <a:br/>
            <a:br/>
            <a:r>
              <a:t>2️⃣ ChatGPT = 技术突破 + 产品设计</a:t>
            </a:r>
            <a:br/>
            <a:r>
              <a:t>   + 时代机遇的完美结合</a:t>
            </a:r>
            <a:br/>
            <a:br/>
            <a:r>
              <a:t>3️⃣ 大模型能做的事情远超你想象</a:t>
            </a:r>
            <a:br/>
            <a:r>
              <a:t>   — 但需要你学会"指挥"它</a:t>
            </a:r>
            <a:br/>
            <a:br/>
            <a:r>
              <a:t>4️⃣ AI是电动自行车，不是自动驾驶</a:t>
            </a:r>
            <a:br/>
            <a:r>
              <a:t>   — 你掌握方向</a:t>
            </a:r>
            <a:br/>
            <a:br/>
            <a:r>
              <a:t>5️⃣ 不要只用一种AI</a:t>
            </a:r>
            <a:br/>
            <a:r>
              <a:t>   — 组建你的"AI顾问团"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402336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7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4447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7ABF"/>
                </a:solidFill>
                <a:latin typeface="Microsoft YaHei"/>
              </a:defRPr>
            </a:pPr>
            <a:r>
              <a:t>📚 关键概念速查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19072"/>
            <a:ext cx="3749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图灵测试：对话中分不清人还是机器</a:t>
            </a:r>
            <a:br/>
            <a:r>
              <a:t>Transformer：所有现代LLM的基础架构</a:t>
            </a:r>
            <a:br/>
            <a:r>
              <a:t>LLM：用海量文本训练的超大神经网络</a:t>
            </a:r>
            <a:br/>
            <a:r>
              <a:t>Prompt：你发给AI的指令/问题</a:t>
            </a:r>
            <a:br/>
            <a:r>
              <a:t>AI幻觉：AI一本正经地编造虚假信息</a:t>
            </a:r>
            <a:br/>
            <a:r>
              <a:t>Agent：能自主规划、使用工具的AI系统</a:t>
            </a:r>
            <a:br/>
            <a:r>
              <a:t>MCP：让AI安全调用外部工具的协议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474720"/>
            <a:ext cx="84124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4787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📝 课后作业（截止：下次上课前一天 22:00）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22191"/>
            <a:ext cx="81381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作业1（必做）：AI工具对比笔记 — 3个问题 × 3个工具，≥400字，记录每个回答的优缺点</a:t>
            </a:r>
            <a:br/>
            <a:r>
              <a:t>作业2（必做）：传统方法 vs AI方法效率对比 — 选一个本专业真实问题，两种方式解决，记录时间/质量/信任度</a:t>
            </a:r>
            <a:br/>
            <a:r>
              <a:t>作业3（选做·推荐）：AI应用场景头脑风暴 — 列出5+个你未来工作中可以用AI提效的场景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86400"/>
            <a:ext cx="8412480" cy="548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559552"/>
            <a:ext cx="8138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🔮 下节课预告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33872"/>
            <a:ext cx="81381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Prompt Engineering（提示词工程）— RCTE框架 · 论文写作 · 代码编写 · PPT制作 · 方案设计 全部AI辅助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6035040"/>
            <a:ext cx="8595360" cy="411480"/>
          </a:xfrm>
          <a:prstGeom prst="roundRect">
            <a:avLst/>
          </a:prstGeom>
          <a:solidFill>
            <a:srgbClr val="FF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E86A17"/>
                </a:solidFill>
                <a:latin typeface="Microsoft YaHei"/>
              </a:defRPr>
            </a:pPr>
            <a:r>
              <a:t>💡 教师提示：5分钟收尾要快但不仓促。结束语要有仪式感："欢迎大家来到AI时代——这一次，你不是旁观者。"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Microsoft YaHei"/>
              </a:defRPr>
            </a:pPr>
            <a:r>
              <a:t>附录：本课关键概念速查表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5A"/>
                </a:solidFill>
                <a:latin typeface="Microsoft YaHei"/>
              </a:defRPr>
            </a:pPr>
            <a:r>
              <a:t>讲课过程中如有学生提问概念，可快速翻到此页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"/>
            <a:ext cx="1463040" cy="3200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 参考 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AI（人工智能）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让计算机像人一样感知、思考、学习、决策的技术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图灵测试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如果机器能在对话中让人分不清它是人还是机器，就说明它有智能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926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2017年提出的神经网络架构，所有现代大语言模型（GPT/Claude/Gemini）的基础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7033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大语言模型（LLM）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用海量文本数据训练的超大型神经网络，能理解和生成人类语言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4480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OpenAI于2022年11月发布的对话式AI产品，引爆了全球AI浪潮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Prompt（提示词）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57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你发给AI的指令/问题（下周深入学习Prompt Engineering）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371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多模态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716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AI能同时处理文本、图片、音频、视频等多种类型的信息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AI幻觉（Hallucination）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AI一本正经地编造不真实的信息——大模型的主要局限性之一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26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Agent（智能体）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能自主规划、使用工具、完成复杂任务的AI系统（第7周重点学习）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033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03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Model Context Protocol，让AI能够安全调用外部工具的协议标准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480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专用AI vs 通用AI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专用AI只做一件事（如下棋），通用AI能处理多种任务（如ChatGPT）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257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AI民主化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257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— 2022年ChatGPT之后，AI从少数技术精英的工具变成所有人的工具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AI时代能力培养 · 第1课：AI的发展与未来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69696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9144000" cy="2743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D2D2D"/>
                </a:solidFill>
                <a:latin typeface="Microsoft YaHei"/>
              </a:defRPr>
            </a:pPr>
            <a:r>
              <a:t>72年前，图灵问：机器能思考吗？</a:t>
            </a:r>
            <a:br/>
            <a:r>
              <a:t>今天，你自己来回答这个问题。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欢迎大家来到AI时代</a:t>
            </a:r>
            <a:br/>
            <a:r>
              <a:t>这一次，你不是旁观者。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📅 下次课时间：[待定]  |  📍 [教室/线上链接]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D0E0"/>
                </a:solidFill>
                <a:latin typeface="Microsoft YaHei"/>
              </a:defRPr>
            </a:pPr>
            <a:r>
              <a:t>📋 作业截止：下次上课前一天 22:00  |  ❓ 课程群：[群名/群号]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D0E0"/>
                </a:solidFill>
                <a:latin typeface="Microsoft YaHei"/>
              </a:defRPr>
            </a:pPr>
            <a:r>
              <a:t>💬 课后有任何问题？用你刚注册的AI工具搜索答案！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B0C0"/>
                </a:solidFill>
                <a:latin typeface="Microsoft YaHei"/>
              </a:defRPr>
            </a:pPr>
            <a:r>
              <a:t>AI时代能力培养 · 第1课  |  V1.0  | 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