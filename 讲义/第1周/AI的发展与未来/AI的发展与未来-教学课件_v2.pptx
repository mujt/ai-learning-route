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AI时代能力培养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Microsoft YaHei"/>
              </a:defRPr>
            </a:pPr>
            <a:r>
              <a:t>面向零基础学习者和企业管理者的AI入门课程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A0C0"/>
                </a:solidFill>
                <a:latin typeface="Microsoft YaHei"/>
              </a:defRPr>
            </a:pPr>
            <a:r>
              <a:t>━━━━━━━━━━━━━━━━━━━━━━━━━━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56DB"/>
                </a:solidFill>
                <a:latin typeface="Microsoft YaHei"/>
              </a:defRPr>
            </a:pPr>
            <a:r>
              <a:t>第一课：AI的发展与未来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Microsoft YaHei"/>
              </a:defRPr>
            </a:pPr>
            <a:r>
              <a:t>⏱ 总时长：约140分钟  |  8个知识块  |  理论+实操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5A"/>
                </a:solidFill>
                <a:latin typeface="Microsoft YaHei"/>
              </a:defRPr>
            </a:pPr>
            <a:r>
              <a:t>教学理念：会用AI → 懂AI → 会开发AI应用 → 了解AI前沿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5A5A5A"/>
                </a:solidFill>
                <a:latin typeface="Microsoft YaHei"/>
              </a:defRPr>
            </a:pPr>
            <a:r>
              <a:t>💼 企业视角 + 🎓 学生视角 双轨并行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© 2026  |  讲义配套课件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本课路线图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8个知识块 · 约140分钟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463040"/>
            <a:ext cx="1005840" cy="2103120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5361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KB1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82880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课程导入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与AI初识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6060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6A17"/>
                </a:solidFill>
                <a:latin typeface="Microsoft YaHei"/>
              </a:defRPr>
            </a:pPr>
            <a:r>
              <a:t>⏱ 15min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讲解+互动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860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1463040"/>
            <a:ext cx="1005840" cy="2103120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15361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KB2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82880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AI发展简史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6060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6A17"/>
                </a:solidFill>
                <a:latin typeface="Microsoft YaHei"/>
              </a:defRPr>
            </a:pPr>
            <a:r>
              <a:t>⏱ 25min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故事化讲解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2860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1463040"/>
            <a:ext cx="1005840" cy="2103120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15361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KB3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82880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ChatGPT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为什么火了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26060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6A17"/>
                </a:solidFill>
                <a:latin typeface="Microsoft YaHei"/>
              </a:defRPr>
            </a:pPr>
            <a:r>
              <a:t>⏱ 15min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讲解+讨论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22860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1463040"/>
            <a:ext cx="1005840" cy="2103120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39" y="15361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KB4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39" y="182880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大模型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能做什么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39" y="26060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6A17"/>
                </a:solidFill>
                <a:latin typeface="Microsoft YaHei"/>
              </a:defRPr>
            </a:pPr>
            <a:r>
              <a:t>⏱ 15min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39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讲解+举例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2860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1463040"/>
            <a:ext cx="1005840" cy="2103120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15361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KB5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182880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AI会不会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取代人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26060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6A17"/>
                </a:solidFill>
                <a:latin typeface="Microsoft YaHei"/>
              </a:defRPr>
            </a:pPr>
            <a:r>
              <a:t>⏱ 15min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互动讨论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22860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0" y="1463040"/>
            <a:ext cx="1005840" cy="2103120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0" y="15361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KB6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182880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主流AI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工具介绍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0" y="26060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6A17"/>
                </a:solidFill>
                <a:latin typeface="Microsoft YaHei"/>
              </a:defRPr>
            </a:pPr>
            <a:r>
              <a:t>⏱ 10min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快速概览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22860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59" y="1463040"/>
            <a:ext cx="1005840" cy="2103120"/>
          </a:xfrm>
          <a:prstGeom prst="roundRect">
            <a:avLst/>
          </a:prstGeom>
          <a:solidFill>
            <a:srgbClr val="FFE8D0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12279" y="15361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KB7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79" y="182880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动手实操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79" y="26060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6A17"/>
                </a:solidFill>
                <a:latin typeface="Microsoft YaHei"/>
              </a:defRPr>
            </a:pPr>
            <a:r>
              <a:t>⏱ 40min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79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注册+体验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79" y="22860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63840" y="1463040"/>
            <a:ext cx="1005840" cy="2103120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09560" y="15361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KB8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182880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总结与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作业布置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26060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6A17"/>
                </a:solidFill>
                <a:latin typeface="Microsoft YaHei"/>
              </a:defRPr>
            </a:pPr>
            <a:r>
              <a:t>⏱ 5min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6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收尾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5A5A"/>
                </a:solidFill>
                <a:latin typeface="Microsoft YaHei"/>
              </a:defRPr>
            </a:pPr>
            <a:r>
              <a:t>⏱ 理论讲解：~95min  |  实操环节：~40min  |  🎓学生版+💼企业版 双轨并行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KB1：课程导入与AI初识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建立对AI的基本认知 · 15分钟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18872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● KB1 · 15min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402336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🧠 AI是什么？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1"/>
            <a:ext cx="3749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人工智能 = 让计算机像人一样 感知、思考、学习、决策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核心类比："教小孩认猫"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→ 看很多猫的图片（数据）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→ 告诉他"这是猫"（标签）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→ 自己认出未见过品种（泛化）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💼 企业视角：AI = 通用效率倍增杠杆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不是行业，是渗透所有行业的基础能力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280160"/>
            <a:ext cx="402336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353312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🎯 课程学习理念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27631"/>
            <a:ext cx="3749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会用AI → 懂AI → 会开发AI应用 → 了解AI前沿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理论30% + 实践70%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"不需成为程序员，要成为会用AI的人"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💼 企业管理者收获：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一套给董事会的AI战略方案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而非一个编程项目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91840"/>
            <a:ext cx="8412480" cy="1463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2"/>
            <a:ext cx="8138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7ABF"/>
                </a:solidFill>
                <a:latin typeface="Microsoft YaHei"/>
              </a:defRPr>
            </a:pPr>
            <a:r>
              <a:t>🔗 AI &gt; ML &gt; DL &gt; LLM（同心圆关系）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39312"/>
            <a:ext cx="813815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AI（人工智能）← 最大圈：所有让机器"智能"的技术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└─ ML（机器学习）← 从数据中学习规律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    └─ DL（深度学习）← 多层神经网络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        └─ LLM（大语言模型）← GPT/Claude/Gemini 等超大规模语言模型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💼 企业学员：当供应商说"基于最新LLM技术"，追问"具体基于哪个模型？和DeepSeek比有什么优势？"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937760"/>
            <a:ext cx="841248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010912"/>
            <a:ext cx="8138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6A17"/>
                </a:solidFill>
                <a:latin typeface="Microsoft YaHei"/>
              </a:defRPr>
            </a:pPr>
            <a:r>
              <a:t>⚡ 专用AI vs 通用AI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85232"/>
            <a:ext cx="8138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专用AI：下棋的不会翻译（AlphaGo/翻译模型/图像识别）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通用AI（雏形）：一个模型能聊天/编程/翻译/写诗/做题（ChatGPT等）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ChatGPT的意义：首次向大众展示"通用人工智能"的雏形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KB1：课程定位与互动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"/>
            <a:ext cx="118872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● KB1 · 15min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402336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53312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6A17"/>
                </a:solidFill>
                <a:latin typeface="Microsoft YaHei"/>
              </a:defRPr>
            </a:pPr>
            <a:r>
              <a:t>🚲 电动自行车类比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1"/>
            <a:ext cx="3749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AI是"电动自行车"，不是"自动驾驶汽车"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🔋 它放大你的力量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🧭 但方向的掌控始终在你手里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→ 去哪、走哪条路、何时停 — 你决定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💼 企业延伸：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AI对企业是涡轮增压器，不是自动驾驶系统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CEO仍需做战略决策，但支持性工作可加速3-10倍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280160"/>
            <a:ext cx="402336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353312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🙋 课堂互动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27631"/>
            <a:ext cx="3749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🎓 学生："有多少人用过ChatGPT/DeepSeek？"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🎓 学生："有多少人觉得AI会取代工作？"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💼 企业学员："过去一年，你的企业因AI做过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  任何决策吗？采购/预算/战略讨论？"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核心理念："这门课给你的是判断力——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学生判断AI对职业的影响，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管理者判断AI对业务的影响。"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💬 企业讨论题："如果AI能把你的企业某一个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  环节效率提升10倍，你希望是哪个环节？"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840480"/>
            <a:ext cx="841248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913632"/>
            <a:ext cx="8138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7ABF"/>
                </a:solidFill>
                <a:latin typeface="Microsoft YaHei"/>
              </a:defRPr>
            </a:pPr>
            <a:r>
              <a:t>📊 AI擅长 vs 不擅长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87952"/>
            <a:ext cx="8138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✅ 擅长：重复性任务 / 基于已有知识推理总结 / 快速生成多方案 / 24小时工作 / 多语言整合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❌ 不擅长：情感共情 / 真正原创创造 / 物理实操经验 / 承担道德法律责任 / 理解隐性文化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KB2：AI发展简史（1950-2017）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一部跨越70年的"冰与火之歌" · 25分钟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18872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● KB2 · 25min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1950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1645920"/>
            <a:ext cx="27432" cy="411480"/>
          </a:xfrm>
          <a:prstGeom prst="rect">
            <a:avLst/>
          </a:prstGeom>
          <a:solidFill>
            <a:srgbClr val="37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371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图灵测试 — "机器能思考吗？"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945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1956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2468879"/>
            <a:ext cx="27432" cy="411480"/>
          </a:xfrm>
          <a:prstGeom prst="rect">
            <a:avLst/>
          </a:prstGeom>
          <a:solidFill>
            <a:srgbClr val="37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达特茅斯会议 — "人工智能"正式命名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1973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3291839"/>
            <a:ext cx="27432" cy="411480"/>
          </a:xfrm>
          <a:prstGeom prst="rect">
            <a:avLst/>
          </a:prstGeom>
          <a:solidFill>
            <a:srgbClr val="37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017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莱特希尔报告 → 第一次AI寒冬 ❄️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8404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1980s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4114800"/>
            <a:ext cx="27432" cy="411480"/>
          </a:xfrm>
          <a:prstGeom prst="rect">
            <a:avLst/>
          </a:prstGeom>
          <a:solidFill>
            <a:srgbClr val="37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840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专家系统兴起 — "如果…那么…"规则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6634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1987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4937759"/>
            <a:ext cx="27432" cy="411480"/>
          </a:xfrm>
          <a:prstGeom prst="rect">
            <a:avLst/>
          </a:prstGeom>
          <a:solidFill>
            <a:srgbClr val="37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专家系统崩溃 → 第二次AI寒冬 ❄️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1371600"/>
            <a:ext cx="4114800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14173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1997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171907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深蓝击败卡斯帕罗夫 — AI首次超越人类智力竞技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2377440"/>
            <a:ext cx="4114800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242316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2012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72491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AlexNet夺冠 — 深度学习时代正式开启 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3383280"/>
            <a:ext cx="4114800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34290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2016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73075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AlphaGo击败李世石 — 围棋"最后堡垒"被攻破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4389120"/>
            <a:ext cx="4114800" cy="8229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4348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2017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73659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⚡ Transformer论文发表 — "Attention Is All You Need"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A17"/>
                </a:solidFill>
                <a:latin typeface="Microsoft YaHei"/>
              </a:defRPr>
            </a:pPr>
            <a:r>
              <a:t>⚠️ 2017年Transformer是改变一切的"奇点" — GPT/Claude/Gemini全部基于此架构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KB2：大模型爆发 + 企业战略启示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2020s-2026 · 商业视角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18872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● KB2 · 25min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4023360" cy="1463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6A17"/>
                </a:solidFill>
                <a:latin typeface="Microsoft YaHei"/>
              </a:defRPr>
            </a:pPr>
            <a:r>
              <a:t>🚀 2020s — 大模型爆发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1"/>
            <a:ext cx="3749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2020 — GPT-3 (1750亿参数)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2022.11 — ChatGPT发布 → 2个月破1亿用户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2023 — GPT-4/Claude/Gemini → 百模大战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2024 — 多模态成熟 + MCP协议发布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2025 — Coding Agent成熟 (Claude Code/Codex)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2026 — Agent工程化落地时代（现在）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280160"/>
            <a:ext cx="4023360" cy="1463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353312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📌 四大关键启示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27631"/>
            <a:ext cx="3749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1️⃣ 72年技术积累，非一蹴而就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2️⃣ 两次寒冬 = 过度乐观的代价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3️⃣ Transformer = 现代AI的"奇点"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4️⃣ 2022年 = AI民主化元年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017520"/>
            <a:ext cx="8412480" cy="3017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8138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7ABF"/>
                </a:solidFill>
                <a:latin typeface="Microsoft YaHei"/>
              </a:defRPr>
            </a:pPr>
            <a:r>
              <a:t>💼 从AI发展史看企业战略：5条决策法则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64991"/>
            <a:ext cx="813815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启示1：警惕AI泡沫 — 历史上两次AI寒冬都因过度乐观。2026年同样存在泡沫风险。决策依据：ROI数据，而非行业噪音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启示2：从专用AI到通用AI — 技术壁垒从"模型能力"转向"数据+工程化+生态"。1000万自建模型 vs 100万将通用AI与业务数据结合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启示3：Transformer是奇点 — 底层技术趋同，差异化在应用层和数据。未来2-3年模型能力差异将缩小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启示4：AI民主化 — 使用门槛消失，决策门槛上升。竞争优势从"有没有AI"转向"如何更聪明地使用AI"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启示5：Agent工程化 — 2025-2026年Agent从概念走向落地。业务流程将被重构而非替代。先发优势窗口：6-18个月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KB3：ChatGPT为什么火了？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五大原因+五条企业决策法则 · 15分钟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18872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● KB3 · 15min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371600"/>
            <a:ext cx="1691640" cy="2560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4630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1️⃣ 能力泛化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92024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一个模型解决多种问题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从"专才"到"通才"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6974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6A17"/>
                </a:solidFill>
                <a:latin typeface="Microsoft YaHei"/>
              </a:defRPr>
            </a:pPr>
            <a:r>
              <a:t>💼 通用平台吃专用工具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E86A17"/>
                </a:solidFill>
                <a:latin typeface="Microsoft YaHei"/>
              </a:defRPr>
            </a:pPr>
            <a:r>
              <a:t>警惕你买的AI方案被GPT-6覆盖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1371600"/>
            <a:ext cx="1691640" cy="2560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4630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2️⃣ 交互自然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2024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打字聊天 — 人人天生就会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零学习成本 = 破圈关键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6974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6A17"/>
                </a:solidFill>
                <a:latin typeface="Microsoft YaHei"/>
              </a:defRPr>
            </a:pPr>
            <a:r>
              <a:t>💼 70%企业AI失败因员工不用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E86A17"/>
                </a:solidFill>
                <a:latin typeface="Microsoft YaHei"/>
              </a:defRPr>
            </a:pPr>
            <a:r>
              <a:t>用户推广成本≈零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1371600"/>
            <a:ext cx="1691640" cy="2560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59" y="14630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3️⃣ 门槛极低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59" y="192024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打开浏览器就能用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免费+50+语言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59" y="26974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6A17"/>
                </a:solidFill>
                <a:latin typeface="Microsoft YaHei"/>
              </a:defRPr>
            </a:pPr>
            <a:r>
              <a:t>💼 定价从"卖账号"→"卖成果"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E86A17"/>
                </a:solidFill>
                <a:latin typeface="Microsoft YaHei"/>
              </a:defRPr>
            </a:pPr>
            <a:r>
              <a:t>按处理的文档数/节省工时收费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1371600"/>
            <a:ext cx="1691640" cy="2560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14630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4️⃣ 效果惊艳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192024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通过USMLE/BAR/编程竞赛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大学水平论文写作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6974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6A17"/>
                </a:solidFill>
                <a:latin typeface="Microsoft YaHei"/>
              </a:defRPr>
            </a:pPr>
            <a:r>
              <a:t>💼 AI能力基准线快速上移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E86A17"/>
                </a:solidFill>
                <a:latin typeface="Microsoft YaHei"/>
              </a:defRPr>
            </a:pPr>
            <a:r>
              <a:t>3年规划以AI能力提升10倍为前提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1371600"/>
            <a:ext cx="1691640" cy="2560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14630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5️⃣ 时机成熟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192024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云计算+互联网数据+GPU算力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疫情后数字化习惯+社交媒体传播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6974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6A17"/>
                </a:solidFill>
                <a:latin typeface="Microsoft YaHei"/>
              </a:defRPr>
            </a:pPr>
            <a:r>
              <a:t>💼 2026是黄金窗口期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E86A17"/>
                </a:solidFill>
                <a:latin typeface="Microsoft YaHei"/>
              </a:defRPr>
            </a:pPr>
            <a:r>
              <a:t>先发优势窗口：6-18个月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" y="4160520"/>
            <a:ext cx="8869680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233672"/>
            <a:ext cx="8595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6A17"/>
                </a:solidFill>
                <a:latin typeface="Microsoft YaHei"/>
              </a:defRPr>
            </a:pPr>
            <a:r>
              <a:t>💡 ChatGPT最重要的贡献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507992"/>
            <a:ext cx="8595359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让全人类（不仅是技术人员）都意识到AI时代的到来 —— "AI的iPhone时刻"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" y="4983480"/>
            <a:ext cx="8869680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5056632"/>
            <a:ext cx="8595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7ABF"/>
                </a:solidFill>
                <a:latin typeface="Microsoft YaHei"/>
              </a:defRPr>
            </a:pPr>
            <a:r>
              <a:t>📊 增长数据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5330952"/>
            <a:ext cx="8595359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ChatGPT: 2个月破1亿用户  |  TikTok: 9个月  |  Instagram: 2.5年  →  史上增长最快的消费级应用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KB4：大模型能够做什么？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12项核心能力 + 个人应用场景 · 15分钟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18872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● KB4 · 15min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📝 文本生成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写文章/方案/报告/邮件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231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💻 代码编写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79191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写代码/Debug/代码翻译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747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🌍 翻译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7307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多语言互译·学术级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526279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📄 总结摘要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7823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长文提炼·300字总结20页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3716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🎓 知识问答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62763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私人导师·解释任何概念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4231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💡 创意生成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679191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头脑风暴·10个毕业选题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4747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📊 数据分析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7307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处理Excel·找异常·画图表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526279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🖼 图像理解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7823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识别图片·分析设计风格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3716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📽 PPT大纲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62763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生成演示文稿结构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4231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📚 文献综述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679191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梳理研究脉络·写综述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4747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📐 公式推导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7307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解释公式物理含义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526279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✓ 方案评估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7823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多维度分析方案优缺点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KB4：企业级应用场景 + 分专业举例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大模型能力对应企业ROI · 15分钟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18872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● KB4 · 15min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4206240" cy="2926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5331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💼 企业职能 × AI能力矩阵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27631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客服：7×24自动应答，成本降低40-60%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营销：多平台文案批量生成，产出速度提升5-10倍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研发：代码自动补全/检测/文档，效率提升30-50%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法务：合同审查自动化，效率提升60-80%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HR：简历筛选+面试问题生成，招聘效率提升40%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财务：报表自动生成，月报3天→2小时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高管办：行业分析/竞品追踪，调研效率提升5-8倍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280160"/>
            <a:ext cx="4114800" cy="2926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35331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7ABF"/>
                </a:solidFill>
                <a:latin typeface="Microsoft YaHei"/>
              </a:defRPr>
            </a:pPr>
            <a:r>
              <a:t>🎓 分专业应用举例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27631"/>
            <a:ext cx="3840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🔧 工程设计/机械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设计初稿/技术文档/材料选择/实验数据/代码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→ 竞标响应速度提升5倍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🏗 土木工程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施工方案/工程量估算/规范检索/项目报告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→ 投标效率提升3-5倍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🎨 建筑/艺术设计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概念灵感/设计说明/Mood Board/色彩搭配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→ 方案阶段2周缩短到2天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389120"/>
            <a:ext cx="8595360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4462272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6A17"/>
                </a:solidFill>
                <a:latin typeface="Microsoft YaHei"/>
              </a:defRPr>
            </a:pPr>
            <a:r>
              <a:t>⚠️ 重要提醒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4736592"/>
            <a:ext cx="83210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AI是"辅助"而非"替代"。AI生成内容必须审核，特别是涉及数据准确性、专业判断、安全的内容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AI = "初始草稿生成器" + "思路扩展器" ≠ "最终决策者"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KB5：AI会不会取代人？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理性分析 + 企业劳动力战略 · 15分钟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18872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● KB5 · 15min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402336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6A17"/>
                </a:solidFill>
                <a:latin typeface="Microsoft YaHei"/>
              </a:defRPr>
            </a:pPr>
            <a:r>
              <a:t>🎯 核心论点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1"/>
            <a:ext cx="3749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"AI取代的是具体任务，不是完整职业。"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"会用AI的人（和企业）会取代不会用的。"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建筑设计师 = 100+项任务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AI能帮：画图/写方案/日照分析（5-10项）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AI做不到：客户沟通/审美判断/现场决策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💼 对企业：AI使部分任务边际成本趋近于零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McKinsey 2025: 60-70%工作被增强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             15-20%被自动化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              &lt;5%完整职业3年内被取代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280160"/>
            <a:ext cx="402336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353312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🚲 电动自行车类比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27631"/>
            <a:ext cx="3749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AI是电动自行车，不是自动驾驶汽车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🔋 它放大你的力量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🧭 但方向的掌控始终在你手里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💼 企业延伸：AI是涡轮增压器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CEO仍需做战略决策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但所有支持性工作可加速3-10倍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正确态度：不是恐惧 → 而是学会骑它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91840"/>
            <a:ext cx="841248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2"/>
            <a:ext cx="8138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7ABF"/>
                </a:solidFill>
                <a:latin typeface="Microsoft YaHei"/>
              </a:defRPr>
            </a:pPr>
            <a:r>
              <a:t>💼 判断你企业中的"高AI-Return任务"（满足2/3即高ROI）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39312"/>
            <a:ext cx="8138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① 任务输入和输出可用文字/数字描述  |  ② 任务需要大量已有知识做判断  |  ③ 任务的错误可事后检查和修正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389120"/>
            <a:ext cx="841248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462272"/>
            <a:ext cx="8138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💼 给企业的四条战略建议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736592"/>
            <a:ext cx="81381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1. 做"任务审计"而非"岗位审计"——问"这个岗位的哪些20%任务占了80%时间，且可用AI加速？"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2. "人+AI"组合的产出远超"纯人"或"纯AI"——组织设计的出发点是让人发挥判断力，AI处理规模化重复劳动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3. 提前布局人才转型——培训现有员工使用AI工具，比外部招聘"AI专家"更具成本效益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4. 建立AI使用规范和道德边界——明确哪些是"AI辅助"（AI建议+人决策），哪些是"AI执行"（AI自动+人审核）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KB6：主流AI工具介绍与选择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六大工具 + 企业选型指南 · 10分钟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18872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● KB6 · 10min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71600"/>
            <a:ext cx="1389888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" y="1417320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" y="1645920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69696"/>
                </a:solidFill>
                <a:latin typeface="Microsoft YaHei"/>
              </a:defRPr>
            </a:pPr>
            <a:r>
              <a:t>OpenAI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" y="192024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综合最强</a:t>
            </a:r>
          </a:p>
          <a:p>
            <a:pPr algn="ctr">
              <a:spcBef>
                <a:spcPts val="400"/>
              </a:spcBef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生态完善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91056" y="1371600"/>
            <a:ext cx="1389888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36776" y="1417320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6776" y="1645920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69696"/>
                </a:solidFill>
                <a:latin typeface="Microsoft YaHei"/>
              </a:defRPr>
            </a:pPr>
            <a:r>
              <a:t>Anthropic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36776" y="192024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编程最强</a:t>
            </a:r>
          </a:p>
          <a:p>
            <a:pPr algn="ctr">
              <a:spcBef>
                <a:spcPts val="400"/>
              </a:spcBef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长文分析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72384" y="1371600"/>
            <a:ext cx="1389888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8104" y="1417320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Gemini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8104" y="1645920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69696"/>
                </a:solidFill>
                <a:latin typeface="Microsoft YaHei"/>
              </a:defRPr>
            </a:pPr>
            <a:r>
              <a:t>Google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8104" y="192024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多模态最强</a:t>
            </a:r>
          </a:p>
          <a:p>
            <a:pPr algn="ctr">
              <a:spcBef>
                <a:spcPts val="400"/>
              </a:spcBef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生态整合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53712" y="1371600"/>
            <a:ext cx="1389888" cy="128016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1417320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⭐DeepSeek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1645920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69696"/>
                </a:solidFill>
                <a:latin typeface="Microsoft YaHei"/>
              </a:defRPr>
            </a:pPr>
            <a:r>
              <a:t>深度求索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192024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完全免费</a:t>
            </a:r>
          </a:p>
          <a:p>
            <a:pPr algn="ctr">
              <a:spcBef>
                <a:spcPts val="400"/>
              </a:spcBef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中文极佳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1371600"/>
            <a:ext cx="1389888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1417320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Kimi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1645920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69696"/>
                </a:solidFill>
                <a:latin typeface="Microsoft YaHei"/>
              </a:defRPr>
            </a:pPr>
            <a:r>
              <a:t>月之暗面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192024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200万字</a:t>
            </a:r>
          </a:p>
          <a:p>
            <a:pPr algn="ctr">
              <a:spcBef>
                <a:spcPts val="400"/>
              </a:spcBef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上下文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16368" y="1371600"/>
            <a:ext cx="1389888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62088" y="1417320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Perplexity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1645920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69696"/>
                </a:solidFill>
                <a:latin typeface="Microsoft YaHei"/>
              </a:defRPr>
            </a:pPr>
            <a:r>
              <a:t>Perplexity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2088" y="192024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AI搜索</a:t>
            </a:r>
          </a:p>
          <a:p>
            <a:pPr algn="ctr">
              <a:spcBef>
                <a:spcPts val="400"/>
              </a:spcBef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带引用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" y="2880360"/>
            <a:ext cx="438912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" y="295351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7ABF"/>
                </a:solidFill>
                <a:latin typeface="Microsoft YaHei"/>
              </a:defRPr>
            </a:pPr>
            <a:r>
              <a:t>🧭 个人选择决策树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" y="3227832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写代码 → Claude / DeepSeek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读论文/长文档 → Kimi（200万字）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查最新信息 → Perplexity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处理图片/视频 → Gemini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国内方便 → DeepSeek（首选）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全免费 → DeepSeek+Kimi+通义+豆包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0" y="2880360"/>
            <a:ext cx="429768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295351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6A17"/>
                </a:solidFill>
                <a:latin typeface="Microsoft YaHei"/>
              </a:defRPr>
            </a:pPr>
            <a:r>
              <a:t>💼 企业选型指南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3227832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全员日常 → DeepSeek（免费+直连）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代码团队 → Claude Pro + DeepSeek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文档处理 → Kimi（200万字上下文）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数据安全 → 开源自部署模型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实时信息 → Perplexity / Kimi联网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⚠️ 核心原则：不要绑定单一供应商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至少2-3个AI工具交叉验证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" y="4937760"/>
            <a:ext cx="8869680" cy="731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" y="5010912"/>
            <a:ext cx="8595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🇨🇳 国内补充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" y="5285232"/>
            <a:ext cx="8595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通义千问（阿里）· 豆包（字节）· 文心一言（百度）— 全部免费·国内直连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KB7：动手实操 — 注册与体验AI工具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六步实操流程 + 学生/企业双版测试题 · 40分钟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18872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● KB7 · 40min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71600"/>
            <a:ext cx="1389888" cy="1188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" y="1417320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6A17"/>
                </a:solidFill>
                <a:latin typeface="Microsoft YaHei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" y="1737360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注册ChatGPT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15min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830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91056" y="1371600"/>
            <a:ext cx="1389888" cy="1188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36776" y="1417320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6A17"/>
                </a:solidFill>
                <a:latin typeface="Microsoft YaHei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6776" y="1737360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注册Claude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15min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17830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72384" y="1371600"/>
            <a:ext cx="1389888" cy="1188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8104" y="1417320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6A17"/>
                </a:solidFill>
                <a:latin typeface="Microsoft YaHei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8104" y="1737360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注册Gemini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10min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17830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53712" y="1371600"/>
            <a:ext cx="1389888" cy="1188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1417320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6A17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1737360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体验Perplexity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10min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5584" y="17830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1371600"/>
            <a:ext cx="1389888" cy="1188720"/>
          </a:xfrm>
          <a:prstGeom prst="roundRect">
            <a:avLst/>
          </a:prstGeom>
          <a:solidFill>
            <a:srgbClr val="FFE8D0"/>
          </a:solidFill>
          <a:ln w="254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1417320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6A17"/>
                </a:solidFill>
                <a:latin typeface="Microsoft YaHei"/>
              </a:defRPr>
            </a:pPr>
            <a:r>
              <a:t>Step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1737360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⭐ 注册国内AI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10min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17830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16368" y="1371600"/>
            <a:ext cx="1389888" cy="1188720"/>
          </a:xfrm>
          <a:prstGeom prst="roundRect">
            <a:avLst/>
          </a:prstGeom>
          <a:solidFill>
            <a:srgbClr val="FFE8D0"/>
          </a:solidFill>
          <a:ln w="254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62088" y="1417320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6A17"/>
                </a:solidFill>
                <a:latin typeface="Microsoft YaHei"/>
              </a:defRPr>
            </a:pPr>
            <a:r>
              <a:t>Step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1737360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⭐ 对比测试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最后完成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" y="2834640"/>
            <a:ext cx="438912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" y="290779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🔗 快速链接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" y="3182112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ChatGPT: chatgpt.com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Claude: claude.ai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Gemini: gemini.google.com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Perplexity: perplexity.ai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⭐ DeepSeek: chat.deepseek.com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Kimi: kimi.moonshot.cn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通义千问: tongyi.aliyun.com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豆包: doubao.com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2834640"/>
            <a:ext cx="429768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290779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6A17"/>
                </a:solidFill>
                <a:latin typeface="Microsoft YaHei"/>
              </a:defRPr>
            </a:pPr>
            <a:r>
              <a:t>🎯 最低目标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182112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✅ 每个学员至少注册1个AI工具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 （推荐 DeepSeek — 免费+国内直连）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✅ 完成对比测试：同一问题→至少2个AI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✅ 记录对比结果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⏱ 快 → 多注册几个工具深度体验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⏱ 慢 → 只做 DeepSeek + 对比测试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" y="4846320"/>
            <a:ext cx="8869680" cy="731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888" y="4919472"/>
            <a:ext cx="8595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6A17"/>
                </a:solidFill>
                <a:latin typeface="Microsoft YaHei"/>
              </a:defRPr>
            </a:pPr>
            <a:r>
              <a:t>🆘 口诀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" y="5193792"/>
            <a:ext cx="8595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"境外工具全跳过，DeepSeek必须搞"  |  不要让任何学生在"注册不了"上消耗超过2分钟  |  立刻给替代方案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KB7：对比测试题（学生版+企业版）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同一问题发给至少2个不同的AI · 40分钟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18872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● KB7 · 40min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4206240" cy="2560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5331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🎓 学生版测试题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27631"/>
            <a:ext cx="3931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Q1：请用200字以内解释什么是"结构力学"。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Q2：一个工程设计师在日常工作中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  如何使用AI提高效率？列出5个具体场景。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Q3：用Python写一个计算BMI的小程序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  （输入身高m和体重kg，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    输出BMI值和健康分级）。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280160"/>
            <a:ext cx="4114800" cy="2560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35331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6A17"/>
                </a:solidFill>
                <a:latin typeface="Microsoft YaHei"/>
              </a:defRPr>
            </a:pPr>
            <a:r>
              <a:t>💼 企业版测试题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27631"/>
            <a:ext cx="3840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Q1：请用200字以内向企业管理者解释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  什么是"大语言模型（LLM）"，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  重点说明它能解决什么商业问题。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Q2：一家50人的科技公司应该如何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  在日常运营中使用AI提高效率？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  列出5个最具ROI的场景和预期效果。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Q3：请起草一份200字的内部邮件，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  向团队宣布公司将开始使用AI工具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114800"/>
            <a:ext cx="859536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4187952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7ABF"/>
                </a:solidFill>
                <a:latin typeface="Microsoft YaHei"/>
              </a:defRPr>
            </a:pPr>
            <a:r>
              <a:t>📋 对比记录维度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4462272"/>
            <a:ext cx="8321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回答质量(1-5)  |  回答实用性(1-5)  |  代码/输出正确性  |  回答速度  |  中文自然度  |  使用便捷度  |  长期使用理由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💼 企业学员额外："哪个工具的回答最适合直接用于内部沟通？哪个最需要修改？"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KB8：课程总结 · 课后作业 · 下次课预告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5分钟收尾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18872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● KB8 · 5min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8595360" cy="1463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53312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📌 本课五句话核心回顾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27631"/>
            <a:ext cx="8321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1️⃣ AI发展是一条70年的路，不是一夜之间冒出来的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2️⃣ ChatGPT = 技术突破 + 产品设计 + 时代机遇的完美结合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3️⃣ 大模型能做的事情远超你想象 — 但需要你学会"指挥"它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4️⃣ AI是电动自行车，不是自动驾驶 — 你掌握方向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5️⃣ 不要只用一种AI — 组建你的"AI顾问团"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926080"/>
            <a:ext cx="411480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99923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🎓 学生版作业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273552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作业1（必做）：AI工具对比笔记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3个问题×3个工具，≥400字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作业2（必做）：传统vs AI效率对比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选本专业真实问题，两种方式解决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作业3（选做）：AI应用场景头脑风暴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未来工作中5+个AI提效场景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926080"/>
            <a:ext cx="411480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99923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6A17"/>
                </a:solidFill>
                <a:latin typeface="Microsoft YaHei"/>
              </a:defRPr>
            </a:pPr>
            <a:r>
              <a:t>💼 企业版作业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273552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作业1（必做）：AI工具对比笔记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使用企业版测试问题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作业2（必做）：企业任务审计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10个核心任务×AI替代程度→1页矩阵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作业3（选做）：AI供应商初筛报告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  3个候选供应商×5维评估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754880"/>
            <a:ext cx="8595360" cy="731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4828032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6A17"/>
                </a:solidFill>
                <a:latin typeface="Microsoft YaHei"/>
              </a:defRPr>
            </a:pPr>
            <a:r>
              <a:t>🔮 下次课预告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5102352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Prompt Engineering（提示词工程）— RCTE框架 · 论文写作 · 代码编写 · PPT制作 · 方案设计 · 全部AI辅助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附录：关键概念速查表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讲课过程中如有学生提问概念，可快速翻到此页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371600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■ AI（人工智能）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6002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🎓 让计算机像人一样感知/思考/学习/决策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6002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6A17"/>
                </a:solidFill>
                <a:latin typeface="Microsoft YaHei"/>
              </a:defRPr>
            </a:pPr>
            <a:r>
              <a:t>💼 通用效率杠杆，非独立行业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240280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■ 图灵测试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4688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🎓 对话中分不清人还是机器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4688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6A17"/>
                </a:solidFill>
                <a:latin typeface="Microsoft YaHei"/>
              </a:defRPr>
            </a:pPr>
            <a:r>
              <a:t>💼 AI交互已通过图灵测试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108960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■ Transformer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3375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🎓 2017年架构，所有现代LLM的基础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33756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6A17"/>
                </a:solidFill>
                <a:latin typeface="Microsoft YaHei"/>
              </a:defRPr>
            </a:pPr>
            <a:r>
              <a:t>💼 底层技术趋同，差异化在上层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3977639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■ 大语言模型(LLM)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2062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🎓 海量文本训练的超级神经网络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2062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6A17"/>
                </a:solidFill>
                <a:latin typeface="Microsoft YaHei"/>
              </a:defRPr>
            </a:pPr>
            <a:r>
              <a:t>💼 企业AI的"通用引擎"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4846320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■ ChatGPT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50749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🎓 OpenAI的对话AI，2022年引爆全球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0749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6A17"/>
                </a:solidFill>
                <a:latin typeface="Microsoft YaHei"/>
              </a:defRPr>
            </a:pPr>
            <a:r>
              <a:t>💼 AI的iPhone时刻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1371600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■ Prompt(提示词)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6002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🎓 你发给AI的指令/问题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6002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6A17"/>
                </a:solidFill>
                <a:latin typeface="Microsoft YaHei"/>
              </a:defRPr>
            </a:pPr>
            <a:r>
              <a:t>💼 精准传达需求=企业核心竞争力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240280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■ 多模态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4688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🎓 AI同时处理文本/图片/音频/视频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4688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6A17"/>
                </a:solidFill>
                <a:latin typeface="Microsoft YaHei"/>
              </a:defRPr>
            </a:pPr>
            <a:r>
              <a:t>💼 可处理合同扫描件/会议录音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108960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■ AI幻觉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3375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🎓 AI一本正经编造假信息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33756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6A17"/>
                </a:solidFill>
                <a:latin typeface="Microsoft YaHei"/>
              </a:defRPr>
            </a:pPr>
            <a:r>
              <a:t>💼 关键决策必须有审核机制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977639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■ Agent(智能体)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2062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🎓 能自主规划、使用工具的AI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2062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6A17"/>
                </a:solidFill>
                <a:latin typeface="Microsoft YaHei"/>
              </a:defRPr>
            </a:pPr>
            <a:r>
              <a:t>💼 未来的"数字员工"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846320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■ MCP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0749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🎓 Model Context Protocol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0749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6A17"/>
                </a:solidFill>
                <a:latin typeface="Microsoft YaHei"/>
              </a:defRPr>
            </a:pPr>
            <a:r>
              <a:t>💼 AI时代的USB-C接口标准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KB2·KB3·KB5：企业核心知识点汇总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AI发展史商业启示 + ChatGPT商业法则 + 劳动力战略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188720"/>
            <a:ext cx="283464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618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📜 KB2: AI发展史5条启示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36192"/>
            <a:ext cx="2560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1. 警惕泡沫 — ROI决策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2. 通用AI — 采购策略转变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3. Transformer — 底层趋同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4. AI民主化 — 决策门槛↑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5. Agent工程化 — 窗口6-18月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188720"/>
            <a:ext cx="283464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2618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6A17"/>
                </a:solidFill>
                <a:latin typeface="Microsoft YaHei"/>
              </a:defRPr>
            </a:pPr>
            <a:r>
              <a:t>💡 KB3: ChatGPT五条商业法则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536192"/>
            <a:ext cx="2560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1. 通用平台吃专用工具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2. 70%失败因员工不用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3. 定价从账号→成果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4. 规划以10倍提升为前提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5. 2026黄金窗口期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88720"/>
            <a:ext cx="283464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618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🏢 KB5: 企业劳动力战略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536192"/>
            <a:ext cx="2560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任务审计 vs 岗位审计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人+AI &gt; 纯人或纯AI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培训现有员工 &gt; 外招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建立AI使用规范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高ROI任务: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文字描述+知识判断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+错误可事后修正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KB4·KB6·KB7：工具与企业落地要点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能力矩阵 + 选型指南 + 实操要点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188720"/>
            <a:ext cx="4297680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618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💼 KB4: 企业级场景ROI速查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36192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客服：7×24自动，成本↓40-60%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营销：内容产出速度↑5-10倍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研发：开发效率↑30-50%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法务：合同审查效率↑60-80%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HR：招聘效率↑40%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财务：月报3天→2小时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高管：调研效率↑5-8倍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⚠️ AI = 辅助 ≠ 替代，关键决策需人工审核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4206240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6187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6A17"/>
                </a:solidFill>
                <a:latin typeface="Microsoft YaHei"/>
              </a:defRPr>
            </a:pPr>
            <a:r>
              <a:t>💼 KB6: 企业AI工具选型矩阵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536192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全员日常→DeepSeek（免费+直连）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代码团队→Claude Pro+DeepSeek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文档处理→Kimi（200万字）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数据安全→开源自部署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实时信息→Perplexity/Kimi联网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⚠️ 核心原则：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不要绑定单一供应商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至少2-3个AI交叉验证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" y="4114800"/>
            <a:ext cx="8778240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4187952"/>
            <a:ext cx="8503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7ABF"/>
                </a:solidFill>
                <a:latin typeface="Microsoft YaHei"/>
              </a:defRPr>
            </a:pPr>
            <a:r>
              <a:t>💼 KB7: 企业版实操要点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462272"/>
            <a:ext cx="850391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企业学员测试Prompt：①向管理者解释LLM的商业价值  ②50人公司AI提效场景  ③起草团队AI工具采用邮件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教师巡查时确认：企业学员是否在使用企业版测试题？Prompt是否足够具体？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对比测试记录额外维度：哪个工具的回答最适合直接用于内部沟通？哪个最需要修改？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9144000" cy="2103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D2D2D"/>
                </a:solidFill>
                <a:latin typeface="Microsoft YaHei"/>
              </a:defRPr>
            </a:pPr>
            <a:r>
              <a:t>72年前，图灵问：机器能思考吗？</a:t>
            </a:r>
          </a:p>
          <a:p>
            <a:pPr algn="ctr">
              <a:spcBef>
                <a:spcPts val="400"/>
              </a:spcBef>
              <a:defRPr sz="2200" b="0">
                <a:solidFill>
                  <a:srgbClr val="2D2D2D"/>
                </a:solidFill>
                <a:latin typeface="Microsoft YaHei"/>
              </a:defRPr>
            </a:pPr>
            <a:r>
              <a:t>今天，你自己来回答这个问题。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  <a:latin typeface="Microsoft YaHei"/>
              </a:defRPr>
            </a:pPr>
            <a:r>
              <a:t>欢迎大家来到AI时代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56DB"/>
                </a:solidFill>
                <a:latin typeface="Microsoft YaHei"/>
              </a:defRPr>
            </a:pPr>
            <a:r>
              <a:t>这一次，你不是旁观者。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🎓 对学生：你不是在学编程，你是在学未来最重要的生存技能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💼 对企业学员：你不是在选要不要AI，而是在选主动驾驭它还是被动应对它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0D0E0"/>
                </a:solidFill>
                <a:latin typeface="Microsoft YaHei"/>
              </a:defRPr>
            </a:pPr>
            <a:r>
              <a:t>📅 下次课：Prompt Engineering  |  📋 作业截止：下次上课前一天22:00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