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889000"/>
            <a:ext cx="10668000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8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 </a:t>
            </a:r>
            <a:r>
              <a:rPr lang="zh-CN" altLang="en-US" sz="48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基础与</a:t>
            </a:r>
            <a:r>
              <a:rPr lang="en-US" altLang="zh-CN" sz="48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Skills </a:t>
            </a:r>
            <a:r>
              <a:rPr lang="zh-CN" altLang="en-US" sz="48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开发实战</a:t>
            </a:r>
            <a:endParaRPr lang="zh-CN" altLang="en-US" sz="48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778000"/>
            <a:ext cx="10668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唯一一堂语法课</a:t>
            </a:r>
            <a:endParaRPr lang="zh-CN" altLang="en-US" sz="2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0" y="2387600"/>
            <a:ext cx="2540000" cy="381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24000" y="2794000"/>
            <a:ext cx="2794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b="1">
                <a:solidFill>
                  <a:srgbClr val="3069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120min</a:t>
            </a:r>
            <a:endParaRPr lang="en-US" altLang="en-US" sz="4000" b="1">
              <a:solidFill>
                <a:srgbClr val="3069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24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课时长度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9000" y="2794000"/>
            <a:ext cx="2794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b="1">
                <a:solidFill>
                  <a:srgbClr val="FF8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US" altLang="en-US" sz="4000" b="1">
              <a:solidFill>
                <a:srgbClr val="FF8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99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知识块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4000" y="2794000"/>
            <a:ext cx="2794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b="1">
                <a:solidFill>
                  <a:srgbClr val="4B8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30min</a:t>
            </a:r>
            <a:endParaRPr lang="en-US" altLang="en-US" sz="4000" b="1">
              <a:solidFill>
                <a:srgbClr val="4B8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74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4318000"/>
            <a:ext cx="10668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从「读懂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代码」到「亲手开发一个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Skills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技能包」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读懂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会问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能开发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57150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Skills</a:t>
            </a:r>
            <a:endParaRPr lang="en-US" altLang="zh-CN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一、导入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这堂课学什么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9906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</a:t>
            </a:r>
            <a:r>
              <a:rPr lang="en-US" altLang="zh-CN" sz="2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Python </a:t>
            </a:r>
            <a:r>
              <a:rPr lang="zh-CN" altLang="en-US" sz="2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代码到处都是？</a:t>
            </a:r>
            <a:endParaRPr lang="zh-CN" altLang="en-US" sz="26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1524000"/>
            <a:ext cx="5588000" cy="1973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en-US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后端开发：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/ Django / Flask
· AI Agent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LangChain / CrewAI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机器学习（第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爬虫、自动化脚本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" y="3708400"/>
            <a:ext cx="5588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1500" y="3962400"/>
            <a:ext cx="5588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本课目标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看到一段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代码，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能大致说出它「在干什么」。</a:t>
            </a:r>
            <a:endParaRPr lang="zh-CN" altLang="en-US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0" y="9906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4B8BBE"/>
                </a:solidFill>
                <a:latin typeface="黑体" panose="02010609060101010101" charset="-122"/>
                <a:ea typeface="黑体" panose="02010609060101010101" charset="-122"/>
              </a:rPr>
              <a:t>四个「能回答」的问题</a:t>
            </a:r>
            <a:endParaRPr lang="zh-CN" altLang="en-US" sz="2600" b="1">
              <a:solidFill>
                <a:srgbClr val="4B8BB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0000" y="1524000"/>
            <a:ext cx="5588000" cy="3286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5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这段代码在干什么？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数据从哪来、到哪去？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哪里是核心逻辑？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想改一个功能，该改哪里？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读代码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读代码只需写代码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30%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的知识量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不要求背语法、不要求熟练写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看到认识、不懂会问、能猜会验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时间分配总览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8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个知识块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0" y="1016000"/>
            <a:ext cx="2451100" cy="5588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" y="1041400"/>
            <a:ext cx="36195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段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13100" y="1016000"/>
            <a:ext cx="2451100" cy="5588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68140" y="1041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内容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64200" y="1016000"/>
            <a:ext cx="2451100" cy="5588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19240" y="1041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分钟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0" y="15748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12800" y="16002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13100" y="15748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24910" y="1600200"/>
            <a:ext cx="1427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导入与本课目标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64200" y="15748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746240" y="1600200"/>
            <a:ext cx="287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21336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12800" y="21590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13100" y="21336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363913" y="2159000"/>
            <a:ext cx="214947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环境准备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Hello World</a:t>
            </a:r>
            <a:endParaRPr lang="en-US" altLang="zh-CN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64200" y="21336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694170" y="21590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2000" y="26924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12800" y="27178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13100" y="26924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632200" y="2717800"/>
            <a:ext cx="16129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64200" y="26924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694170" y="27178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2000" y="32512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12800" y="32766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13100" y="32512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32200" y="3276600"/>
            <a:ext cx="16129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664200" y="32512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94170" y="32766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62000" y="38100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12800" y="38354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五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13100" y="38100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902710" y="383540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函数与模块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64200" y="38100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694170" y="38354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2000" y="43688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12800" y="43942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六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13100" y="43688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58210" y="4394200"/>
            <a:ext cx="1960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面向对象：看懂「类」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64200" y="43688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694170" y="43942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62000" y="49276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12800" y="49530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七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213100" y="49276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397250" y="4953000"/>
            <a:ext cx="20828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开发实战（重点）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664200" y="4927600"/>
            <a:ext cx="2451100" cy="558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6694170" y="4953000"/>
            <a:ext cx="391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62000" y="54864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812800" y="5511800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八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213100" y="54864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634105" y="5511800"/>
            <a:ext cx="160909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FAQ</a:t>
            </a:r>
            <a:endParaRPr lang="en-US" altLang="zh-CN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664200" y="5486400"/>
            <a:ext cx="24511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746240" y="5511800"/>
            <a:ext cx="287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636000" y="1524000"/>
            <a:ext cx="2794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000" b="1">
                <a:solidFill>
                  <a:srgbClr val="3069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60min</a:t>
            </a:r>
            <a:endParaRPr lang="en-US" altLang="en-US" sz="3000" b="1">
              <a:solidFill>
                <a:srgbClr val="3069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636000" y="20320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语法快览（三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五）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636000" y="2730500"/>
            <a:ext cx="2794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000" b="1">
                <a:solidFill>
                  <a:srgbClr val="FF8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30min</a:t>
            </a:r>
            <a:endParaRPr lang="en-US" altLang="en-US" sz="3000" b="1">
              <a:solidFill>
                <a:srgbClr val="FF8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636000" y="3238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实战（重点）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636000" y="3937000"/>
            <a:ext cx="2794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000" b="1">
                <a:solidFill>
                  <a:srgbClr val="4B8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15min</a:t>
            </a:r>
            <a:endParaRPr lang="en-US" altLang="en-US" sz="3000" b="1">
              <a:solidFill>
                <a:srgbClr val="4B8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636000" y="44450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面向对象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语法是手段，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是目的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用实战反哺阅读能力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本课的「读代码三步法」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193800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1938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①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1684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大白话翻译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5748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看到一行代码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用大白话说清楚「它是干什么的」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463800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4638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②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4384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猜输出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28448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这段代码跑完会得到什么？心里先给个答案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3733800"/>
            <a:ext cx="431800" cy="431800"/>
          </a:xfrm>
          <a:prstGeom prst="ellipse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37338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③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37084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AI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验证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41148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复制给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：「这段代码输出什么？」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对照自己的猜测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三步法贯穿全课：每个语法点，都要「翻译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二、环境准备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三种跑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Python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的方式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71500" y="1016000"/>
            <a:ext cx="51435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00100" y="1219200"/>
            <a:ext cx="51054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方式</a:t>
            </a:r>
            <a:r>
              <a:rPr lang="en-US" altLang="zh-CN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 · VS Code/CodeBuddy</a:t>
            </a:r>
            <a:r>
              <a:rPr lang="zh-CN" altLang="en-US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（推荐）</a:t>
            </a:r>
            <a:endParaRPr lang="zh-CN" altLang="en-US" sz="24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00100" y="17526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周已装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Code/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」扩展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01.py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点右上角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6032500" y="1016000"/>
            <a:ext cx="51435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261100" y="12192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方式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 · 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在线环境</a:t>
            </a:r>
            <a:endParaRPr lang="zh-CN" altLang="en-US" sz="24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261100" y="17526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免安装，急用时用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online-python.com
pythontutor.com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（看逐步动画）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571500" y="3746500"/>
            <a:ext cx="5143500" cy="63500"/>
          </a:xfrm>
          <a:prstGeom prst="rect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800100" y="39497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4B8BB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方式</a:t>
            </a:r>
            <a:r>
              <a:rPr lang="en-US" altLang="zh-CN" sz="2400" b="1">
                <a:solidFill>
                  <a:srgbClr val="4B8BB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 · </a:t>
            </a:r>
            <a:r>
              <a:rPr lang="zh-CN" altLang="en-US" sz="2400" b="1">
                <a:solidFill>
                  <a:srgbClr val="4B8BB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官方</a:t>
            </a:r>
            <a:r>
              <a:rPr lang="en-US" altLang="zh-CN" sz="2400" b="1">
                <a:solidFill>
                  <a:srgbClr val="4B8BB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IDLE</a:t>
            </a:r>
            <a:endParaRPr lang="en-US" altLang="zh-CN" sz="2400" b="1">
              <a:solidFill>
                <a:srgbClr val="4B8BB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800100" y="44831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时自带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最简单的交互窗口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适合快速试一行代码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6032500" y="3746500"/>
            <a:ext cx="5143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261100" y="39497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</a:rPr>
              <a:t>本课怎么用</a:t>
            </a:r>
            <a:endParaRPr lang="zh-CN" altLang="en-US" sz="24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261100" y="44831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选一种即可，不纠结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重点是「能跑起来」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后面跟着敲、跟着读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环境只是工具，能跑就行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选你最顺手的一种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Hello World +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注释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0" y="1016000"/>
            <a:ext cx="6350000" cy="313626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620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636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414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2192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224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01.py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1295400"/>
            <a:ext cx="6096000" cy="2508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这是一行注释，人看、机器不看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print("Hello, World!")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输出到屏幕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name =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北航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  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变量：起个名字装数据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你好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name)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逗号自动加空格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print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三个用法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print("a", "b", "c")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输出：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 b c
print("a", "b", "c", sep="-")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输出：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a-b-c
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换行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end="!")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结尾用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!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，不换行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93000" y="1143000"/>
            <a:ext cx="4064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#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是注释，解释给人看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93000" y="1625600"/>
            <a:ext cx="4064000" cy="166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注释是「旁白」，机器直接跳过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print()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把内容打印到屏幕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给数据起个名字，方便反复用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sep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改分隔符，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改结尾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67600" y="1183640"/>
            <a:ext cx="4064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93000" y="3429000"/>
            <a:ext cx="4064000" cy="875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试试：把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"Hello, World!"
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改成你的名字，再运行</a:t>
            </a:r>
            <a:endParaRPr lang="zh-CN" altLang="en-US" sz="17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第一行代码的意义：确认环境能跑通，后面的代码才有意义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读报错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报错是朋友不是敌人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0" y="1016000"/>
            <a:ext cx="6604000" cy="2286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620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636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414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2192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224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报错信息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1295400"/>
            <a:ext cx="6350000" cy="993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Traceback (most recent call last):
  File "01.py", line 1, in &lt;module&gt;
    print(Hello)
NameError: name 'Hello' is not defined</a:t>
            </a:r>
            <a:endParaRPr lang="en-US" altLang="en-US" sz="14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7000" y="1143000"/>
            <a:ext cx="3810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读报错只看两行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47000" y="1625600"/>
            <a:ext cx="3810000" cy="21812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最后一行：错误类型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NameError =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名字没定义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↑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的那一行：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出错的具体位置</a:t>
            </a:r>
            <a:endParaRPr lang="zh-CN" altLang="en-US" sz="17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43800" y="1183640"/>
            <a:ext cx="3810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747000" y="3806825"/>
            <a:ext cx="3810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常见错误类型：</a:t>
            </a:r>
            <a:r>
              <a:rPr lang="en-US" altLang="zh-CN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NameError </a:t>
            </a:r>
            <a:r>
              <a:rPr lang="zh-CN" altLang="en-US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未定义</a:t>
            </a:r>
            <a:r>
              <a:rPr lang="en-US" altLang="zh-CN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TypeError </a:t>
            </a:r>
            <a:r>
              <a:rPr lang="zh-CN" altLang="en-US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类型错</a:t>
            </a:r>
            <a:r>
              <a:rPr lang="en-US" altLang="zh-CN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SyntaxError </a:t>
            </a:r>
            <a:r>
              <a:rPr lang="zh-CN" altLang="en-US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语法错</a:t>
            </a:r>
            <a:r>
              <a:rPr lang="en-US" altLang="zh-CN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IndentationError </a:t>
            </a:r>
            <a:r>
              <a:rPr lang="zh-CN" altLang="en-US" sz="15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缩进错</a:t>
            </a:r>
            <a:endParaRPr lang="zh-CN" altLang="en-US" sz="15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机器在告诉你：改这里。先看最后一行，再看箭头指向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三、变量与类型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数据的四只「盒子」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50000" cy="306514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types.py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2508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age = 20            # int  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整数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price = 19.9        # float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小数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name =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       # str  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字符串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is_student = True   # bool 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真假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print(type(age))        # &lt;class 'int'&gt;
print(type(name))       # &lt;class 'str'&gt;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变量可重新赋值，类型也会变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age =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二十岁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现在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age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变成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str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type()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看类型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76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int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：整数，如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
· float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：小数，如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19.9
· str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：字符串，加引号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bool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：只有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True / False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一个贴了标签的盒子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标签能撕掉重贴（重新赋值）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26300" y="118364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9500" y="4387215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记忆点：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必须加引号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数字才是不加引号的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/ 19.9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四只盒子：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/ float / str / bool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看到认识即可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类型转换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f-string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拼接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50000" cy="337121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convert.py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275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age = 20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数字不能直接和文字相加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我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 + age)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报错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TypeError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转换三兄弟：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int() / float() / str()
text = "20"
num = int(text)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字符串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整数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print(num + 1)           # 21
# f-string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f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开头，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{ }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里放变量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print(f"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我今年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{age}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岁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我今年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20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岁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拼接推荐用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f-string</a:t>
            </a:r>
            <a:endParaRPr lang="en-US" altLang="zh-CN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76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int(x)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转整数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float(x)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转小数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str(x)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转字符串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f-string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最常用：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f"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花括号里的变量会自动替换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51725" y="109220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51725" y="4387215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记：数字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必须先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str()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f-string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f-string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是最高频的字符串写法，务必看熟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条件判断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if / elif / else</a:t>
            </a:r>
            <a:endParaRPr lang="en-US" altLang="zh-CN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248400" cy="411861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if_demo.py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299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score = 85
if score &gt;= 90:
    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优秀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elif score &gt;= 60:
    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else:
    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不及格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比较运算符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 &gt;  &gt;=  &lt;  &lt;=  ==  !=
#  and(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且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  or(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或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  not(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非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三个关键字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3241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if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：如果（第一个条件）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elif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：否则如果（可多个）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else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：否则（兜底）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==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是比较相等，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是赋值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千万别搞混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and / or / not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组合多个条件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04100" y="101854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04100" y="4868545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= 59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输出什么？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score = 90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输出什么？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条件块从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开始，依次判断，命中一个就停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缩进是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Python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的灵魂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实操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lang="en-US" altLang="zh-CN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096000" cy="2540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096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334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缩进对比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5842000" cy="1671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if True:
    print("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属于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if")     #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缩进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4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空格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不属于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if")       #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顶格，一定执行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错误示范（少了缩进会报错）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if True:
print("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这行会报错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IndentationError")</a:t>
            </a:r>
            <a:endParaRPr lang="en-US" altLang="zh-CN" sz="14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5500" y="1143000"/>
            <a:ext cx="4445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缩进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=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归属关系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75500" y="1625600"/>
            <a:ext cx="4445000" cy="166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后面要另起一行并缩进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缩进的代码「属于」上面的块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同一块缩进必须对齐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推荐统一用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个空格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50100" y="1018540"/>
            <a:ext cx="4445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175500" y="3657600"/>
            <a:ext cx="4445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【实操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】写一个分数判断：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&gt;60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输出「及格」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否则输出「不及格」，用上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if/else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看到冒号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就想到「接下来要缩进」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四、列表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list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排队的盒子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50000" cy="2921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list_demo.py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2508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fruits = ["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苹果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香蕉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橙子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"]
print(fruits[0])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苹果（从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0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开始数）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print(fruits[-1])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橙子（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-1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是最后一个）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fruits.append("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葡萄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往尾巴加一个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print(len(fruits))    # 4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（长度）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切片：取一部分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[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起点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终点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]
print(fruits[0:2])    # ['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苹果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', '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香蕉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']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下标从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0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开始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379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 ]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包住，逗号分隔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下标：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是第一个，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是最后一个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append()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往尾巴添加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len()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看长度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切片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[0:2]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取第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到第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（含头不含尾）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04100" y="109220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9500" y="4038600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比喻：列表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有编号的抽屉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每个抽屉能装任意数据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列表是数据「排好队」的容器，靠下标取值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for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列表推导式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50000" cy="385191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for_demo.py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323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fruits = ["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苹果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香蕉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橙子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"]
# for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循环：挨个拿、挨个处理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for f in fruits:
    print(f)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依次打印三个水果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range()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：生成一串数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for i in range(5):
    print(i)          # 0 1 2 3 4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列表推导式：一行生成新列表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nums = [x * 2 for x in range(5)]
print(nums)           # [0, 2, 4, 6, 8]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for =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循环处理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for x in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逐个取出，缩进块里处理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range(n)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n-1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列表推导式：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[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x in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一行顶一个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85990" y="109220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9500" y="4038600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代码里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+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推导式极常见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看到能认出即可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流水线：同一件事，对每个元素都做一遍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字典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dict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带标签的盒子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50000" cy="427926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dict_demo.py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323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student = {
    "name":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
    "age": 20,
    "score": 85
}
print(student["name"])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张三（用键取值）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student["city"] =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北京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新增一个键值对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print(student.keys())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所有键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get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更安全，键不存在不报错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print(student.get("sex",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未知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"))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未知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键值对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key: value</a:t>
            </a:r>
            <a:endParaRPr lang="en-US" altLang="zh-CN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059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{ }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每个元素是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靠「键」取值，不靠位置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dict["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新键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"]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get()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取不到给默认值，更安全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26300" y="101854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9500" y="4038600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比喻：字典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通讯录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按「名字」找人，不按「排第几」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里的配置、参数，几乎都用字典表示（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组合拳：遍历「字典列表」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实操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endParaRPr lang="en-US" altLang="zh-CN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374765" cy="453326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477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71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combo.py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223000" cy="3475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students = [
    {"name":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"score": 85},
    {"name":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李四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"score": 92},
    {"name":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王五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"score": 58},
]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列表里套字典，逐个取出处理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for s in students:
    name = s["name"]
    score = s["score"]
    if score &gt;= 60:
        print(f"{name}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    else:
        print(f"{name}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不及格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93000" y="1143000"/>
            <a:ext cx="4064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最实用的组合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93000" y="1625600"/>
            <a:ext cx="4064000" cy="2059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for + if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处理数据的「标准模板」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s in xxx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心里默念「挨个处理每个元素」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83145" y="1021715"/>
            <a:ext cx="4064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93000" y="3911600"/>
            <a:ext cx="406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【实操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】把上面代码里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print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f"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{name}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，成绩：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{score}"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能读懂「列表套字典的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循环」，就能读懂一半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五、函数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def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打包一段操作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471920" cy="448818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func_demo.py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096000" cy="3717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定义：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函数名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参数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):
def greet(name):
    """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这个函数用来打招呼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"""
    return f"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你好，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{name}"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调用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msg = greet("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print(msg)  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你好，张三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多个参数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默认值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def add(a, b=10):
    return a + b
print(add(3))         # 13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b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用默认值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10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print(add(3, 5))      # 8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9500" y="1143000"/>
            <a:ext cx="41275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def + return</a:t>
            </a:r>
            <a:endParaRPr lang="en-US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9500" y="1625600"/>
            <a:ext cx="4127500" cy="2059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def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定义函数，之后反复调用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传给函数的「输入」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return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把结果「交回去」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默认值：调用时不传就用它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三引号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"""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是函数说明（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docstring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29500" y="1003300"/>
            <a:ext cx="41275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9500" y="4038600"/>
            <a:ext cx="4127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def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：把这段代码当成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一个「有名字的黑盒子」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可复用的积木，看懂输入输出即可，不必抠内部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参数的花样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*args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**kwargs</a:t>
            </a:r>
            <a:endParaRPr lang="en-US" altLang="zh-CN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604000" cy="2921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args_kwargs.py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2266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def demo(a, *args, **kwargs):
    print("a =", a)
    print("args =", args)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多余的位置参数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print("kwargs =", kwargs)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多余的键值参数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demo(1, 2, 3, name="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age=20)
# a = 1
# args = (2, 3)
# kwargs = {'name': '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', 'age': 20}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看到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*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**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别慌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2847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*args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装多余的位置参数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元组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**kwargs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装多余的键值参数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框架里到处是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**kwargs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只要知道「在收一堆参数」即可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00" y="10541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579620"/>
            <a:ext cx="393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不用背写法，看到能认出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「这是在收集灵活参数」就够了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*args / **kwargs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灵活参数的口袋，看懂即可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模块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import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搬别人写好的代码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216650" cy="374269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096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334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import_demo.py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5842000" cy="275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import math
print(math.sqrt(16))   # 4.0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（开平方）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from math import pi
print(pi)              # 3.14159...
import json
data = '{"name":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"}'
obj = json.loads(data)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字符串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字典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print(obj["name"])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5500" y="1143000"/>
            <a:ext cx="4445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两种导入方式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75500" y="1625600"/>
            <a:ext cx="4445000" cy="3241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import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from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import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直接调用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json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模块超常用：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loads()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dumps()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65645" y="1018540"/>
            <a:ext cx="4445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065645" y="4866640"/>
            <a:ext cx="4445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常用库速记：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os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sys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json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time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requests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借用别人造好的轮子，不用自己重写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pip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安装第三方库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604000" cy="351726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终端命令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275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安装（在终端里敲，不是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.py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里）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pip install requests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指定版本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pip install requests==2.31.0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查看已安装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pip list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卸载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pip uninstall requests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pip =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装库的工具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标准库：自带，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就能用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第三方库：先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pip install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import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装在「终端」里，不是代码里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VS Code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新建终端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敲命令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31100" y="1054735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320540"/>
            <a:ext cx="393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ModuleNotFoundError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=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没装这个库，先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pip install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缺啥装啥：看到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ModuleNotFoundError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就去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pip install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六、面向对象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为什么要认识「类」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143000"/>
            <a:ext cx="5334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现实世界</a:t>
            </a:r>
            <a:r>
              <a:rPr lang="en-US" altLang="zh-CN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→ </a:t>
            </a:r>
            <a:r>
              <a:rPr lang="zh-CN" altLang="en-US" sz="24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代码世界</a:t>
            </a:r>
            <a:endParaRPr lang="zh-CN" altLang="en-US" sz="24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1651000"/>
            <a:ext cx="5334000" cy="1973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en-US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class =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设计图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按图造出来的具体东西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它的数据（姓名、年龄）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它能做的事（自我介绍）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8490" y="1069340"/>
            <a:ext cx="5334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4293235"/>
            <a:ext cx="53340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为什么必须认识类？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LangChain / CrewAI 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Agent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</a:t>
            </a:r>
            <a:r>
              <a:rPr lang="zh-CN" altLang="en-US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都是「类」写出来的</a:t>
            </a:r>
            <a:endParaRPr lang="zh-CN" altLang="en-US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04000" y="1143000"/>
            <a:ext cx="5080000" cy="2667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604000" y="1143000"/>
            <a:ext cx="508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705600" y="1219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883400" y="1219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061200" y="1219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264400" y="1181100"/>
            <a:ext cx="431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类的最简示例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56400" y="1422400"/>
            <a:ext cx="4826000" cy="2266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class Dog:
    def __init__(self, name):
        self.name = name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属性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def bark(self):  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方法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    print(f"{self.name}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：汪汪！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d = Dog("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旺财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造出一个对象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d.bark()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旺财：汪汪！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04000" y="3937000"/>
            <a:ext cx="5080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 Dog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是「模板」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 = Dog("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旺财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是「造出一只狗」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self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代表「当前这个对象自己」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类的标准长相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四看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604000" cy="3048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book_class.py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2508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class Book:
    def __init__(self, title, author):
        self.title = title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①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属性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    self.author = author
    def info(self):   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②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方法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    return f"{self.title} by {self.author}"
b = Book("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三体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刘慈欣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print(b.info())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三体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by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刘慈欣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看类就找这四样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3241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__init__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：初始化函数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造对象时自动跑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self.xxx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：属性（数据）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def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方法：能做的事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：造对象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__init__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就想到：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「这是对象的出厂设置」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80300" y="1021715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995545"/>
            <a:ext cx="393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双下划线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__init__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是特殊方法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不是写错了，别怕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读类四看：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__init__ / self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继承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子类复用父类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502400" cy="409702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inherit.py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323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class Animal:
    def __init__(self, name):
        self.name = name
    def speak(self):
        print(f"{self.name}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在叫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子类继承父类：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子类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父类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
class Dog(Animal):
    def speak(self):     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覆盖父类方法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    print(f"{self.name}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：汪汪！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d = Dog("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旺财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d.speak()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旺财：汪汪！</a:t>
            </a:r>
            <a:endParaRPr lang="zh-CN" altLang="en-US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class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子类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父类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2847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儿子继承老子的家产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子类自动拥有父类的方法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覆盖：子类重写同名方法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扩展：加自己独有功能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class X(Y)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X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的一种特殊版本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00" y="10541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529455"/>
            <a:ext cx="393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框架常见：自定义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Tool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继承框架的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BaseTool</a:t>
            </a:r>
            <a:endParaRPr lang="en-US" altLang="zh-CN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复用父类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按需改造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装饰器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@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与类型注解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603365" cy="400875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decorator.py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299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装饰器：给函数「套一层壳」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def log(func):
    def wrapper(*args, **kwargs):
        print("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开始调用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
        return func(*args, **kwargs)
    return wrapper
@log
def hello(name):
    print(f"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你好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{name}")
hello("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")   #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先打印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开始调用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再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你好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张三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@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开头</a:t>
            </a:r>
            <a:r>
              <a:rPr lang="en-US" altLang="zh-CN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= </a:t>
            </a: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装饰器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2847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@xxx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在函数上面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给函数加功能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看不懂没关系，先知道「在装饰」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类型注解（新版常见）：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def add(a: int, b: int) -&gt; int:
   a: int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是整数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-&gt; int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表示返回整数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80300" y="10414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695825"/>
            <a:ext cx="3937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别当成箭头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是「函数返回什么类型」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类型注解只是提示，不强制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装饰器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加壳；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int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返回类型提示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【实操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】读一段类代码，答三问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502400" cy="5074285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quiz.py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444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class Student:
    def __init__(self, name, score):
        self.name = name
        self.score = score
    def is_pass(self):
        return self.score &gt;= 60
    def level(self):
        if self.score &gt;= 90:
            return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优秀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        elif self.score &gt;= 60:
            return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        return 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不及格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s = Student("</a:t>
            </a:r>
            <a:r>
              <a:rPr lang="zh-CN" altLang="en-US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小明</a:t>
            </a:r>
            <a:r>
              <a:rPr lang="en-US" altLang="zh-CN" sz="15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", 75)
print(s.is_pass())   # ?
print(s.level())     # ?</a:t>
            </a:r>
            <a:endParaRPr lang="en-US" altLang="zh-CN" sz="15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三个问题</a:t>
            </a:r>
            <a:endParaRPr lang="zh-CN" altLang="en-US" sz="22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1973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en-US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：这个类叫什么？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Q2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：有哪些属性和方法？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Q3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s.is_pass()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s.level()
  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分别输出什么？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93000" y="10033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3911600"/>
            <a:ext cx="3937000" cy="1345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答案：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Q3 → is_pass()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True
    level()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输出「及格」</a:t>
            </a:r>
            <a:endParaRPr lang="zh-CN" altLang="en-US" sz="17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能答出这三问，读类能力就达标了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七、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Skills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开发实战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先回顾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Skills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是什么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1016000"/>
            <a:ext cx="6604000" cy="3175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10160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541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Skills </a:t>
            </a:r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的结构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95400"/>
            <a:ext cx="6350000" cy="25736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Skills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（技能包）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给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AI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的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岗位说明书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├── SKILL.md  ←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说明书：教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AI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怎么完成一类任务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└── (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可选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)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辅助文件：脚本、模板、数据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放哪里？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项目级：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.claude/skills/&lt;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技能名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&gt;/SKILL.md
        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（跟着项目走，推荐先用这个）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个人级：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~/.claude/skills/&lt;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技能名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&gt;/SKILL.md
        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（所有项目都能用）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CodeBuddy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对应：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.codebuddy/skills/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或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     ~/.codebuddy/skills/</a:t>
            </a:r>
            <a:endParaRPr lang="en-US" altLang="zh-CN" sz="14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835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</a:rPr>
              <a:t>一句话记住</a:t>
            </a:r>
            <a:endParaRPr lang="zh-CN" altLang="en-US" sz="22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83500" y="1625600"/>
            <a:ext cx="3937000" cy="3241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是「说明书」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什么时候用我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怎么一步步干活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输出成什么样子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辅助脚本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真正干活的工具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不只是动嘴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80300" y="10160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17460" y="4866640"/>
            <a:ext cx="3937000" cy="1268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本课实战：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亲手写一个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python-code-reader
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技能包（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endParaRPr lang="zh-CN" altLang="en-US" sz="17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= SKILL.md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说明书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可选辅助脚本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实战任务：做一个「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代码讲解助手」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016000"/>
            <a:ext cx="6350000" cy="1449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做一个叫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python-code-reader 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用大白话讲清任意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代码。</a:t>
            </a:r>
            <a:endParaRPr lang="zh-CN" altLang="en-US" sz="19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1225" y="2491105"/>
            <a:ext cx="10668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四个步骤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总共约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30 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</a:t>
            </a:r>
            <a:endParaRPr lang="zh-CN" altLang="en-US" sz="24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270000" y="3227705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0000" y="3227705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05000" y="3202305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创建目录（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分钟）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05000" y="3608705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.claude/skills/python-code-reader/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270000" y="3938905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70000" y="3938905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05000" y="3913505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SKILL.md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分钟）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05000" y="4319905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description + 5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步执行流程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示例对话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270000" y="4650105"/>
            <a:ext cx="431800" cy="431800"/>
          </a:xfrm>
          <a:prstGeom prst="ellipse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270000" y="4650105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05000" y="4624705"/>
            <a:ext cx="751014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analyze.py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辅助脚本（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分钟）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05000" y="5031105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用今天学的语法，统计代码行数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函数数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类数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270000" y="5361305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70000" y="5361305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85315" y="527177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分钟）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05000" y="5742305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粘贴代码让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讲，看是否触发技能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今天学的所有语法，都会在写这个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时用上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步骤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1+2 ·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建目录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&amp;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SKILL.md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头部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500" y="965200"/>
            <a:ext cx="571500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在项目文件夹里创建：</a:t>
            </a:r>
            <a:endParaRPr lang="zh-CN" altLang="en-US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8500" y="1428750"/>
            <a:ext cx="5715000" cy="1143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8500" y="1428750"/>
            <a:ext cx="5715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00100" y="150495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77900" y="150495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155700" y="150495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58900" y="1466850"/>
            <a:ext cx="4953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目录结构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0900" y="1708150"/>
            <a:ext cx="5461000" cy="316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.claude/skills/python-code-reader/SKILL.md</a:t>
            </a:r>
            <a:endParaRPr lang="en-US" altLang="en-US" sz="14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8500" y="2641600"/>
            <a:ext cx="5715000" cy="166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SKILL.md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开头要有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frontmatter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---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包裹的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name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description
name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：技能名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description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：什么场景下触发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8000" y="965200"/>
            <a:ext cx="5715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98500" y="4191000"/>
            <a:ext cx="5715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黄金法则：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写清「什么时候用」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才会自动触发这个技能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04000" y="1016000"/>
            <a:ext cx="5080000" cy="3175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604000" y="1016000"/>
            <a:ext cx="508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705600" y="1092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883400" y="1092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061200" y="1092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264400" y="1054100"/>
            <a:ext cx="431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SKILL.md</a:t>
            </a:r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（头部）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756400" y="1295400"/>
            <a:ext cx="4826000" cy="2816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---
name: python-code-reader
description: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用大白话讲解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Python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当用户粘贴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Python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代码、问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这段代码干什么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怎么运行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
 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哪里看不懂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时使用。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---
# Python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代码讲解助手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你负责的任务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把用户给的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Python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代码，按固定流程讲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清楚，目标是让零基础的人听懂。</a:t>
            </a:r>
            <a:endParaRPr lang="zh-CN" altLang="en-US" sz="13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frontmatter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description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会不会主动用这个技能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SKILL.md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五步执行流程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990600"/>
            <a:ext cx="6460490" cy="498348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990600"/>
            <a:ext cx="6350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668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668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668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28700"/>
            <a:ext cx="558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执行步骤（必须按顺序）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70000"/>
            <a:ext cx="6096000" cy="470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步：一句话概括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用不超过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30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个字，说明整体在干什么。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示例：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这段代码统计学生成绩，输出及格名单。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###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步：拆块讲解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每块用：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【代码】贴出原代码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【干什么】大白话解释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【关键词】标注语法点（变量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列表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字典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
 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函数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类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装饰器等），每个一句话解释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步：数据流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用箭头说明数据从哪来、怎么处理、到哪去。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示例：输入名单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for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循环判断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及格者加入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新列表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打印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步：猜输出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写出：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这段代码运行后会输出：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..."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并给结果。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###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第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步：常见坑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1-2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句提示新手易错处（索引从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开始、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==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才是判断相等、缩进错误等）。</a:t>
            </a:r>
            <a:endParaRPr lang="zh-CN" altLang="en-US" sz="13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39000" y="990600"/>
            <a:ext cx="4381500" cy="3556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39000" y="990600"/>
            <a:ext cx="43815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340600" y="10668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518400" y="10668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696200" y="10668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899400" y="1028700"/>
            <a:ext cx="36195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000">
                <a:solidFill>
                  <a:srgbClr val="9AA0A6"/>
                </a:solidFill>
                <a:latin typeface="Consolas" panose="020B0609020204030204" charset="0"/>
              </a:rPr>
              <a:t>示例对话</a:t>
            </a:r>
            <a:endParaRPr lang="zh-CN" altLang="en-US" sz="1000">
              <a:solidFill>
                <a:srgbClr val="9AA0A6"/>
              </a:solidFill>
              <a:latin typeface="Consolas" panose="020B060902020403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91400" y="1270000"/>
            <a:ext cx="4127500" cy="218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用户：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def add(a, b): return a + b
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助手：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【干什么】定义一个加法函数：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输入两个数，返回它们的和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【关键词】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def=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定义函数；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return=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返回结果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【数据流】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b →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相加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→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返回给调用者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-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【猜输出】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print(add(3, 4)) → 7</a:t>
            </a:r>
            <a:endParaRPr lang="en-US" altLang="zh-CN" sz="13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5000" y="5862320"/>
            <a:ext cx="10795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要点：执行步骤写清「先做什么后做什么」，示例对话给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打样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有章法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有样例，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才能稳定输出</a:t>
            </a:r>
            <a:endParaRPr lang="zh-CN" altLang="en-US" sz="17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管「触发」，执行步骤管「章法」，示例对话管「打样」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步骤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·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analyze.py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辅助脚本（加分项）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00" y="965200"/>
            <a:ext cx="6735445" cy="509651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500" y="965200"/>
            <a:ext cx="6604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0100" y="10414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7900" y="10414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5700" y="10414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58900" y="1003300"/>
            <a:ext cx="584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.claude/skills/python-code-reader/analyze.py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1244600"/>
            <a:ext cx="6350000" cy="470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# analyze.py ——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统计一段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Python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代码的基本信息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import sys
def analyze(code):
    lines = code.split("\n")
    non_empty = [l for l in lines if l.strip()]   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去掉空行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funcs = [l for l in non_empty
             if l.strip().startswith("def ")]
    classes = [l for l in non_empty
               if l.strip().startswith("class ")]
    print("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代码总行数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:", len(lines))
    print("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非空行数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:", len(non_empty))
    print("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函数数量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:", len(funcs))
    print("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类数量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:", len(classes))
    for f in funcs:
        print(" 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函数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:", f.strip().split("(")[0]
              .replace("def ", ""))
if __name__ == "__main__":
    code = sys.stdin.read()   # </a:t>
            </a:r>
            <a:r>
              <a:rPr lang="zh-CN" altLang="en-US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读取传入的代码</a:t>
            </a:r>
            <a:r>
              <a:rPr lang="en-US" altLang="zh-CN" sz="13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 analyze(code)</a:t>
            </a:r>
            <a:endParaRPr lang="en-US" altLang="zh-CN" sz="13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0" y="1143000"/>
            <a:ext cx="3937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</a:rPr>
              <a:t>今天学的语法全用上了</a:t>
            </a:r>
            <a:endParaRPr lang="zh-CN" altLang="en-US" sz="22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0" y="1625600"/>
            <a:ext cx="3937000" cy="3241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import sys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：导入标准库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def analyze()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：函数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code.split()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：字符串切分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列表推导式：过滤空行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startswith()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：判断开头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if __name__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：入口判断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这段代码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本课知识的浓缩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00" y="1041400"/>
            <a:ext cx="3937000" cy="508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0" y="4862830"/>
            <a:ext cx="3937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写进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SKILL.md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执行步骤：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「先运行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analyze.py 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传代码，</a:t>
            </a:r>
            <a:r>
              <a:rPr lang="en-US" altLang="zh-CN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把统计结果当讲解开头」</a:t>
            </a:r>
            <a:endParaRPr lang="zh-CN" altLang="en-US" sz="16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辅助脚本让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真的「会干活」，而不只是让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动嘴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步骤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</a:t>
            </a:r>
            <a:r>
              <a:rPr lang="en-US" altLang="zh-CN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验收标准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500" y="1016000"/>
            <a:ext cx="5842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分钟）</a:t>
            </a:r>
            <a:endParaRPr lang="zh-CN" altLang="en-US" sz="24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500" y="1524000"/>
            <a:ext cx="5842000" cy="3201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写一段今天练习的代码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说「帮我看看这段代码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是干什么的」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粘贴代码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用了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python-code-reader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格式讲解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成功！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没触发？检查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description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写清场景，或手动指定技能</a:t>
            </a:r>
            <a:endParaRPr lang="zh-CN" altLang="en-US" sz="17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21500" y="1016000"/>
            <a:ext cx="4826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验收标准（都满足</a:t>
            </a:r>
            <a:r>
              <a:rPr lang="en-US" altLang="zh-CN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= </a:t>
            </a:r>
            <a:r>
              <a:rPr lang="zh-CN" altLang="en-US" sz="24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完成）</a:t>
            </a:r>
            <a:endParaRPr lang="zh-CN" altLang="en-US" sz="24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21500" y="1524000"/>
            <a:ext cx="4826000" cy="2794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921500" y="1524000"/>
            <a:ext cx="4826000" cy="254000"/>
          </a:xfrm>
          <a:prstGeom prst="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023100" y="1600200"/>
            <a:ext cx="101600" cy="1016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200900" y="1600200"/>
            <a:ext cx="101600" cy="1016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378700" y="1600200"/>
            <a:ext cx="101600" cy="1016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581900" y="1562100"/>
            <a:ext cx="4064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000">
                <a:solidFill>
                  <a:srgbClr val="9AA0A6"/>
                </a:solidFill>
                <a:latin typeface="Consolas" panose="020B0609020204030204" charset="0"/>
                <a:cs typeface="Consolas" panose="020B0609020204030204" charset="0"/>
              </a:rPr>
              <a:t>checklist</a:t>
            </a:r>
            <a:endParaRPr lang="en-US" altLang="en-US" sz="1000">
              <a:solidFill>
                <a:srgbClr val="9AA0A6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73900" y="1803400"/>
            <a:ext cx="457200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5000"/>
              </a:lnSpc>
            </a:pP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SKILL.md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放在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   .claude/skills/python-code-reader/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下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description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清楚说明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什么场景用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执行步骤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&gt;= 4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步，且包含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猜输出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"
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有一个示例对话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
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✅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（加分）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analyze.py </a:t>
            </a:r>
            <a:r>
              <a:rPr lang="zh-CN" altLang="en-US" sz="1400">
                <a:solidFill>
                  <a:srgbClr val="D4D4D4"/>
                </a:solidFill>
                <a:latin typeface="Consolas" panose="020B0609020204030204" charset="0"/>
                <a:cs typeface="Consolas" panose="020B0609020204030204" charset="0"/>
              </a:rPr>
              <a:t>能运行并输出统计</a:t>
            </a:r>
            <a:endParaRPr lang="zh-CN" altLang="en-US" sz="1400">
              <a:solidFill>
                <a:srgbClr val="D4D4D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做完即验收：五条全勾，技能包就立起来了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Skills </a:t>
            </a:r>
            <a:r>
              <a:rPr lang="zh-CN" altLang="en-US" sz="40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开发的三条心法</a:t>
            </a:r>
            <a:endParaRPr lang="zh-CN" altLang="en-US" sz="40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257300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257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①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231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从自己的痛点出发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638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你最常让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干什么？把它做成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。自己用得上，才写得动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654300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654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②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628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description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是灵魂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3035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写不清「什么时候用」，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就不会主动用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触发全靠它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4051300"/>
            <a:ext cx="431800" cy="431800"/>
          </a:xfrm>
          <a:prstGeom prst="ellipse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4051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③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4025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先小后大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4432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先做一个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行的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，跑通流程，再慢慢加功能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2000" y="5651500"/>
            <a:ext cx="10668000" cy="431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本堂的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是「样板」：课后为自己最常用的一件事各写一个（读论文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写周报</a:t>
            </a:r>
            <a:r>
              <a:rPr lang="en-US" altLang="zh-CN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700" b="1">
                <a:solidFill>
                  <a:srgbClr val="FF8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改简历）</a:t>
            </a:r>
            <a:endParaRPr lang="zh-CN" altLang="en-US" sz="1700" b="1">
              <a:solidFill>
                <a:srgbClr val="FF8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先跑通，再优化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别在第一步就追求完美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八、本课知识地图</a:t>
            </a:r>
            <a:r>
              <a:rPr lang="en-US" altLang="zh-CN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一张图记住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130300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130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词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104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词汇表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511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存数据；列表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排队；字典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名片夹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146300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146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流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120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流程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2527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if/else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（做选择）；循环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（逐个处理）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3162300"/>
            <a:ext cx="431800" cy="431800"/>
          </a:xfrm>
          <a:prstGeom prst="ellipse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3162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木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3136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积木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3543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def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（封装逻辑）；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（用现成库）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270000" y="4178300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270000" y="4178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骨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05000" y="4152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骨架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05000" y="4559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class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（图纸）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self + __init__ +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@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装饰器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70000" y="5194300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270000" y="5194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武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05000" y="5168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武器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05000" y="5575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：把「读代码三步法」做成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读代码所需的一切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词汇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积木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骨架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武器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</a:rPr>
              <a:t>课后作业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193800"/>
            <a:ext cx="431800" cy="431800"/>
          </a:xfrm>
          <a:prstGeom prst="ellipse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1938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1684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读代码练习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5748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把本课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个实操代码，每段用「三步法」（翻译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猜输出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验证）过一遍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654300"/>
            <a:ext cx="431800" cy="431800"/>
          </a:xfrm>
          <a:prstGeom prst="ellipse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654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628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Skills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实战（核心作业）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3035300"/>
            <a:ext cx="8890000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python-code-reader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，再仿照它写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个新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（论文阅读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周报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简历），含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description +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4114800"/>
            <a:ext cx="431800" cy="431800"/>
          </a:xfrm>
          <a:prstGeom prst="ellipse">
            <a:avLst/>
          </a:prstGeom>
          <a:solidFill>
            <a:srgbClr val="4B8B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41148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40894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预习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44958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flask / fastapi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小项目，找一段真实代码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要用它实战阅读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是重点：从「会用」到「会造」的第一次跨越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FAQ · </a:t>
            </a:r>
            <a:r>
              <a:rPr lang="zh-CN" altLang="en-US" sz="40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常见疑问</a:t>
            </a:r>
            <a:endParaRPr lang="zh-CN" altLang="en-US" sz="40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500" y="965200"/>
            <a:ext cx="5334000" cy="3669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两小时语法会不会太少？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不会，目标是「读懂」不是「熟练写」，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小时已覆盖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90%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读代码需求。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Q2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self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都没完全懂能继续吗？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能，记住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self =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「对象自己」即可，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剩下的读项目时自然就懂。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Q3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和第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Skills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有啥区别？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周「会用现成」；本课「第一次自己写」。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0" y="965200"/>
            <a:ext cx="5334000" cy="3311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堂语法压成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堂？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因为目标是「读懂」，细节放项目里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「遇到再学」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项目是最好的老师。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Q5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analyze.py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卡住怎么办？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7.2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抄一遍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看不懂的复制给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报错了把报错发给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这不是作弊，是这门课的核心工作方式。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卡住就问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这正是本课要训练的核心能力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3069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270000"/>
            <a:ext cx="10668000" cy="1011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读懂</a:t>
            </a:r>
            <a:r>
              <a:rPr lang="en-US" altLang="zh-CN" sz="4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会问</a:t>
            </a:r>
            <a:r>
              <a:rPr lang="en-US" altLang="zh-CN" sz="4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600" b="1">
                <a:solidFill>
                  <a:srgbClr val="3069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能开发</a:t>
            </a:r>
            <a:endParaRPr lang="zh-CN" altLang="en-US" sz="4600" b="1">
              <a:solidFill>
                <a:srgbClr val="3069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72000" y="2286000"/>
            <a:ext cx="3048000" cy="38100"/>
          </a:xfrm>
          <a:prstGeom prst="rect">
            <a:avLst/>
          </a:prstGeom>
          <a:solidFill>
            <a:srgbClr val="FF8C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2000" y="2603500"/>
            <a:ext cx="10668000" cy="1173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60000"/>
              </a:lnSpc>
            </a:pP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今天：认了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的词汇、流程、积木、骨架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亲手造出第一个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Skills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</a:t>
            </a:r>
            <a:endParaRPr lang="zh-CN" altLang="en-US" sz="2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4064000"/>
            <a:ext cx="10668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600" b="1">
                <a:solidFill>
                  <a:srgbClr val="FF8C00"/>
                </a:solidFill>
                <a:latin typeface="黑体" panose="02010609060101010101" charset="-122"/>
                <a:ea typeface="黑体" panose="02010609060101010101" charset="-122"/>
              </a:rPr>
              <a:t>下节预告</a:t>
            </a:r>
            <a:endParaRPr lang="zh-CN" altLang="en-US" sz="2600" b="1">
              <a:solidFill>
                <a:srgbClr val="FF8C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4572000"/>
            <a:ext cx="10668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· Python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数据分析：读代码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处理表格数据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NumPy / Pandas / Matplotlib ——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周机器学习的直接基础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57785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课后把「读代码三步法」变成肌肉记忆，我们下节课见</a:t>
            </a:r>
            <a:endParaRPr lang="zh-CN" altLang="en-US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2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3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4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5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6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7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8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9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10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11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ags/tag12.xml><?xml version="1.0" encoding="utf-8"?>
<p:tagLst xmlns:p="http://schemas.openxmlformats.org/presentationml/2006/main">
  <p:tag name="KSO_WM_DIAGRAM_VIRTUALLY_FRAME" val="{&quot;height&quot;:361.5,&quot;left&quot;:45,&quot;top&quot;:80,&quot;width&quot;:835}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13034</Words>
  <Application>WPS 演示</Application>
  <PresentationFormat>宽屏</PresentationFormat>
  <Paragraphs>616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黑体</vt:lpstr>
      <vt:lpstr>微软雅黑</vt:lpstr>
      <vt:lpstr>Consolas</vt:lpstr>
      <vt:lpstr>Arial Unicode MS</vt:lpstr>
      <vt:lpstr>Arial Black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86183</dc:creator>
  <cp:lastModifiedBy>母江涛</cp:lastModifiedBy>
  <cp:revision>34</cp:revision>
  <dcterms:created xsi:type="dcterms:W3CDTF">2023-07-11T07:43:00Z</dcterms:created>
  <dcterms:modified xsi:type="dcterms:W3CDTF">2026-08-15T08:43:00Z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A4AC99019E59437385F47CD1F69757B0_11</vt:lpwstr>
  </property>
</Properties>
</file>