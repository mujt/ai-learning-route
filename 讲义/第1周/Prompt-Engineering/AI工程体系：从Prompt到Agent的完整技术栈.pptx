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3.svg" ContentType="image/svg+xml"/>
  <Override PartName="/ppt/media/image106.svg" ContentType="image/svg+xml"/>
  <Override PartName="/ppt/media/image109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.svg" ContentType="image/svg+xml"/>
  <Override PartName="/ppt/media/image120.svg" ContentType="image/svg+xml"/>
  <Override PartName="/ppt/media/image125.svg" ContentType="image/svg+xml"/>
  <Override PartName="/ppt/media/image129.svg" ContentType="image/svg+xml"/>
  <Override PartName="/ppt/media/image132.svg" ContentType="image/svg+xml"/>
  <Override PartName="/ppt/media/image134.svg" ContentType="image/svg+xml"/>
  <Override PartName="/ppt/media/image139.svg" ContentType="image/svg+xml"/>
  <Override PartName="/ppt/media/image14.svg" ContentType="image/svg+xml"/>
  <Override PartName="/ppt/media/image141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6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欢迎大家参加本次课程。今天我们将深入探讨一个核心主题：AI工程体系。我们将一起构建一个从最基础的Prompt Engineering到最前沿的Agent系统的完整技术栈认知框架。这不仅是一次知识的学习，更是一次从“会用AI”到“构建AI系统”的认知升级之旅。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八个知识块，从KB1到KB8，层层递进。我们将首先建立一个宏观的六层AI工程体系认知，然后深入到每一层的核心技术，包括Prompt、Context、Harness、Hermes、Loop和Graph。之后，我们会通过实战详解和环境搭建，将理论知识付诸实践，最后进行总结和回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深入学习AI工程体系之前，我们先来解释一些核心的专业名词。首先是Token和上下文窗口。Token是模型处理文本的最小单元，也是API计费和上下文长度限制的基础。而上下文窗口，顾名思义，就是模型的“工作记忆”，它决定了模型一次能“看”到多少内容，直接影响到模型处理长文本和保持对话连贯的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模型参数和Embedding。模型参数可以理解为模型的知识储备，参数量越大，模型的能力通常也越强。而Embedding，即嵌入技术，是AI的语义地图，它将文字等符号转换为数学向量，使得机器能够理解语义的相似性，是实现语义搜索和RAG等高级应用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我们介绍RAG和Fine-tuning。RAG，即检索增强生成，是一种让模型连接外部实时知识的技术，能有效减少幻觉。而Fine-tuning，即微调，则是通过在特定数据集上进行二次训练，来定制模型的专业能力。LoRA是一种高效的微调方法，能以较低成本实现模型的定制化。这两种技术是当前大模型应用的两大主流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进入第一个知识块：六层AI工程体系概览。本部分的核心目标是帮助大家建立一个完整的AI技术栈认知框架。无论你是企业管理者、投资人，还是零基础的学习者，理解这个六层金字塔结构，都将为你后续深入学习AI技术打下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我们今天要学习的核心框架——六层AI工程体系金字塔。它从最基础的Prompt工程开始，逐层向上，直到最复杂的Graph工程。每一层都建立在下一层之上，解决了特定的问题，共同构成了一个完整的AI系统。左边的图虽然标注与我们略有不同，但很好地展示了这种层次递进的概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解这六层体系至关重要，因为它能帮助我们避免当前AI学习中的一些常见误区。很多人认为AI就是写Prompt，或者Agent就是简单的循环。但实际上，一个真正强大的AI系统是六层能力的整合。掌握这个框架，能帮助我们实现从“会用AI”到“构建AI系统”的认知升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结合我们刚刚学习的六层体系，我们该如何定义Agent呢？简单来说，Agent不是一个单一的技术或模型，而是一个整合了全部六层能力的完整系统。从任务输入、信息管理，到工具调用、长期记忆，再到自主推理和工作流编排，每一层都不可或缺。只有六层齐全，我们才能称之为一个“完全体”的Agent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深入了解一下Skills。如果说LLM是Agent的大脑，那么Skills就是它的手和脚。它本质上是一个可以被LLM调用的函数，让Agent能够执行具体任务。一个完整的Skill包含名称、描述、参数模式和执行逻辑这四个要素。整个调用流程从用户输入开始，经过LLM的推理和参数提取，最终执行技能并返回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那么如何构建Skills呢？最主流的方法是基于Function Calling机制。这里我们展示了一个简单的加法技能的代码示例，它包含了函数逻辑和工具描述两部分。在构建Skills时，有几个最佳实践需要遵循，比如要精通描述工程，保持技能的原子化，做好容错处理等，这些都能显著提升Agent的可靠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接下来我们介绍MCP，也就是模型上下文协议。它的作用是标准化AI系统中上下文信息的传递方式，就像AI Agent时代的“USB-C接口”，让不同的AI应用可以无缝集成。MCP采用客户端-宿主-服务器的架构，构建MCP系统主要就是实现一个提供特定功能的服务器。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最后，我们结合这张详细的流程图，来拆解一个成熟的AI Agent的完整执行流程。整个流程可以分为四大阶段：用户输入处理、Agent规划与技能调用、LLM深度推理以及最终的结果生成。从用户输入开始，经过Agent的任务分解、Skills的执行、LLM的推理，最后将结果返回给用户，形成一个完整的闭环。这张图清晰地展示了各个组件是如何协同工作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深入第二层和第一层，也就是Prompt与Context工程。我们将首先理解大语言模型的底层工作原理——它其实就是一个“下一个Token预测器”。然后，我们会学习如何通过精心设计的Prompt来引导这个预测过程，以及如何通过Context工程来管理模型所能看到的信息环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一个高质量的Prompt需要包含六个核心组件：角色、背景、任务、格式、约束和范例。这六个组件共同构成了对AI的完整指令。此外，我们还会介绍一些高级技巧，如思维链，来进一步提升Prompt的效果。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Context Engineering的核心是管理模型的信息环境。由于模型的上下文窗口有限，我们需要通过压缩、选择和结构化这三大策略，来确保模型在每一步都能获得最关键的信息。其中，RAG技术，也就是检索增强生成，是实现这一目标的关键技术，它能让模型利用外部知识库来生成更准确、更丰富的回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三层和第四层：Harness与Hermes工程。Harness工程，我们称之为根基工程，它为Agent提供了运行时的基础设施，就像Agent的“身体”，负责工具调用、权限控制等关键功能。右边的图展示了一个典型的Agent Harness架构。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成熟的Harness包含六大核心组件，从工具注册、权限控制到会话存储和日志追踪，这些组件共同保障了Agent在生产环境中的安全、可靠和高效。其中，MCP协议作为一个开放标准，正在成为连接AI与工具的事实标准，极大地简化了集成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ermes工程则代表了另一个重要方向：长运行的个人Agent。它具备长期记忆、跨应用的Skills系统、多平台消息网关以及自我恢复能力。Hermes的出现，标志着AI正从一个被动的工具，向一个主动的、永远在线的“数字伙伴”进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接下来我们探讨第五层和第六层：Loop与Graph工程。Loop工程，即循环工程，是Agent的“大脑”，它定义了Agent如何自主思考和行动。右边的图展示了一个典型的Agent Loop流程，包括观察、思考、决策、执行和反馈五个步骤。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标准的Agent Loop包含观察、思考、决策、执行和反馈五个步骤。这个循环让Agent能够自主地完成复杂任务。同时，学术界和工业界也在不断探索更高效的Loop范式，如ReAct、Plan-and-Execute等，这些范式各有优劣，适用于不同的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raph工程是六层体系的顶层，它使用状态图来编排复杂的Agent工作流。通过将工作流建模为节点和边，我们可以实现对Agent行为的精细控制，使其变得可预测、可恢复和可审计。这对于企业级应用至关重要。右边的图展示了LangGraph的核心工作流程，这是一个主流的Graph Engineering框架。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理论学习之后，我们进入实战环节。第五个知识块将专注于Prompt Engineering的实战技巧。我们将学习一个非常实用的RCTE框架，它包含角色、背景、任务和范例四个核心要素。掌握这个框架，能帮助你快速写出高质量的Prompt。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除了RCTE框架，我们还总结了8个实用的Prompt优化技巧，从使用明确指令到迭代优化，涵盖了Prompt设计的方方面面。同时，我们还提供了针对写作、编程、分析等不同任务的模板库，帮助你在实际工作中快速应用。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和技巧都准备好了，现在我们来搭建实际的开发环境。第六个知识块将指导大家如何配置一个强大的AI开发环境，主要基于VSCode编辑器，并安装Cline和Continue等关键插件。这个环境将让你能够高效地与Claude、DeepSeek等大模型进行交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重点介绍Cline插件的配置。这是Anthropic官方的插件，配置非常简单，只需几步即可完成。配置完成后，你就可以在VSCode中直接与Claude进行对话，让它帮助你编写代码、解释代码、修复bug等。我们还会介绍Continue插件，它支持多模型切换，是一个非常强大的开源替代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环境搭建完成后，我们进行一个非常实用的实操：使用AI来操作MySQL数据库。在这个环节，你将亲眼看到Prompt Engineering的威力。我们将构建一个AI Agent，它能将你的自然语言指令转化为SQL语句，并安全地执行。特别重要的是，我们会重点讲解数据库权限隔离的安全设计，这是企业应用中的关键环节。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这是AI数据库操作Agent的核心代码。大家可以看到，代码的核心是一个精心设计的System Prompt，它严格约束了AI的行为，包括数据库结构、安全规则和输出格式。通过这种方式，我们可以确保AI生成的SQL是安全且符合预期的。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进入第八个知识块，对整个课程进行总结。我们回顾了六层金字塔结构，强调了Agent是一个系统的核心认知，并梳理了各层的关键工程实践和核心概念。希望大家能通过这个速查表，快速回顾和巩固所学知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加深理解，我们布置了三个课后作业。第一个是Prompt优化练习，旨在让你熟练掌握Prompt设计技巧。第二个是开发环境搭建，确保你能亲手实践。第三个是数据库Agent的扩展，这是一个综合性的挑战，鼓励你将所学知识融会贯通，进行创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我的讲解到此结束。感谢大家的聆听。现在是问答环节，大家有任何问题都可以提出来，我们一起交流探讨。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svg"/><Relationship Id="rId8" Type="http://schemas.openxmlformats.org/officeDocument/2006/relationships/image" Target="../media/image19.png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2.svg"/><Relationship Id="rId13" Type="http://schemas.openxmlformats.org/officeDocument/2006/relationships/image" Target="../media/image11.png"/><Relationship Id="rId12" Type="http://schemas.openxmlformats.org/officeDocument/2006/relationships/image" Target="../media/image29.svg"/><Relationship Id="rId11" Type="http://schemas.openxmlformats.org/officeDocument/2006/relationships/image" Target="../media/image28.png"/><Relationship Id="rId10" Type="http://schemas.openxmlformats.org/officeDocument/2006/relationships/image" Target="../media/image27.sv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4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svg"/><Relationship Id="rId8" Type="http://schemas.openxmlformats.org/officeDocument/2006/relationships/image" Target="../media/image41.png"/><Relationship Id="rId7" Type="http://schemas.openxmlformats.org/officeDocument/2006/relationships/image" Target="../media/image40.svg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44.svg"/><Relationship Id="rId12" Type="http://schemas.openxmlformats.org/officeDocument/2006/relationships/image" Target="../media/image43.png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svg"/><Relationship Id="rId8" Type="http://schemas.openxmlformats.org/officeDocument/2006/relationships/image" Target="../media/image51.png"/><Relationship Id="rId7" Type="http://schemas.openxmlformats.org/officeDocument/2006/relationships/image" Target="../media/image50.svg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image" Target="../media/image46.svg"/><Relationship Id="rId23" Type="http://schemas.openxmlformats.org/officeDocument/2006/relationships/notesSlide" Target="../notesSlides/notesSlide10.xml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62.svg"/><Relationship Id="rId20" Type="http://schemas.openxmlformats.org/officeDocument/2006/relationships/image" Target="../media/image61.png"/><Relationship Id="rId2" Type="http://schemas.openxmlformats.org/officeDocument/2006/relationships/image" Target="../media/image45.png"/><Relationship Id="rId19" Type="http://schemas.openxmlformats.org/officeDocument/2006/relationships/image" Target="../media/image60.svg"/><Relationship Id="rId18" Type="http://schemas.openxmlformats.org/officeDocument/2006/relationships/image" Target="../media/image59.png"/><Relationship Id="rId17" Type="http://schemas.openxmlformats.org/officeDocument/2006/relationships/image" Target="../media/image58.svg"/><Relationship Id="rId16" Type="http://schemas.openxmlformats.org/officeDocument/2006/relationships/image" Target="../media/image57.png"/><Relationship Id="rId15" Type="http://schemas.openxmlformats.org/officeDocument/2006/relationships/image" Target="../media/image56.svg"/><Relationship Id="rId14" Type="http://schemas.openxmlformats.org/officeDocument/2006/relationships/image" Target="../media/image55.png"/><Relationship Id="rId13" Type="http://schemas.openxmlformats.org/officeDocument/2006/relationships/image" Target="../media/image10.svg"/><Relationship Id="rId12" Type="http://schemas.openxmlformats.org/officeDocument/2006/relationships/image" Target="../media/image9.png"/><Relationship Id="rId11" Type="http://schemas.openxmlformats.org/officeDocument/2006/relationships/image" Target="../media/image54.svg"/><Relationship Id="rId10" Type="http://schemas.openxmlformats.org/officeDocument/2006/relationships/image" Target="../media/image53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svg"/><Relationship Id="rId8" Type="http://schemas.openxmlformats.org/officeDocument/2006/relationships/image" Target="../media/image69.png"/><Relationship Id="rId7" Type="http://schemas.openxmlformats.org/officeDocument/2006/relationships/image" Target="../media/image68.svg"/><Relationship Id="rId6" Type="http://schemas.openxmlformats.org/officeDocument/2006/relationships/image" Target="../media/image67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1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2.jpe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svg"/><Relationship Id="rId8" Type="http://schemas.openxmlformats.org/officeDocument/2006/relationships/image" Target="../media/image77.png"/><Relationship Id="rId7" Type="http://schemas.openxmlformats.org/officeDocument/2006/relationships/image" Target="../media/image76.svg"/><Relationship Id="rId6" Type="http://schemas.openxmlformats.org/officeDocument/2006/relationships/image" Target="../media/image75.png"/><Relationship Id="rId5" Type="http://schemas.openxmlformats.org/officeDocument/2006/relationships/image" Target="../media/image48.svg"/><Relationship Id="rId4" Type="http://schemas.openxmlformats.org/officeDocument/2006/relationships/image" Target="../media/image74.png"/><Relationship Id="rId3" Type="http://schemas.openxmlformats.org/officeDocument/2006/relationships/image" Target="../media/image31.svg"/><Relationship Id="rId2" Type="http://schemas.openxmlformats.org/officeDocument/2006/relationships/image" Target="../media/image73.png"/><Relationship Id="rId15" Type="http://schemas.openxmlformats.org/officeDocument/2006/relationships/notesSlide" Target="../notesSlides/notesSlide15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81.svg"/><Relationship Id="rId12" Type="http://schemas.openxmlformats.org/officeDocument/2006/relationships/image" Target="../media/image80.png"/><Relationship Id="rId11" Type="http://schemas.openxmlformats.org/officeDocument/2006/relationships/image" Target="../media/image79.svg"/><Relationship Id="rId10" Type="http://schemas.openxmlformats.org/officeDocument/2006/relationships/image" Target="../media/image78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8.jpeg"/><Relationship Id="rId7" Type="http://schemas.openxmlformats.org/officeDocument/2006/relationships/image" Target="../media/image87.svg"/><Relationship Id="rId6" Type="http://schemas.openxmlformats.org/officeDocument/2006/relationships/image" Target="../media/image86.png"/><Relationship Id="rId5" Type="http://schemas.openxmlformats.org/officeDocument/2006/relationships/image" Target="../media/image85.svg"/><Relationship Id="rId4" Type="http://schemas.openxmlformats.org/officeDocument/2006/relationships/image" Target="../media/image84.png"/><Relationship Id="rId3" Type="http://schemas.openxmlformats.org/officeDocument/2006/relationships/image" Target="../media/image83.svg"/><Relationship Id="rId2" Type="http://schemas.openxmlformats.org/officeDocument/2006/relationships/image" Target="../media/image82.png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9.jpe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svg"/><Relationship Id="rId8" Type="http://schemas.openxmlformats.org/officeDocument/2006/relationships/image" Target="../media/image82.png"/><Relationship Id="rId7" Type="http://schemas.openxmlformats.org/officeDocument/2006/relationships/image" Target="../media/image95.svg"/><Relationship Id="rId6" Type="http://schemas.openxmlformats.org/officeDocument/2006/relationships/image" Target="../media/image94.png"/><Relationship Id="rId5" Type="http://schemas.openxmlformats.org/officeDocument/2006/relationships/image" Target="../media/image93.svg"/><Relationship Id="rId4" Type="http://schemas.openxmlformats.org/officeDocument/2006/relationships/image" Target="../media/image92.png"/><Relationship Id="rId3" Type="http://schemas.openxmlformats.org/officeDocument/2006/relationships/image" Target="../media/image91.svg"/><Relationship Id="rId2" Type="http://schemas.openxmlformats.org/officeDocument/2006/relationships/image" Target="../media/image90.png"/><Relationship Id="rId16" Type="http://schemas.openxmlformats.org/officeDocument/2006/relationships/notesSlide" Target="../notesSlides/notesSlide18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99.jpeg"/><Relationship Id="rId13" Type="http://schemas.openxmlformats.org/officeDocument/2006/relationships/image" Target="../media/image98.svg"/><Relationship Id="rId12" Type="http://schemas.openxmlformats.org/officeDocument/2006/relationships/image" Target="../media/image97.png"/><Relationship Id="rId11" Type="http://schemas.openxmlformats.org/officeDocument/2006/relationships/image" Target="../media/image4.svg"/><Relationship Id="rId10" Type="http://schemas.openxmlformats.org/officeDocument/2006/relationships/image" Target="../media/image96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svg"/><Relationship Id="rId8" Type="http://schemas.openxmlformats.org/officeDocument/2006/relationships/image" Target="../media/image102.png"/><Relationship Id="rId7" Type="http://schemas.openxmlformats.org/officeDocument/2006/relationships/image" Target="../media/image60.svg"/><Relationship Id="rId6" Type="http://schemas.openxmlformats.org/officeDocument/2006/relationships/image" Target="../media/image101.png"/><Relationship Id="rId5" Type="http://schemas.openxmlformats.org/officeDocument/2006/relationships/image" Target="../media/image91.svg"/><Relationship Id="rId4" Type="http://schemas.openxmlformats.org/officeDocument/2006/relationships/image" Target="../media/image90.png"/><Relationship Id="rId3" Type="http://schemas.openxmlformats.org/officeDocument/2006/relationships/image" Target="../media/image10.svg"/><Relationship Id="rId2" Type="http://schemas.openxmlformats.org/officeDocument/2006/relationships/image" Target="../media/image100.png"/><Relationship Id="rId11" Type="http://schemas.openxmlformats.org/officeDocument/2006/relationships/notesSlide" Target="../notesSlides/notesSlide1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4.jpeg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svg"/><Relationship Id="rId8" Type="http://schemas.openxmlformats.org/officeDocument/2006/relationships/image" Target="../media/image107.png"/><Relationship Id="rId7" Type="http://schemas.openxmlformats.org/officeDocument/2006/relationships/image" Target="../media/image4.svg"/><Relationship Id="rId6" Type="http://schemas.openxmlformats.org/officeDocument/2006/relationships/image" Target="../media/image96.png"/><Relationship Id="rId5" Type="http://schemas.openxmlformats.org/officeDocument/2006/relationships/image" Target="../media/image10.svg"/><Relationship Id="rId4" Type="http://schemas.openxmlformats.org/officeDocument/2006/relationships/image" Target="../media/image100.png"/><Relationship Id="rId3" Type="http://schemas.openxmlformats.org/officeDocument/2006/relationships/image" Target="../media/image106.svg"/><Relationship Id="rId2" Type="http://schemas.openxmlformats.org/officeDocument/2006/relationships/image" Target="../media/image105.png"/><Relationship Id="rId15" Type="http://schemas.openxmlformats.org/officeDocument/2006/relationships/notesSlide" Target="../notesSlides/notesSlide21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09.svg"/><Relationship Id="rId12" Type="http://schemas.openxmlformats.org/officeDocument/2006/relationships/image" Target="../media/image108.png"/><Relationship Id="rId11" Type="http://schemas.openxmlformats.org/officeDocument/2006/relationships/image" Target="../media/image103.svg"/><Relationship Id="rId10" Type="http://schemas.openxmlformats.org/officeDocument/2006/relationships/image" Target="../media/image102.png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svg"/><Relationship Id="rId8" Type="http://schemas.openxmlformats.org/officeDocument/2006/relationships/image" Target="../media/image115.png"/><Relationship Id="rId7" Type="http://schemas.openxmlformats.org/officeDocument/2006/relationships/image" Target="../media/image114.svg"/><Relationship Id="rId6" Type="http://schemas.openxmlformats.org/officeDocument/2006/relationships/image" Target="../media/image113.png"/><Relationship Id="rId5" Type="http://schemas.openxmlformats.org/officeDocument/2006/relationships/image" Target="../media/image112.svg"/><Relationship Id="rId4" Type="http://schemas.openxmlformats.org/officeDocument/2006/relationships/image" Target="../media/image111.png"/><Relationship Id="rId3" Type="http://schemas.openxmlformats.org/officeDocument/2006/relationships/image" Target="../media/image23.svg"/><Relationship Id="rId2" Type="http://schemas.openxmlformats.org/officeDocument/2006/relationships/image" Target="../media/image110.png"/><Relationship Id="rId16" Type="http://schemas.openxmlformats.org/officeDocument/2006/relationships/notesSlide" Target="../notesSlides/notesSlide22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21.jpeg"/><Relationship Id="rId13" Type="http://schemas.openxmlformats.org/officeDocument/2006/relationships/image" Target="../media/image120.svg"/><Relationship Id="rId12" Type="http://schemas.openxmlformats.org/officeDocument/2006/relationships/image" Target="../media/image119.png"/><Relationship Id="rId11" Type="http://schemas.openxmlformats.org/officeDocument/2006/relationships/image" Target="../media/image118.svg"/><Relationship Id="rId10" Type="http://schemas.openxmlformats.org/officeDocument/2006/relationships/image" Target="../media/image117.png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svg"/><Relationship Id="rId8" Type="http://schemas.openxmlformats.org/officeDocument/2006/relationships/image" Target="../media/image74.png"/><Relationship Id="rId7" Type="http://schemas.openxmlformats.org/officeDocument/2006/relationships/image" Target="../media/image76.svg"/><Relationship Id="rId6" Type="http://schemas.openxmlformats.org/officeDocument/2006/relationships/image" Target="../media/image75.png"/><Relationship Id="rId5" Type="http://schemas.openxmlformats.org/officeDocument/2006/relationships/image" Target="../media/image112.svg"/><Relationship Id="rId4" Type="http://schemas.openxmlformats.org/officeDocument/2006/relationships/image" Target="../media/image111.png"/><Relationship Id="rId3" Type="http://schemas.openxmlformats.org/officeDocument/2006/relationships/image" Target="../media/image31.svg"/><Relationship Id="rId2" Type="http://schemas.openxmlformats.org/officeDocument/2006/relationships/image" Target="../media/image73.png"/><Relationship Id="rId11" Type="http://schemas.openxmlformats.org/officeDocument/2006/relationships/notesSlide" Target="../notesSlides/notesSlide2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svg"/><Relationship Id="rId8" Type="http://schemas.openxmlformats.org/officeDocument/2006/relationships/image" Target="../media/image77.png"/><Relationship Id="rId7" Type="http://schemas.openxmlformats.org/officeDocument/2006/relationships/image" Target="../media/image31.svg"/><Relationship Id="rId6" Type="http://schemas.openxmlformats.org/officeDocument/2006/relationships/image" Target="../media/image73.png"/><Relationship Id="rId5" Type="http://schemas.openxmlformats.org/officeDocument/2006/relationships/image" Target="../media/image48.svg"/><Relationship Id="rId4" Type="http://schemas.openxmlformats.org/officeDocument/2006/relationships/image" Target="../media/image74.png"/><Relationship Id="rId3" Type="http://schemas.openxmlformats.org/officeDocument/2006/relationships/image" Target="../media/image85.svg"/><Relationship Id="rId2" Type="http://schemas.openxmlformats.org/officeDocument/2006/relationships/image" Target="../media/image84.png"/><Relationship Id="rId19" Type="http://schemas.openxmlformats.org/officeDocument/2006/relationships/notesSlide" Target="../notesSlides/notesSlide24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125.svg"/><Relationship Id="rId16" Type="http://schemas.openxmlformats.org/officeDocument/2006/relationships/image" Target="../media/image124.png"/><Relationship Id="rId15" Type="http://schemas.openxmlformats.org/officeDocument/2006/relationships/image" Target="../media/image18.svg"/><Relationship Id="rId14" Type="http://schemas.openxmlformats.org/officeDocument/2006/relationships/image" Target="../media/image123.png"/><Relationship Id="rId13" Type="http://schemas.openxmlformats.org/officeDocument/2006/relationships/image" Target="../media/image12.svg"/><Relationship Id="rId12" Type="http://schemas.openxmlformats.org/officeDocument/2006/relationships/image" Target="../media/image122.png"/><Relationship Id="rId11" Type="http://schemas.openxmlformats.org/officeDocument/2006/relationships/image" Target="../media/image79.svg"/><Relationship Id="rId10" Type="http://schemas.openxmlformats.org/officeDocument/2006/relationships/image" Target="../media/image78.png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png"/><Relationship Id="rId8" Type="http://schemas.openxmlformats.org/officeDocument/2006/relationships/image" Target="../media/image6.svg"/><Relationship Id="rId7" Type="http://schemas.openxmlformats.org/officeDocument/2006/relationships/image" Target="../media/image130.png"/><Relationship Id="rId6" Type="http://schemas.openxmlformats.org/officeDocument/2006/relationships/image" Target="../media/image129.svg"/><Relationship Id="rId5" Type="http://schemas.openxmlformats.org/officeDocument/2006/relationships/image" Target="../media/image128.png"/><Relationship Id="rId4" Type="http://schemas.openxmlformats.org/officeDocument/2006/relationships/image" Target="../media/image52.svg"/><Relationship Id="rId3" Type="http://schemas.openxmlformats.org/officeDocument/2006/relationships/image" Target="../media/image127.png"/><Relationship Id="rId2" Type="http://schemas.openxmlformats.org/officeDocument/2006/relationships/image" Target="../media/image126.jpeg"/><Relationship Id="rId18" Type="http://schemas.openxmlformats.org/officeDocument/2006/relationships/notesSlide" Target="../notesSlides/notesSlide25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134.svg"/><Relationship Id="rId15" Type="http://schemas.openxmlformats.org/officeDocument/2006/relationships/image" Target="../media/image133.png"/><Relationship Id="rId14" Type="http://schemas.openxmlformats.org/officeDocument/2006/relationships/image" Target="../media/image132.svg"/><Relationship Id="rId13" Type="http://schemas.openxmlformats.org/officeDocument/2006/relationships/image" Target="../media/image131.png"/><Relationship Id="rId12" Type="http://schemas.openxmlformats.org/officeDocument/2006/relationships/image" Target="../media/image103.svg"/><Relationship Id="rId11" Type="http://schemas.openxmlformats.org/officeDocument/2006/relationships/image" Target="../media/image102.png"/><Relationship Id="rId10" Type="http://schemas.openxmlformats.org/officeDocument/2006/relationships/image" Target="../media/image60.svg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6.jpeg"/><Relationship Id="rId2" Type="http://schemas.openxmlformats.org/officeDocument/2006/relationships/image" Target="../media/image135.jpeg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7.jpeg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39.svg"/><Relationship Id="rId6" Type="http://schemas.openxmlformats.org/officeDocument/2006/relationships/image" Target="../media/image138.png"/><Relationship Id="rId5" Type="http://schemas.openxmlformats.org/officeDocument/2006/relationships/image" Target="../media/image6.svg"/><Relationship Id="rId4" Type="http://schemas.openxmlformats.org/officeDocument/2006/relationships/image" Target="../media/image130.png"/><Relationship Id="rId3" Type="http://schemas.openxmlformats.org/officeDocument/2006/relationships/image" Target="../media/image112.svg"/><Relationship Id="rId2" Type="http://schemas.openxmlformats.org/officeDocument/2006/relationships/image" Target="../media/image111.png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3.svg"/><Relationship Id="rId6" Type="http://schemas.openxmlformats.org/officeDocument/2006/relationships/image" Target="../media/image110.png"/><Relationship Id="rId5" Type="http://schemas.openxmlformats.org/officeDocument/2006/relationships/image" Target="../media/image141.svg"/><Relationship Id="rId4" Type="http://schemas.openxmlformats.org/officeDocument/2006/relationships/image" Target="../media/image140.png"/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3.png"/><Relationship Id="rId1" Type="http://schemas.openxmlformats.org/officeDocument/2006/relationships/image" Target="../media/image14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AI工程体系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556000" y="4191000"/>
            <a:ext cx="5080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4D399">
                  <a:alpha val="0"/>
                </a:srgbClr>
              </a:gs>
              <a:gs pos="50000">
                <a:srgbClr val="34D399">
                  <a:alpha val="80000"/>
                </a:srgbClr>
              </a:gs>
              <a:gs pos="100000">
                <a:srgbClr val="34D399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从Prompt到Agent的完整技术栈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715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全链路技术解析 • 智能体架构设计 • 工程化落地实践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778000"/>
            <a:ext cx="76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17780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六层AI工程体系概览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建立AI工程的完整技术栈认知框架，从底层基础设施到上层应用逻辑，构建系统化的工程视角。</a:t>
            </a:r>
            <a:endParaRPr lang="en-US" sz="13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921000"/>
            <a:ext cx="76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29210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Prompt与Context工程深入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深入理解指令设计的核心原则，掌握上下文管理与信息裁剪的关键技术，优化模型输入质量。</a:t>
            </a:r>
            <a:endParaRPr lang="en-US" sz="13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4064000"/>
            <a:ext cx="76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40640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Harness与Hermes工程深入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解析Agent运行时基础设施，探索长运行Agent的状态管理与高可用架构设计。</a:t>
            </a:r>
            <a:endParaRPr lang="en-US" sz="13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52500" y="5207000"/>
            <a:ext cx="76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52070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Loop与Graph工程深入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探索Agent核心推理循环机制，学习复杂任务的工作流编排与动态决策网络构建。</a:t>
            </a:r>
            <a:endParaRPr lang="en-US" sz="13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177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13500" y="1778000"/>
            <a:ext cx="76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0" y="17780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Prompt-Engineering实战详解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掌握RCTE核心框架与工程化技巧，通过实际案例解析，提升模型指令的精准度与可控性。</a:t>
            </a:r>
            <a:endParaRPr lang="en-US" sz="13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2921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13500" y="2921000"/>
            <a:ext cx="76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239000" y="29210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开发环境搭建与配置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手把手配置VSCode开发环境，集成Claude与DeepSeek大模型API，搭建高效的AI开发环境。</a:t>
            </a:r>
            <a:endParaRPr lang="en-US" sz="13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23000" y="4064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413500" y="4064000"/>
            <a:ext cx="76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239000" y="40640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MySQL数据库操作实操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基于Prompt Engineering实现自然语言转SQL，掌握大模型与传统数据库的交互与应用。</a:t>
            </a:r>
            <a:endParaRPr lang="en-US" sz="13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223000" y="5207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13500" y="5207000"/>
            <a:ext cx="76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239000" y="52070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课程总结与实战作业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回顾课程核心知识点，完成综合性实战项目，巩固AI工程化的理论与实践能力。</a:t>
            </a:r>
            <a:endParaRPr lang="en-US" sz="13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核心名词解析 (1/3)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Token：大模型的语言基石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4130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Token是大语言模型理解文本的最小语义单元，是模型“阅读”和“理解”的基本语言积木，也是连接自然语言与模型内部计算的核心桥梁。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952508" y="3422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6830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36830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文本编码：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Tokenizer将自然语言切分为Token序列，并转化为模型可识别的数字ID，是模型处理的第一步。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4450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44450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核心计算：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模型基于这些数字ID进行复杂的矩阵运算与推理，生成新的Token序列作为输出结果。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2705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33500" y="52705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关键标尺：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它不仅是API调用的计费依据，更是衡量模型“记忆容量”（上下文长度）的关键指标。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1651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540500" y="18415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上下文窗口：模型的“工作记忆”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40500" y="24130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指模型在生成下一个Token时，能够同时参考的前文最大Token数量，即模型的“注意力范围”或“短期记忆容量”。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046">
            <a:off x="6540508" y="3422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36830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36830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能力决定：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窗口越大，模型能处理的文本越长，越能理解复杂的长文档、保持多轮对话的连贯性。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4445000"/>
            <a:ext cx="279400" cy="279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44450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场景适配：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对于代码生成、万字长文摘要、多章节书籍分析等复杂任务，超大上下文窗口是核心刚需。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0500" y="5270500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21500" y="52705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行业标杆：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GPT-4支持128K上下文，Claude 3 Opus突破至200K+，Anthropic Claude 3.5 Sonnet 更是达到了百万级。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核心名词解析 (2/3)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模型参数 (Parameters)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035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模型的知识储备与智能能力的物理基础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3041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1750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模型在训练过程中学习并存储的数值集合，相当于AI的“大脑神经元连接权重”，直接决定了模型的记忆容量与生成能力。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937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71600" y="3937000"/>
            <a:ext cx="438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D1FAE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规模定律：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参数量与模型能力呈正相关，更多参数意味着更强的模式捕捉与知识存储能力。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6355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71600" y="4635500"/>
            <a:ext cx="438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D1FAE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能力涌现：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当参数量突破临界值（如数十亿级），模型会自发涌现出复杂推理、逻辑思维等新能力。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5308600"/>
            <a:ext cx="4699000" cy="457200"/>
          </a:xfrm>
          <a:prstGeom prst="roundRect">
            <a:avLst>
              <a:gd name="adj" fmla="val 0"/>
            </a:avLst>
          </a:prstGeom>
          <a:solidFill>
            <a:srgbClr val="34D399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143000" y="53975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量级对比：GPT-2 (15亿) vs GPT-3 (1750亿)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905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2159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Embedding (嵌入技术)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6035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AI理解人类语言与世界的“多维语义地图”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291">
            <a:off x="6477009" y="3041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477000" y="31750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将文字、图像等离散符号转换为高维空间中的稠密数值向量（数字坐标），让机器能够计算“相似度”并理解语义。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937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32600" y="3937000"/>
            <a:ext cx="438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D1FAE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语义空间：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基于“分布假说”，含义越接近的内容，在向量空间中的坐标距离就越近，实现量化比较。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6355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832600" y="4635500"/>
            <a:ext cx="438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D1FAE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技术基石：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是实现语义搜索、RAG（检索增强生成）、智能推荐与多模态融合的底层核心技术。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5308600"/>
            <a:ext cx="4699000" cy="457200"/>
          </a:xfrm>
          <a:prstGeom prst="roundRect">
            <a:avLst>
              <a:gd name="adj" fmla="val 0"/>
            </a:avLst>
          </a:prstGeom>
          <a:solidFill>
            <a:srgbClr val="34D399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604000" y="53975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核心价值：让机器从“识别字符”跨越到“理解意义”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核心名词解析 (3/3)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27" b="127"/>
          <a:stretch>
            <a:fillRect/>
          </a:stretch>
        </p:blipFill>
        <p:spPr>
          <a:xfrm>
            <a:off x="952500" y="1905000"/>
            <a:ext cx="2286000" cy="1905000"/>
          </a:xfrm>
          <a:prstGeom prst="rect">
            <a:avLst/>
          </a:prstGeom>
          <a:noFill/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365500" y="1905000"/>
            <a:ext cx="24765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Fine-tuning (微调)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通过在特定领域数据集上进行二次训练，让通用模型快速适应垂直场景，具备专业的知识与风格。</a:t>
            </a:r>
            <a:endParaRPr lang="en-US" sz="13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9046">
            <a:off x="952508" y="3994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412750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核心价值与技术：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领域深耕：</a:t>
            </a:r>
            <a:r>
              <a:rPr lang="en-US" sz="1300" b="0" i="0" u="none" strike="noStrike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习得行业黑话与专业逻辑，输出更精准的垂直内容。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风格定制：</a:t>
            </a:r>
            <a:r>
              <a:rPr lang="en-US" sz="1300" b="0" i="0" u="none" strike="noStrike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复刻特定的文本风格、语气，满足品牌化需求。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高效方案：</a:t>
            </a:r>
            <a:r>
              <a:rPr lang="en-US" sz="1300" b="0" i="0" u="none" strike="noStrike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</a:t>
            </a:r>
            <a:r>
              <a:rPr lang="en-US" sz="1300" b="0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LoRA</a:t>
            </a:r>
            <a:r>
              <a:rPr lang="en-US" sz="1300" b="0" i="0" u="none" strike="noStrike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等低秩适配技术，低成本实现模型个性化微调。</a:t>
            </a:r>
            <a:endParaRPr lang="en-US" sz="1300" b="0" i="0" u="none" strike="noStrike">
              <a:solidFill>
                <a:srgbClr val="D1D5DB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1905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RAG (检索增强生成)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603500"/>
            <a:ext cx="1587500" cy="1460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730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540500" y="30734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数据向量化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将知识库文档转化为向量，存入数据库，构建检索底座。</a:t>
            </a:r>
            <a:endParaRPr lang="en-US" sz="12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53400" y="2603500"/>
            <a:ext cx="1587500" cy="1460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730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216900" y="30734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相似度检索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用户问题向量化，实时召回与问题最相关的知识片段。</a:t>
            </a:r>
            <a:endParaRPr lang="en-US" sz="12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829800" y="2603500"/>
            <a:ext cx="1587500" cy="1460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56800" y="2730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893300" y="30734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增强生成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结合检索结果与问题，生成真实、有据可依的回答。</a:t>
            </a:r>
            <a:endParaRPr lang="en-US" sz="12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4254500"/>
            <a:ext cx="4953000" cy="1651000"/>
          </a:xfrm>
          <a:prstGeom prst="roundRect">
            <a:avLst>
              <a:gd name="adj" fmla="val 0"/>
            </a:avLst>
          </a:prstGeom>
          <a:solidFill>
            <a:srgbClr val="0000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78600" y="44450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883400" y="44196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事实准确：</a:t>
            </a:r>
            <a:r>
              <a:rPr lang="en-US" sz="13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基于外部知识库生成，有效解决模型“幻觉”问题，回答更可信。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78600" y="49530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883400" y="49276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实时更新：</a:t>
            </a:r>
            <a:r>
              <a:rPr lang="en-US" sz="13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无需漫长的模型重训，即刻接入最新资讯，保持知识鲜活。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78600" y="54610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883400" y="54356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可溯源性：</a:t>
            </a:r>
            <a:r>
              <a:rPr lang="en-US" sz="13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生成内容可关联到具体的引用源，满足合规与审计需求。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KB1: 六层AI工程体系概览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10668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核心目标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8575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建立AI工程的完整技术栈认知框架，深度理解六层金字塔的层次逻辑与递进关系；精准掌握 Claude Code 在体系中的关键定位与应用价值；最终形成“Agent 是六层能力整合系统”的核心认知，为技术落地与架构设计奠定底层逻辑基础。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572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48006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00200" y="4826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企业管理者 / 投资人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3594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洞察AI技术全景与商业落地的底层逻辑，把握技术趋势，科学评估项目价值与投资方向，构建符合时代的决策判断基准。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4572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48006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61200" y="4826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零基础 AI 学习者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53594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快速建立系统的AI技术认知框架，消除入门壁垒，理解各层级技术的关联与应用场景，为后续深度学习与实践打下坚实基础。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六层金字塔总览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66" b="66"/>
          <a:stretch>
            <a:fillRect/>
          </a:stretch>
        </p:blipFill>
        <p:spPr>
          <a:xfrm>
            <a:off x="762000" y="1905000"/>
            <a:ext cx="3429000" cy="2984500"/>
          </a:xfrm>
          <a:prstGeom prst="rect">
            <a:avLst/>
          </a:prstGeom>
          <a:noFill/>
          <a:ln w="25400" cap="flat" cmpd="sng">
            <a:solidFill>
              <a:srgbClr val="34D399">
                <a:alpha val="4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从底层的交互基础到顶层的智能编排，六层体系层层递进，构建了自主智能体（Agent）的完整工程化能力基座。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2000" y="1778000"/>
            <a:ext cx="3492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699000" y="1879600"/>
            <a:ext cx="323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提示词工程 (Prompt)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核心：指令设计与意图精准传达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解决：如何高效与AI对话，让输出符合预期？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91500" y="1778000"/>
            <a:ext cx="3492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318500" y="1879600"/>
            <a:ext cx="323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上下文工程 (Context)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核心：信息环境构建与记忆管理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解决：为AI提供什么背景信息，决定回答的深度？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572000" y="3365500"/>
            <a:ext cx="3492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99000" y="3467100"/>
            <a:ext cx="323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根基工程 (Harness)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核心：Agent运行时基础设施与工具挂载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解决：为智能体搭建稳定的“躯体”与执行环境？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91500" y="3365500"/>
            <a:ext cx="3492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18500" y="3467100"/>
            <a:ext cx="323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信使工程 (Hermes)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核心：长周期运行与长期记忆保持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解决：如何让智能体持续在线，记住交互历史？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72000" y="4953000"/>
            <a:ext cx="3492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699000" y="5054600"/>
            <a:ext cx="323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循环工程 (Loop)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核心：感知-规划-执行的自主推理闭环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解决：智能体如何像人一样思考、决策与迭代？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191500" y="4953000"/>
            <a:ext cx="3492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318500" y="5054600"/>
            <a:ext cx="323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图工程 (Graph)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核心：多智能体协作与复杂工作流编排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解决：如何调度群体智能，处理网状的复杂任务？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为什么需要理解这六层？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当前AI学习的主要误区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438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误区：“AI就是写Prompt”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8194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实际：Prompt仅为交互入口，真正的智能系统需要六层能力的深度整合，单靠Prompt无法支撑复杂的企业级应用场景。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286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13500" y="2438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误区：“Agent就是简单的循环调用”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13500" y="28194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实际：生产级Agent依赖记忆、规划、反思等六层架构支撑，远非“调用LLM+循环”的简单逻辑所能实现。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873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52500" y="40259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误区：“买个RAG工具就能做好企业AI”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44069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实际：RAG只是上下文工程的子集，缺乏对六层体系的整体规划，检索效果与知识利用率将大打折扣。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3873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13500" y="40259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误区：“用最好的模型就够了”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44069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实际：模型能力决定了系统的理论上限，而六层工程能力的扎实程度，才是决定AI应用落地效果的实际下限。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3378200" cy="8890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89000" y="55626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阶段一：会用AI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熟练使用ChatGPT等工具，完成基础问答与内容辅助。</a:t>
            </a:r>
            <a:endParaRPr lang="en-US" sz="12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394200" y="5461000"/>
            <a:ext cx="3378200" cy="8890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521200" y="55626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阶段二：懂AI原理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理解Prompt工程与上下文设计，掌握模型底层逻辑。</a:t>
            </a:r>
            <a:endParaRPr lang="en-US" sz="12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026400" y="5461000"/>
            <a:ext cx="3378200" cy="8890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153400" y="55626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阶段三：构建AI系统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基于六层体系搭建企业级Agent，实现自主智能应用。</a:t>
            </a:r>
            <a:endParaRPr lang="en-US" sz="12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Agent到底是什么？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不是单一的技术、模型或框架，而是一个</a:t>
            </a: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整合了六层工程体系</a:t>
            </a:r>
            <a:r>
              <a:rPr lang="en-US" sz="1600" b="1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的完整智能系统。它是具备自主感知、决策与闭环执行能力的“数字生命体”，而非简单的代码工具。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2258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31496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Layer 1 · Prompt 任务输入层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系统的“感知入口”，负责精准定义任务目标、拆解执行指令，是Agent启动的原始驱动力。</a:t>
            </a:r>
            <a:endParaRPr lang="en-US" sz="13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0894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267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4191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Layer 2 · Context 记忆边界管理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划定信息的有效处理范围，区分即时语境与历史信息，确保决策的相关性与准确性。</a:t>
            </a:r>
            <a:endParaRPr lang="en-US" sz="13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1308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308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52324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Layer 3 · Harness 工具调用层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Agent的“手脚”，连接外部API、数据库与现实世界能力，将智能决策转化为实际行动。</a:t>
            </a:r>
            <a:endParaRPr lang="en-US" sz="13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30480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32258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31496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Layer 4 · Hermes 长期记忆层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存储历史交互记录与经验沉淀，赋予Agent“经验”，实现跨任务的知识复用与成长。</a:t>
            </a:r>
            <a:endParaRPr lang="en-US" sz="13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40894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42672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58000" y="4191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Layer 5 · Loop 自主推理层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Agent的“大脑”，通过反馈循环进行多步思考、计划制定与自我修正，具备深度决策能力。</a:t>
            </a:r>
            <a:endParaRPr lang="en-US" sz="13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23000" y="51308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3500" y="5308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858000" y="52324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Layer 6 · Graph 企业级编排层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实现多Agent协同工作流，提供可审计、可管控的规模化协作能力，支撑复杂业务场景。</a:t>
            </a:r>
            <a:endParaRPr lang="en-US" sz="13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核心知识点详解：Skills是什么？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145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79600"/>
            <a:ext cx="1028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技能的本质定义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 是 AI Agent 的“手脚”，是其感知外部世界、与数字环境交互并执行具体任务的唯一途径。它的本质是</a:t>
            </a: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可被大语言模型（LLM）理解并主动调用的函数（Function）或 API 接口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，是连接智能决策与现实行动的关键桥梁。</a:t>
            </a:r>
            <a:endParaRPr lang="en-US" sz="14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429000"/>
            <a:ext cx="52705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35814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技能的四大核心要素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1275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70000" y="40894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唯一名称 (Name)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技能的“身份证”，如 `web_search`，是 Agent 识别和调用的唯一标识。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65500" y="4127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683000" y="40894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用途描述 (Desc)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 LLM 看的“说明书”，清晰界定技能的能力范围、适用场景与使用方式。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1435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70000" y="51054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参数模式 (Schema)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 JSON Schema 定义入参结构，规范数据格式，确保调用的准确性。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65500" y="51435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683000" y="51054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执行逻辑 (Exec)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实现具体功能的业务代码或外部接口，是技能真正产生价值的执行层。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3429000"/>
            <a:ext cx="52705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13500" y="35814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智能调用的闭环流程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4127500"/>
            <a:ext cx="1625600" cy="1016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15100" y="4229100"/>
            <a:ext cx="228600" cy="228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756400" y="42164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用户输入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发起具体需求，触发 Agent 的任务处理流程。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039100" y="4127500"/>
            <a:ext cx="1625600" cy="1016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40700" y="4229100"/>
            <a:ext cx="228600" cy="228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382000" y="42164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LLM 推理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分析意图，决策是否需要调用外部技能工具。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9664700" y="4127500"/>
            <a:ext cx="1625600" cy="1016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766300" y="4229100"/>
            <a:ext cx="228600" cy="228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0007600" y="42164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参数提取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从需求中拆解关键参数，匹配技能的入参要求。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413500" y="5207000"/>
            <a:ext cx="1625600" cy="1016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15100" y="5308600"/>
            <a:ext cx="228600" cy="228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756400" y="52959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技能执行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调用函数或 API，执行具体的查询或操作任务。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8039100" y="5207000"/>
            <a:ext cx="1625600" cy="1016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40700" y="5308600"/>
            <a:ext cx="228600" cy="2286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8382000" y="52959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结果返回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获取外部系统的结构化数据或执行结果。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9664700" y="5207000"/>
            <a:ext cx="1625600" cy="1016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766300" y="5308600"/>
            <a:ext cx="228600" cy="228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10007600" y="52959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 生成回答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润色结果，以自然语言友好回复用户。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核心知识点详解：如何构建Skills？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当前构建 Skills 的主流技术路径基于</a:t>
            </a: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Function Calling 机制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，通过定义清晰的函数逻辑与标准化的工具描述，赋予 Agent 调用外部能力的“手脚”，实现从认知到行动的闭环。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603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▍代码示例：基础加法技能实现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111500"/>
            <a:ext cx="4826000" cy="2794000"/>
          </a:xfrm>
          <a:prstGeom prst="roundRect">
            <a:avLst>
              <a:gd name="adj" fmla="val 0"/>
            </a:avLst>
          </a:prstGeom>
          <a:solidFill>
            <a:srgbClr val="000000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79500" y="3238500"/>
            <a:ext cx="4635500" cy="260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C678DD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def </a:t>
            </a:r>
            <a:r>
              <a:rPr lang="en-US" b="0" i="0" u="none" strike="noStrike">
                <a:solidFill>
                  <a:srgbClr val="61AFEF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add_numbers</a:t>
            </a:r>
            <a:r>
              <a:rPr lang="en-US" b="0" i="0" u="none" strike="noStrike">
                <a:solidFill>
                  <a:srgbClr val="DCDFE4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(a: float, b: float) -&gt; dict: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98C379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"""核心逻辑：计算两个数值的和"""</a:t>
            </a:r>
            <a:endParaRPr lang="en-US" b="0" i="0" u="none" strike="noStrike">
              <a:solidFill>
                <a:srgbClr val="98C379"/>
              </a:solidFill>
              <a:latin typeface="Times New Roman" panose="02020603050405020304" charset="0"/>
              <a:ea typeface="Roboto Mono"/>
              <a:cs typeface="Times New Roman" panose="02020603050405020304" charset="0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C678DD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return</a:t>
            </a:r>
            <a:r>
              <a:rPr lang="en-US" b="0" i="0" u="none" strike="noStrike">
                <a:solidFill>
                  <a:srgbClr val="DCDFE4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{"result": a + b}</a:t>
            </a:r>
            <a:endParaRPr lang="en-US" b="0" i="0" u="none" strike="noStrike">
              <a:solidFill>
                <a:srgbClr val="DCDFE4"/>
              </a:solidFill>
              <a:latin typeface="Times New Roman" panose="02020603050405020304" charset="0"/>
              <a:ea typeface="Roboto Mono"/>
              <a:cs typeface="Times New Roman" panose="02020603050405020304" charset="0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E5C07B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# 关键：定义Schema让LLM理解工具</a:t>
            </a:r>
            <a:endParaRPr lang="en-US" b="0" i="0" u="none" strike="noStrike">
              <a:solidFill>
                <a:srgbClr val="E5C07B"/>
              </a:solidFill>
              <a:latin typeface="Times New Roman" panose="02020603050405020304" charset="0"/>
              <a:ea typeface="Roboto Mono"/>
              <a:cs typeface="Times New Roman" panose="02020603050405020304" charset="0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DCDFE4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schema = {</a:t>
            </a:r>
            <a:endParaRPr lang="en-US" b="0" i="0" u="none" strike="noStrike">
              <a:solidFill>
                <a:srgbClr val="DCDFE4"/>
              </a:solidFill>
              <a:latin typeface="Times New Roman" panose="02020603050405020304" charset="0"/>
              <a:ea typeface="Roboto Mono"/>
              <a:cs typeface="Times New Roman" panose="02020603050405020304" charset="0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DCDFE4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"name": "add_numbers", "description": "用于计算两数之和",</a:t>
            </a:r>
            <a:endParaRPr lang="en-US" b="0" i="0" u="none" strike="noStrike">
              <a:solidFill>
                <a:srgbClr val="DCDFE4"/>
              </a:solidFill>
              <a:latin typeface="Times New Roman" panose="02020603050405020304" charset="0"/>
              <a:ea typeface="Roboto Mono"/>
              <a:cs typeface="Times New Roman" panose="02020603050405020304" charset="0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DCDFE4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"parameters": {"type": "object", "properties": {"a": {"type": "number"}}}</a:t>
            </a:r>
            <a:endParaRPr lang="en-US" b="0" i="0" u="none" strike="noStrike">
              <a:solidFill>
                <a:srgbClr val="DCDFE4"/>
              </a:solidFill>
              <a:latin typeface="Times New Roman" panose="02020603050405020304" charset="0"/>
              <a:ea typeface="Roboto Mono"/>
              <a:cs typeface="Times New Roman" panose="02020603050405020304" charset="0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DCDFE4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}</a:t>
            </a:r>
            <a:endParaRPr lang="en-US" b="0" i="0" u="none" strike="noStrike">
              <a:solidFill>
                <a:srgbClr val="DCDFE4"/>
              </a:solidFill>
              <a:latin typeface="Times New Roman" panose="02020603050405020304" charset="0"/>
              <a:ea typeface="Roboto Mono"/>
              <a:cs typeface="Times New Roman" panose="02020603050405020304" charset="0"/>
              <a:sym typeface="Roboto Mon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2413000"/>
            <a:ext cx="27305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3500" y="2603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794500" y="2603500"/>
            <a:ext cx="2095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打磨描述工程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13500" y="3048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模糊的描述是调用失败的主因。需精准定义工具的“适用场景”与“参数约束”，让 Agent 能准确判断何时调用。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080500" y="2413000"/>
            <a:ext cx="27305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71000" y="2603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652000" y="2603500"/>
            <a:ext cx="2095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保持原子化设计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271000" y="3048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功能应单一、职责独立。避免设计“全能型”大工具，以提升复用性，降低 Agent 的决策难度与维护成本。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4254500"/>
            <a:ext cx="27305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4445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94500" y="4445000"/>
            <a:ext cx="2095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强化容错与反馈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13500" y="48895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处理参数错误、网络异常等边界情况。返回结构化的错误信息，而非直接崩溃，帮助 Agent 进行重试或修正。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80500" y="4254500"/>
            <a:ext cx="27305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71000" y="4445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652000" y="4445000"/>
            <a:ext cx="2095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无状态与轻量原则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271000" y="48895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优先设计无状态接口，调用间互不依赖。同时控制技能数量，避免因工具过载导致 Agent 选择效率下降。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核心知识点详解：MCP是什么？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556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核心定义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323">
            <a:off x="10160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3111500"/>
            <a:ext cx="3048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MCP（模型上下文协议）是标准化AI系统中上下文传递的通用协议，被誉为智能体时代的“</a:t>
            </a:r>
            <a:r>
              <a:rPr lang="en-US" sz="1400" b="0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USB-C接口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它以结构化、模块化的方式组织上下文信息，打破了不同AI应用间的集成壁垒，让智能体之间的互操作与能力复用成为现实。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18000" y="2032000"/>
            <a:ext cx="3556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72000" y="2286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架构三要素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45720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572000" y="3048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宿主 (Host)：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应用的容器与大脑，负责管理客户端、安全策略执行以及AI能力的统一集成调度。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39370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客户端 (Client)：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通信的桥梁与代理，负责与特定服务器交互，处理消息路由、会话维护与指令转发。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4889500"/>
            <a:ext cx="304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服务器 (Server)：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功能的实际载体，专注提供特定能力（如知识库查询、文件操作）与上下文服务。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874000" y="2032000"/>
            <a:ext cx="3556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2286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关键构建步骤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323">
            <a:off x="8128013" y="285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128000" y="3048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协议基础：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JSON-RPC 2.0 搭建轻量、可靠的通信标准。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3746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能力定义：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声明服务器支持的资源、可用工具及系统提示词。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28000" y="4445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逻辑封装：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编写请求响应处理逻辑，实现具体功能接口。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0" y="5143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智能交互：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按需向宿主发起LLM采样请求，驱动内容生成。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核心知识点详解：AI Agent完整执行流程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3791" b="3791"/>
          <a:stretch>
            <a:fillRect/>
          </a:stretch>
        </p:blipFill>
        <p:spPr>
          <a:xfrm>
            <a:off x="762000" y="1841500"/>
            <a:ext cx="2032000" cy="4064000"/>
          </a:xfrm>
          <a:prstGeom prst="rect">
            <a:avLst/>
          </a:prstGeom>
          <a:noFill/>
          <a:ln w="25400" cap="flat" cmpd="sng">
            <a:solidFill>
              <a:srgbClr val="34D399">
                <a:alpha val="4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3302000" y="1841500"/>
            <a:ext cx="4127500" cy="1841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429000" y="1968500"/>
            <a:ext cx="3873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用户输入与初步处理</a:t>
            </a: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步骤 1-3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流程起点，系统接收用户自然语言指令，完成输入解析、意图精准识别与会话状态初始化，构建交互的基础语境，为后续任务智能分解铺平道路。</a:t>
            </a:r>
            <a:endParaRPr lang="en-US" sz="13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556500" y="1841500"/>
            <a:ext cx="4127500" cy="1841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83500" y="1968500"/>
            <a:ext cx="3873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Agent规划与技能调用</a:t>
            </a: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步骤 4-10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将复杂需求拆解为原子化子任务，智能匹配最优技能模型，自动生成调用参数并触发执行，同时回收技能执行后的原始结果与状态。</a:t>
            </a:r>
            <a:endParaRPr lang="en-US" sz="13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302000" y="3873500"/>
            <a:ext cx="4127500" cy="1841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29000" y="4000500"/>
            <a:ext cx="3873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LLM深度推理与上下文管理</a:t>
            </a: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步骤 11-16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基于多轮对话上下文构建推理链，借助LLM进行深度逻辑思考与决策，动态更新MCP全局上下文，并智能判断是否需要开启多轮循环推理。</a:t>
            </a:r>
            <a:endParaRPr lang="en-US" sz="13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556500" y="3873500"/>
            <a:ext cx="4127500" cy="1841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83500" y="4000500"/>
            <a:ext cx="3873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工具执行与结果生成</a:t>
            </a: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步骤 17-20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整合多源结果进行统一加工与自然语言格式化，将清晰易懂的最终答案反馈给用户，同时完成全量会话数据的持久化存储与状态归档。</a:t>
            </a:r>
            <a:endParaRPr lang="en-US" sz="13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842000"/>
            <a:ext cx="10922000" cy="6985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842000"/>
            <a:ext cx="50800" cy="698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52500" y="5918200"/>
            <a:ext cx="1054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流程核心：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以用户输入为起点，Agent 负责“任务拆解与调度”，Skills 承接“具体功能执行”，LLM 提供“核心逻辑推理与决策”，MCP 则作为“全局信息中枢”贯穿全流程，形成从感知到决策再到执行的智能闭环。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KB2: Prompt与Context工程深入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核心目标认知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438400"/>
            <a:ext cx="495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3F4F6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深入解构Prompt Engineering的六组件体系，掌握Context Engineering的“压缩、选择、结构化”三大核心策略，建立清晰的认知框架：</a:t>
            </a: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Prompt解决“怎么说”</a:t>
            </a:r>
            <a:r>
              <a:rPr lang="en-US" sz="1400" b="0" i="0" u="none" strike="noStrike">
                <a:solidFill>
                  <a:srgbClr val="F3F4F6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Context解决“看什么”</a:t>
            </a:r>
            <a:r>
              <a:rPr lang="en-US" sz="1400" b="0" i="0" u="none" strike="noStrike">
                <a:solidFill>
                  <a:srgbClr val="F3F4F6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，二者共同决定模型的输出质量。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064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底层逻辑：Token预测模型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572000"/>
            <a:ext cx="5334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4724400"/>
            <a:ext cx="4953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3F4F6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大语言模型的本质是一个</a:t>
            </a: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“下一个Token预测器”</a:t>
            </a:r>
            <a:r>
              <a:rPr lang="en-US" sz="1400" b="0" i="0" u="none" strike="noStrike">
                <a:solidFill>
                  <a:srgbClr val="F3F4F6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。Prompt的作用是通过精确的指令与上下文约束，引导模型的概率计算过程，重塑输出Token的概率分布，从而让模型生成符合人类预期的内容，而非产生随机或无关的文本。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l="779" r="779"/>
          <a:stretch>
            <a:fillRect/>
          </a:stretch>
        </p:blipFill>
        <p:spPr>
          <a:xfrm>
            <a:off x="6477000" y="2032000"/>
            <a:ext cx="5080000" cy="2667000"/>
          </a:xfrm>
          <a:prstGeom prst="rect">
            <a:avLst/>
          </a:prstGeom>
          <a:noFill/>
          <a:ln w="25400" cap="flat" cmpd="sng">
            <a:solidFill>
              <a:srgbClr val="34D399">
                <a:alpha val="4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1" name="AutoShape 11"/>
          <p:cNvSpPr/>
          <p:nvPr/>
        </p:nvSpPr>
        <p:spPr>
          <a:xfrm>
            <a:off x="6477000" y="4953000"/>
            <a:ext cx="5080000" cy="1206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04000" y="50800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流程解析：</a:t>
            </a: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从原始文本的Token化处理，到向量空间的语义映射，再通过模型的神经网络进行概率计算，最终在词表中选择概率最高的候选词作为下一个Token输出，形成完整的生成闭环。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Prompt六组件模型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一个完整的高质量Prompt由六个核心组件构成，从身份定位到输出规范，全方位定义AI的思考与响应边界，精准把控生成结果的专业性与准确性。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603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5781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Role (角色定位)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赋予AI特定的身份与视角，明确专业领域（如资深顾问、技术专家）与沟通语气，确立交互的专业基调。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2413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603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53000" y="25781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Context (背景信息)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3048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提供项目背景、目标受众、行业规则等前置信息，让AI理解任务的应用场景与潜在约束，避免脱离实际。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2413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2603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572500" y="25781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Task (核心任务)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91500" y="3048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明确具体的指令目标与待完成的事项，是Prompt的核心，直接决定AI需要执行的动作与产出的核心内容。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254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445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33500" y="44196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Format (输出格式)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" y="4889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规范结果的呈现形式，如JSON、Markdown、表格、分点论述等，让输出结构化、标准化，便于后续处理。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381500" y="4254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2000" y="4445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953000" y="44196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Constraints (边界约束)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572000" y="4889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设定输出的限制条件，如字数范围、合规要求、禁止内容、创作风格红线等，规避无效或违规的生成结果。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001000" y="4254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1500" y="44450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572500" y="44196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Examples (参考范例)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91500" y="4889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提供Few-shot示例，通过具体的输入输出案例锚定风格与质量，降低AI的理解偏差，提升生成匹配度。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6096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进阶提升：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结合思维链(CoT)、自我一致性、生成知识与树状思考(ToT)等技巧，可进一步强化复杂推理与决策能力。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Context Engineering：信息环境管理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714500"/>
            <a:ext cx="1028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核心挑战：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模型的上下文窗口存在物理极限（通常约200K Token）。如何在这有限的信息窗口内，精准注入决策所需的全部关键信息，避免“信息过载”或“关键缺失”，是实现智能决策的前提。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984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9464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内容压缩 (Compaction)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429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将冗长的历史对话或文档提炼为高密度摘要，解决Agent的“短期失忆”问题，最大化利用有限的窗口容量。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794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984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953000" y="29464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智能选择 (Selection)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3429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基于当前任务目标，动态筛选最相关的上下文片段注入模型，剔除冗余信息，避免噪音干扰判断。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2794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2984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572500" y="29464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格式结构化 (Structuring)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91500" y="3429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利用XML标签、Markdown层级等规范组织上下文，帮助模型快速定位关键信息，提升解析与推理效率。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762500"/>
            <a:ext cx="520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RAG：检索增强生成技术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作为Context Engineering的核心应用，RAG通过从外部知识库实时检索相关信息并动态注入上下文窗口，有效突破了大模型参数知识的时效性与局限性，让模型能够生成更准确、更具事实依据且更贴合特定场景的回答。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rcRect t="3311" b="3311"/>
          <a:stretch>
            <a:fillRect/>
          </a:stretch>
        </p:blipFill>
        <p:spPr>
          <a:xfrm>
            <a:off x="6223000" y="4762500"/>
            <a:ext cx="2667000" cy="1778000"/>
          </a:xfrm>
          <a:prstGeom prst="rect">
            <a:avLst/>
          </a:prstGeom>
          <a:noFill/>
          <a:ln w="25400" cap="flat" cmpd="sng">
            <a:solidFill>
              <a:srgbClr val="34D399">
                <a:alpha val="40000"/>
              </a:srgbClr>
            </a:solidFill>
            <a:prstDash val="solid"/>
            <a:round/>
          </a:ln>
          <a:effectLst>
            <a:outerShdw blurRad="76200" dist="381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0" name="AutoShape 20"/>
          <p:cNvSpPr/>
          <p:nvPr/>
        </p:nvSpPr>
        <p:spPr>
          <a:xfrm>
            <a:off x="9144000" y="4762500"/>
            <a:ext cx="266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技术流程全景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图示展示了从数据预处理、分块、嵌入，到检索与生成的完整RAG闭环，是构建智能问答系统的标准范式。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KB3: Harness与Hermes工程深入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核心目标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33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解析Agent运行时基础设施的六大核心组件，深度理解长运行个人Agent的四大关键能力，并清晰界定Harness与Hermes在工程架构中的定位差异与协作关系，为构建稳健的智能体系统奠定理论基础。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185">
            <a:off x="762008" y="42481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45085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Harness 根基工程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143500"/>
            <a:ext cx="533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作为Agent运行的“物理底座”，Harness构建了完整的运行时环境。它不仅负责工具调用、权限管控与会话持久化，还提供全链路的日志追踪与观测能力，确保智能体在复杂场景下的稳定性与可控性。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58000" y="2032000"/>
            <a:ext cx="3556000" cy="3556000"/>
          </a:xfrm>
          <a:prstGeom prst="rect">
            <a:avLst/>
          </a:prstGeom>
          <a:noFill/>
          <a:ln w="254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858000" y="5651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图示：典型的Agent Harness 六大组件架构，包含护栏、权限、工具网关、知识库、观测与回退机制，构成智能体稳定运行的工程基座。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Harness六大核心组件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603500" cy="1333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9304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95400" y="1930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工具注册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14400" y="2311400"/>
            <a:ext cx="22987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通过标准接口动态发现与调用工具，实现能力的灵活扩展与即插即用，无需重启即可更新功能。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2603500" cy="1333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3454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95400" y="3454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权限网关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14400" y="3835400"/>
            <a:ext cx="22987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细粒度管控Agent调用权限，支持“允许/询问/拒绝”三级策略，从源头防范越权与数据风险。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2603500" cy="1333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978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95400" y="4978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会话存储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14400" y="5359400"/>
            <a:ext cx="22987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持久化保存全量会话状态，支持断点续跑与历史回溯，保障长周期复杂任务的执行稳定性。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492500" y="1778000"/>
            <a:ext cx="2603500" cy="1333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44900" y="1930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025900" y="1930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上下文压缩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644900" y="2311400"/>
            <a:ext cx="22987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智能提炼并压缩冗长的对话历史，释放模型上下文窗口资源，有效降低Token消耗与调用成本。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492500" y="3302000"/>
            <a:ext cx="2603500" cy="1333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44900" y="34544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025900" y="3454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钩子系统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644900" y="3835400"/>
            <a:ext cx="22987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在关键节点植入自定义逻辑，轻松实现合规校验、数据脱敏与流程扩展，增强系统灵活性。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492500" y="4826000"/>
            <a:ext cx="2603500" cy="1333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44900" y="49784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4025900" y="4978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追踪日志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644900" y="5359400"/>
            <a:ext cx="22987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全链路记录每一步决策与操作，实现行为可审计、问题可追溯，大幅简化系统调试与优化。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50000" y="1778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MCP：AI工具连接的事实标准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0" y="2286000"/>
            <a:ext cx="533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3F4F6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模型上下文协议 (MCP) 是一个开源通用标准，旨在统一AI模型与外部工具的交互方式。它定义了标准化接口，让模型能以一致的方式调用数据库、API等异构服务，打破适配壁垒，是构建可扩展Agent系统的核心。</a:t>
            </a:r>
            <a:endParaRPr lang="en-US" sz="11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4"/>
          <a:srcRect t="78" b="78"/>
          <a:stretch>
            <a:fillRect/>
          </a:stretch>
        </p:blipFill>
        <p:spPr>
          <a:xfrm>
            <a:off x="6350000" y="3429000"/>
            <a:ext cx="4318000" cy="2133600"/>
          </a:xfrm>
          <a:prstGeom prst="rect">
            <a:avLst/>
          </a:prstGeom>
          <a:noFill/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</p:pic>
      <p:sp>
        <p:nvSpPr>
          <p:cNvPr id="31" name="AutoShape 31"/>
          <p:cNvSpPr/>
          <p:nvPr/>
        </p:nvSpPr>
        <p:spPr>
          <a:xfrm>
            <a:off x="6350000" y="5651500"/>
            <a:ext cx="5334000" cy="6350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477000" y="57785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标准化接口 · 跨平台兼容 · 极简集成 · 安全可控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Hermes Engineering (信使工程)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EBEB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 Hermes Agent 为核心的个人智能体工程范式，强调「长运行生命周期」与「本地优先」特性，打破传统 AI 的单次交互限制，通过持续记忆与跨域协作，构建真正可伴随成长的智能伙伴。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857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0734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073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长期记忆系统 (Long-term Memory)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5306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跨会话留存用户偏好、历史决策与环境事实，构建持续进化的认知底座，让智能体具备“越用越懂你”的个性化感知与决策能力。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857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0734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3073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模块化技能体系 (Skills System)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35306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将复杂任务封装为可复用的原子技能，支持跨应用、跨工具的动态组合与调用，让智能体像积木一样灵活扩展执行边界。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445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6609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6609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全域消息网关 (Cross-Platform)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1181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统一的消息路由与交互接口，无缝对接 WhatsApp、Telegram 等社交平台，实现跨端的实时响应与多场景触达。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445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6609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46609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自愈式高可用 (Auto-Recovery)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51181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内置心跳监控与异常熔断机制，进程崩溃后自动重启并从断点恢复执行，保障 7x24 小时的服务稳定性与任务连续性。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KB4: Loop与Graph工程深入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核心目标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03500"/>
            <a:ext cx="533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深度解析 Agent 核心推理循环（Loop）的四代范式演进，系统掌握状态图编排（Graph）的六大核心概念，明确 Loop 作为执行引擎与 Graph 作为编排框架的底层协同关系，构建智能体自主决策与任务规划的工程化认知体系。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185">
            <a:off x="762008" y="41846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4445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Loop Engineering 循环工程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016500"/>
            <a:ext cx="533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这是定义 Agent “自主思考与行动” 的工程化基石。通过设计感知、决策、执行、反馈的闭环链路，将离散的认知步骤转化为持续迭代的动态推理流程，直接决定了智能体处理复杂任务的适应性、可靠性与目标达成效率。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t="545" b="545"/>
          <a:stretch>
            <a:fillRect/>
          </a:stretch>
        </p:blipFill>
        <p:spPr>
          <a:xfrm>
            <a:off x="6477000" y="2159000"/>
            <a:ext cx="2667000" cy="4064000"/>
          </a:xfrm>
          <a:prstGeom prst="rect">
            <a:avLst/>
          </a:prstGeom>
          <a:noFill/>
          <a:ln w="25400" cap="flat" cmpd="sng">
            <a:solidFill>
              <a:srgbClr val="34D399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</p:pic>
      <p:sp>
        <p:nvSpPr>
          <p:cNvPr id="10" name="AutoShape 10"/>
          <p:cNvSpPr/>
          <p:nvPr/>
        </p:nvSpPr>
        <p:spPr>
          <a:xfrm>
            <a:off x="9334500" y="2159000"/>
            <a:ext cx="2413000" cy="4064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461500" y="2349500"/>
            <a:ext cx="2159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流程核心要素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图示为标准的智能体推理循环状态机，涵盖五个关键环节：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感知：收集上下文与环境信息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决策：LLM 推理并选择动作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执行：调用工具或直接响应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验证：结果检查与状态更新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迭代：循环直至达成终止条件</a:t>
            </a:r>
            <a:endParaRPr lang="en-US" sz="13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标准Agent Loop五步详解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20828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00" y="2159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965200" y="2641600"/>
            <a:ext cx="167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Observe 观察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3238500"/>
            <a:ext cx="1676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实时感知并读取系统当前状态，整合用户输入指令、外部工具返回结果及环境动态变化的关键信息。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946400" y="1905000"/>
            <a:ext cx="20828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600" y="2159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149600" y="2641600"/>
            <a:ext cx="167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Think 思考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149600" y="3238500"/>
            <a:ext cx="1676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进行深度逻辑推理与分析，评估现有信息的完备性，判断是否需要进一步检索或可直接生成答案。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130800" y="1905000"/>
            <a:ext cx="20828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4000" y="2159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334000" y="2641600"/>
            <a:ext cx="167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Decide 决策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34000" y="3238500"/>
            <a:ext cx="1676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关键决策节点，权衡后选择最优路径：直接生成最终答案、调用外部工具获取数据或请求人工介入。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15200" y="1905000"/>
            <a:ext cx="20828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18400" y="2159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518400" y="2641600"/>
            <a:ext cx="167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Act 执行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518400" y="3238500"/>
            <a:ext cx="1676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执行既定动作：若需工具则调用对应 API 接口，若条件满足则直接输出最终结果，完成当前阶段任务。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499600" y="1905000"/>
            <a:ext cx="20828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02800" y="2159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702800" y="2641600"/>
            <a:ext cx="1676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Feedback 反馈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702800" y="3238500"/>
            <a:ext cx="1676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将执行结果与环境反馈重新注入上下文窗口，更新状态信息，驱动 Agent 进入下一轮智能循环迭代。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0165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000" y="5270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587500" y="52324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范式演进：从基础循环到智能增强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587500" y="5613400"/>
            <a:ext cx="965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ReAct 的“思考-行动”即时反馈，到 Plan-and-Execute 的规划先行，再到 Reflexion 自我反思与 ReWOO 工作流优化，Agent 循环范式不断突破效率与可靠性边界，适配更复杂的任务场景。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Graph Engineering (图工程)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基于状态图（State Graph）编排智能体（Agent）工作流的工程范式，赋予智能体行为可预测性、故障可恢复性与全链路可审计能力，是构建企业级可靠智能系统的工程基石。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2984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984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984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State (状态核心)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3655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承载智能体某一时刻的完整数据快照，包含历史记忆与环境信息，是决策的唯一事实基础。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000500"/>
            <a:ext cx="2984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191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4191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Node (任务节点)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5720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工作流中的原子执行单元，代表单次思考推理、工具调用或数据处理的独立计算步骤。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2984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397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33500" y="5397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Edge (流转拓扑)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57785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定义节点间的连接关系，构成工作流的静态拓扑骨架，确立状态流转的基础路径网络。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937000" y="2794000"/>
            <a:ext cx="2984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27500" y="2984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508500" y="2984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Conditional Edge (智能路由)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127500" y="33655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基于当前状态数据的动态逻辑判断，智能选择下一个执行节点，实现非确定性的分支流转。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937000" y="4000500"/>
            <a:ext cx="2984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27500" y="4191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508500" y="4191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Checkpoint (鲁棒保障)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127500" y="45720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周期性持久化状态快照，在系统故障或中断后，支持从最近检查点无缝恢复，保障连续性。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937000" y="5207000"/>
            <a:ext cx="2984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27500" y="5397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4508500" y="5397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Human-in-the-loop (人机协同)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127500" y="57785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在关键决策节点引入人工审核或干预，有效平衡自动化效率与业务决策的安全性与准确性。</a:t>
            </a:r>
            <a:endParaRPr lang="en-US" sz="1100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4"/>
          <a:srcRect l="1271" r="1271"/>
          <a:stretch>
            <a:fillRect/>
          </a:stretch>
        </p:blipFill>
        <p:spPr>
          <a:xfrm>
            <a:off x="7112000" y="2857500"/>
            <a:ext cx="4318000" cy="2286000"/>
          </a:xfrm>
          <a:prstGeom prst="rect">
            <a:avLst/>
          </a:prstGeom>
          <a:noFill/>
          <a:ln w="25400" cap="flat" cmpd="sng">
            <a:solidFill>
              <a:srgbClr val="34D399">
                <a:alpha val="3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30" name="AutoShape 30"/>
          <p:cNvSpPr/>
          <p:nvPr/>
        </p:nvSpPr>
        <p:spPr>
          <a:xfrm>
            <a:off x="7112000" y="5270500"/>
            <a:ext cx="4318000" cy="1079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239000" y="5397500"/>
            <a:ext cx="406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图示为 LangGraph 核心架构，展示了状态（State）、节点（Node）与边（Edge）如何协同工作。通过可视化的图结构，将智能体的决策与行动过程显性化，实现对复杂工作流的精确控制与审计。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KB5: Prompt-Engineering实战详解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掌握RCTE结构化框架，融会贯通8种Prompt设计技巧与4类通用任务模板，突破“指令模糊”瓶颈，具备独立撰写高质量、高可控性AI指令的能力。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175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30734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 - Role 角色定位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明确AI的身份与视角（如“资深文案策划”），锚定输出的专业度与语气基调，避免回答偏离专业语境。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2921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175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30734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 - Context 背景信息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补充任务的前置条件、目标受众与应用场景，为AI构建完整的“决策环境”，从根本上减少答非所问。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3815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635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45339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 - Task 具体任务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用清晰、可量化的语言描述需求（如“生成3个标题”），明确输出格式与交付标准，确保指令无歧义。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3815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6355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45339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 - Example 参考范例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提供符合预期的输入输出示例，降低AI理解成本，尤其适合格式复杂、风格特定的任务，大幅提升对齐度。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8420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52500" y="5943600"/>
            <a:ext cx="1028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关键洞察：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低质量Prompt的核心痛点是“组件缺失”，RCTE框架通过补齐四大要素，从源头解决AI输出不可控的问题。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Prompt优化的8个技巧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288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727200"/>
            <a:ext cx="45085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使用明确指令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拒绝模糊表述，精准传达需求细节，减少AI的猜测空间，从源头确保输出方向准确。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6416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8194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717800"/>
            <a:ext cx="45085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补充背景信息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提供任务的上下文、目标受众与业务背景，帮助AI理解问题的来龙去脉，提升回答相关性。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6322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810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708400"/>
            <a:ext cx="45085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设定专属角色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为AI赋予专家、顾问或特定职业身份，锚定回答的视角、专业深度与语气风格。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6228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800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4699000"/>
            <a:ext cx="45085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指定输出格式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预设JSON、Markdown表格、步骤清单等格式，让结果更结构化，无需二次整理即可复用。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18288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1727200"/>
            <a:ext cx="45085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设定约束条件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明确字数限制、语言风格或逻辑框架，避免回答偏离主题或过于冗长，提升信息密度。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26416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3500" y="28194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2717800"/>
            <a:ext cx="45085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提供Few-shot示例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通过具体的输入输出案例锚定风格与内容边界，降低生成结果的不确定性，适配定制需求。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23000" y="36322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13500" y="3810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858000" y="3708400"/>
            <a:ext cx="45085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07. 激活思维链 (CoT)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引导AI分步展示推理过程，而非直接给出答案，大幅提升复杂问题与逻辑计算的准确性。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223000" y="4622800"/>
            <a:ext cx="5207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13500" y="48006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858000" y="4699000"/>
            <a:ext cx="45085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08. 持续迭代优化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基于输出结果反向修正Prompt，通过“提问-反馈-调整”的循环，逐步逼近理想效果。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762000" y="5778500"/>
            <a:ext cx="3302000" cy="635000"/>
          </a:xfrm>
          <a:prstGeom prst="roundRect">
            <a:avLst>
              <a:gd name="adj" fmla="val 0"/>
            </a:avLst>
          </a:prstGeom>
          <a:solidFill>
            <a:srgbClr val="34D399">
              <a:alpha val="12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89000" y="58674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📝 写作创作：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博客软文 / 演讲稿 / 产品文案 / 故事续写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445000" y="5778500"/>
            <a:ext cx="3302000" cy="635000"/>
          </a:xfrm>
          <a:prstGeom prst="roundRect">
            <a:avLst>
              <a:gd name="adj" fmla="val 0"/>
            </a:avLst>
          </a:prstGeom>
          <a:solidFill>
            <a:srgbClr val="34D399">
              <a:alpha val="12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4572000" y="58674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💻 编程开发：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Bug排查 / 代码解释 / API文档 / 技术方案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128000" y="5778500"/>
            <a:ext cx="3302000" cy="635000"/>
          </a:xfrm>
          <a:prstGeom prst="roundRect">
            <a:avLst>
              <a:gd name="adj" fmla="val 0"/>
            </a:avLst>
          </a:prstGeom>
          <a:solidFill>
            <a:srgbClr val="34D399">
              <a:alpha val="12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255000" y="58674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📊 商业分析：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SWOT模型 / 竞品拆解 / 数据分析 / 决策建议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KB6: 开发环境搭建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778000"/>
            <a:ext cx="2032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317500" dir="2700000" algn="tl" rotWithShape="0">
              <a:srgbClr val="34D399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191000"/>
            <a:ext cx="3810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4381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核心目标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8260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 VSCode 编辑器与 Cline、DeepSeek 的深度集成，打通本地编码与大模型的交互链路。通过实战配置，实现从环境初始化到成功发送首个编程 Prompt 的全流程，构建高效的 AI 辅助开发基座。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953000" y="1778000"/>
            <a:ext cx="647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🧩 AI开发环境架构总览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953000" y="2286000"/>
            <a:ext cx="2070100" cy="1778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3500" y="2476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524500" y="24765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编辑器层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143500" y="29210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VSCode 的轻量开发载体，支持插件生态无缝扩展，提供现代化的代码编辑与调试体验。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50100" y="2286000"/>
            <a:ext cx="2070100" cy="1778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0600" y="2476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721600" y="24765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智能插件层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40600" y="29210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Cline 与 Continue 作为交互中枢，连接编辑器与大模型，实现自然语言对话与代码智能补全。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347200" y="2286000"/>
            <a:ext cx="2070100" cy="1778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7700" y="2476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918700" y="24765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37700" y="29210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Claude 与 DeepSeek 提供底层算力，具备强大的代码理解、生成与复杂逻辑推理能力。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953000" y="4191000"/>
            <a:ext cx="647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必装插件清单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953000" y="4699000"/>
            <a:ext cx="3175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80000" y="48260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5397500" y="4800600"/>
            <a:ext cx="2730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Cline (Anthropic官方)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080000" y="5143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深度集成 Claude 模型，支持长上下文理解与对话式编程，官方适配更稳定。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42300" y="4699000"/>
            <a:ext cx="3175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69300" y="4826000"/>
            <a:ext cx="254000" cy="254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686800" y="4800600"/>
            <a:ext cx="2730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Continue (开源 AI 助手)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369300" y="5143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DeepSeek、Llama 等多模型切换，开源免费，高度可定制工作流。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953000" y="5588000"/>
            <a:ext cx="3175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80000" y="571500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5397500" y="5689600"/>
            <a:ext cx="2730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 Copilot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080000" y="6032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基于海量开源代码训练，提供实时行级代码补全，显著提升编码效率。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242300" y="5588000"/>
            <a:ext cx="3175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69300" y="5715000"/>
            <a:ext cx="254000" cy="2540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8686800" y="5689600"/>
            <a:ext cx="2730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 Spell Checker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369300" y="6032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智能检测代码中的变量、注释拼写错误，支持多语言，规避低级 Bug。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Cline插件配置详解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Cline是Anthropic官方推出的VS Code插件，实现了与Claude大模型的深度集成，让AI辅助编码、代码解释与调试变得触手可及，极大提升开发效率。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3710" r="3710"/>
          <a:stretch>
            <a:fillRect/>
          </a:stretch>
        </p:blipFill>
        <p:spPr>
          <a:xfrm>
            <a:off x="762000" y="2413000"/>
            <a:ext cx="3429000" cy="2286000"/>
          </a:xfrm>
          <a:prstGeom prst="rect">
            <a:avLst/>
          </a:prstGeom>
          <a:noFill/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3498" b="3498"/>
          <a:stretch>
            <a:fillRect/>
          </a:stretch>
        </p:blipFill>
        <p:spPr>
          <a:xfrm>
            <a:off x="4381500" y="2413000"/>
            <a:ext cx="3429000" cy="2286000"/>
          </a:xfrm>
          <a:prstGeom prst="rect">
            <a:avLst/>
          </a:prstGeom>
          <a:noFill/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4889500"/>
            <a:ext cx="704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左图：Cline插件在编辑器中的实时代码交互界面 | 右图：高人气开源替代品 Continue 插件的扩展市场详情页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0" y="2413000"/>
            <a:ext cx="3619500" cy="1841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128000" y="2540000"/>
            <a:ext cx="336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核心配置四步走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28000" y="2984500"/>
            <a:ext cx="3365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3F4F6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扩展市场搜索并安装「Cline」插件</a:t>
            </a:r>
            <a:br>
              <a:rPr lang="en-US" sz="1300" b="0" i="0" u="none" strike="noStrike">
                <a:solidFill>
                  <a:srgbClr val="F3F4F6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3F4F6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打开设置，填入你的 Anthropic API Key</a:t>
            </a:r>
            <a:br>
              <a:rPr lang="en-US" sz="1300" b="0" i="0" u="none" strike="noStrike">
                <a:solidFill>
                  <a:srgbClr val="F3F4F6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3F4F6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选择所需的 Claude 模型版本</a:t>
            </a:r>
            <a:br>
              <a:rPr lang="en-US" sz="1300" b="0" i="0" u="none" strike="noStrike">
                <a:solidFill>
                  <a:srgbClr val="F3F4F6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3F4F6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配置自定义指令，预设 AI 行为风格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01000" y="4381500"/>
            <a:ext cx="3619500" cy="1841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128000" y="4508500"/>
            <a:ext cx="336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快速功能验证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4953000"/>
            <a:ext cx="3365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3F4F6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快捷键</a:t>
            </a:r>
            <a:r>
              <a:rPr lang="en-US" sz="1300" b="0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Ctrl+Shift+I</a:t>
            </a:r>
            <a:r>
              <a:rPr lang="en-US" sz="1300" b="0" i="0" u="none" strike="noStrike">
                <a:solidFill>
                  <a:srgbClr val="F3F4F6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唤起对话框，输入指令如“写一个Python斐波那契数列函数”，若AI能即时生成代码并交互，则配置成功。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KB7: MySQL数据库操作实操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本次实操将深入探索 Prompt Engineering 在数据库交互中的应用，掌握企业级数据库权限隔离的安全规范，并亲手构建能将自然语言转化为 SQL 指令的 AI Agent，实现智能、安全的数据库自主操作。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2984500"/>
            <a:ext cx="2286000" cy="2286000"/>
          </a:xfrm>
          <a:prstGeom prst="rect">
            <a:avLst/>
          </a:prstGeom>
          <a:noFill/>
          <a:ln w="254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3556000" y="2984500"/>
            <a:ext cx="736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 数据库交互闭环流程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56000" y="3556000"/>
            <a:ext cx="22860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683000" y="3683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意图解析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用户输入自然语言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AI生成可执行SQL语句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32500" y="3556000"/>
            <a:ext cx="22860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159500" y="3683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安全执行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严格权限校验拦截风险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MySQL数据库执行查询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509000" y="3556000"/>
            <a:ext cx="22860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636000" y="3683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智能反馈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结果结构化提取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自然语言格式化输出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1066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 核心安全设计：最小权限原则与角色隔离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5245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89000" y="56134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👁️ ai_readonly (默认)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仅授予 SELECT 查询权限，作为 Agent 日常运行的默认身份，从源头杜绝误删与篡改风险。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381500" y="55245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508500" y="56134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✍️ ai_writer (严格管控)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拥有增删改查全权限，仅在经过多重人工确认或特定审批流程后，才临时切换使用。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001000" y="55245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1F2937">
              <a:alpha val="60000"/>
            </a:srgbClr>
          </a:solidFill>
          <a:ln w="12700" cap="flat" cmpd="sng">
            <a:solidFill>
              <a:srgbClr val="EF444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128000" y="56134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🔒 root (管理专用)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最高系统权限，严禁 Agent 直接使用，仅用于数据库的底层维护、配置变更与故障恢复。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AI数据库操作Agent完整代码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41500"/>
            <a:ext cx="10668000" cy="3937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841500"/>
            <a:ext cx="10668000" cy="4318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65200" y="19812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19200" y="1981200"/>
            <a:ext cx="152400" cy="152400"/>
          </a:xfrm>
          <a:prstGeom prst="ellipse">
            <a:avLst/>
          </a:prstGeom>
          <a:solidFill>
            <a:srgbClr val="EAB30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473200" y="1981200"/>
            <a:ext cx="152400" cy="1524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854200" y="1930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agent_core.py — Python Environment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24765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1F2937">
              <a:alpha val="50000"/>
            </a:srgbClr>
          </a:solidFill>
          <a:ln w="12700" cap="flat" cmpd="sng">
            <a:solidFill>
              <a:srgbClr val="4B556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41400" y="2603500"/>
            <a:ext cx="3225800" cy="298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环境与配置初始化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import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mysql.connector, os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from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anthropic</a:t>
            </a:r>
            <a:r>
              <a:rPr lang="en-US" sz="12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import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Anthropic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加载密钥与DB连接配置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API_KEY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 os.getenv(</a:t>
            </a:r>
            <a:r>
              <a:rPr lang="en-US" sz="1200" b="0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"ANTHROPIC_API_KEY"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DB_CFG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 {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"host": "localhost", "db": "test_db"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406900" y="24765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1F2937">
              <a:alpha val="50000"/>
            </a:srgbClr>
          </a:solidFill>
          <a:ln w="12700" cap="flat" cmpd="sng">
            <a:solidFill>
              <a:srgbClr val="4B556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95800" y="2603500"/>
            <a:ext cx="3225800" cy="298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核心约束 Prompt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定义角色与安全边界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SYS_PROMPT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 f"""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你是SQL安全生成专家，仅操作</a:t>
            </a:r>
            <a:r>
              <a:rPr lang="en-US" sz="1200" b="0" i="0" u="none" strike="noStrike">
                <a:solidFill>
                  <a:srgbClr val="FACC1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`employees`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表。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严禁 DROP / ALTER / TRUNCATE！</a:t>
            </a:r>
            <a:endParaRPr lang="en-US" sz="1200" b="0" i="0" u="none" strike="noStrike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仅输出纯SQL代码，拒绝多余解释。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字段: id, name, pos, salary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"""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861300" y="24765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1F2937">
              <a:alpha val="50000"/>
            </a:srgbClr>
          </a:solidFill>
          <a:ln w="12700" cap="flat" cmpd="sng">
            <a:solidFill>
              <a:srgbClr val="4B556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950200" y="2603500"/>
            <a:ext cx="3225800" cy="298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智能生成与执行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def</a:t>
            </a:r>
            <a:r>
              <a:rPr lang="en-US" sz="1200" b="0" i="0" u="none" strike="noStrike">
                <a:solidFill>
                  <a:srgbClr val="FACC1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gen_sql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(user_req):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client = Anthropic(api_key=API_KEY)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调用 Claude 3 模型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resp = client.messages.create(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model="claude-3-sonnet-20240229",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system=SYS_PROMPT,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messages=[{"role":"user", "content":user_req}]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return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resp.content[0].text.strip()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6032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 设计亮点：通过</a:t>
            </a: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严格的Prompt约束</a:t>
            </a:r>
            <a:r>
              <a:rPr lang="en-US" sz="1400" b="0" i="0" u="none" strike="noStrike">
                <a:solidFill>
                  <a:srgbClr val="D1D5D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参数化查询</a:t>
            </a:r>
            <a:r>
              <a:rPr lang="en-US" sz="1400" b="0" i="0" u="none" strike="noStrike">
                <a:solidFill>
                  <a:srgbClr val="D1D5D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，实现AI操作数据库的安全性与可控性，杜绝高危误操作。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KB8: 课程总结与作业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本课核心回顾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603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5654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六层金字塔能力模型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Prompt 基础指令到 Graph 全局编排，层层递进构建智能体的完整能力体系，每一层都是系统的基石。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683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873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8354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是复杂系统而非单一模型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它是逻辑、记忆、工具与决策的有机整合。不仅是大模型的调用，更是具备感知、思考、行动与自我进化的闭环系统。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953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143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51054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工程落地的核心抓手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RCTE 框架规范 Prompt 设计，Context 做结构化压缩与管理，Harness 实现安全的权限与工具调度，构建可审计的 Loop 决策闭环。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1778000"/>
            <a:ext cx="533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关键概念速查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24130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25654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RAG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检索增强生成，通过引入外部知识库补充模型上下文，有效解决大模型的“幻觉”问题，增强事实准确性。</a:t>
            </a:r>
            <a:endParaRPr lang="en-US" sz="13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080500" y="24130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207500" y="25654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模型上下文协议，统一模型与外部工具、环境的交互格式，提升不同模型与工具间的兼容性与调度效率。</a:t>
            </a:r>
            <a:endParaRPr lang="en-US" sz="13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43180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44704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CoT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思维链，引导模型将复杂问题拆解为一系列中间推理步骤，模拟人类思考过程，显著提升复杂逻辑推理的准确性。</a:t>
            </a:r>
            <a:endParaRPr lang="en-US" sz="13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080500" y="43180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207500" y="44704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ToT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树状思考，让模型探索多种可能的推理路径，并对路径进行评估与回溯，适合需要试错、创意生成或复杂规划的任务。</a:t>
            </a:r>
            <a:endParaRPr lang="en-US" sz="13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课后作业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362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Prompt优化练习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28702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选取一个日常办公高频场景（如撰写邮件、数据分析报告），运用RCTE框架与8大设计技巧，精心打磨一份高质量Prompt，并在实际模型中测试其效果，掌握精准指令设计的核心逻辑。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349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68900" y="2362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开发环境搭建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60900" y="3048000"/>
            <a:ext cx="28702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严格遵循KB6技术指南，完成VSCode编辑器、Cline开发工具与DeepSeek模型的环境部署与配置。验证环境连通性，成功运行并调试第一个编程类Prompt，打通AI辅助编程的实操环境基础。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349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13800" y="2362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Agent功能扩展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05800" y="3048000"/>
            <a:ext cx="28702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基于KB7的基础代码框架，任选一个方向进行进阶开发：</a:t>
            </a:r>
            <a:b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A. 实现数据查询结果的自动可视化生成；</a:t>
            </a:r>
            <a:b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B. 扩展支持复杂的多表关联查询(JOIN)；</a:t>
            </a:r>
            <a:b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C. 对接公开API实现自然语言交互调用。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实践是掌握AI工具的关键，通过动手实操将理论转化为能力，探索更多应用可能。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953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欢迎提出您的疑问与见解，我们一起交流探讨，共同进步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905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 spc="300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 THANKS FOR WATCHING —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13082</Words>
  <Application>WPS 演示</Application>
  <PresentationFormat/>
  <Paragraphs>727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4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Roboto Mono</vt:lpstr>
      <vt:lpstr>ksdb</vt:lpstr>
      <vt:lpstr>Roboto Mono</vt:lpstr>
      <vt:lpstr>Times New Roman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母江涛</cp:lastModifiedBy>
  <cp:revision>2</cp:revision>
  <dcterms:created xsi:type="dcterms:W3CDTF">2026-08-11T14:25:51Z</dcterms:created>
  <dcterms:modified xsi:type="dcterms:W3CDTF">2026-08-11T14:42:49Z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{"Label":"1","ContentProducer":"001191110102MACQD9K64010000","ProduceID":"7672779077484923885","ReservedCode1":"","ContentPropagator":"","PropagateID":"","ReservedCode2":""}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4C89D72881B94DABAE0E938A808F6692_12</vt:lpwstr>
  </property>
</Properties>
</file>